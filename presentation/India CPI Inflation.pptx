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xml" ContentType="application/vnd.openxmlformats-officedocument.presentationml.notesSlid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Ex2.xml" ContentType="application/vnd.ms-office.chartex+xml"/>
  <Override PartName="/ppt/charts/style6.xml" ContentType="application/vnd.ms-office.chartstyle+xml"/>
  <Override PartName="/ppt/charts/colors6.xml" ContentType="application/vnd.ms-office.chartcolorstyle+xml"/>
  <Override PartName="/ppt/charts/chartEx3.xml" ContentType="application/vnd.ms-office.chartex+xml"/>
  <Override PartName="/ppt/charts/style7.xml" ContentType="application/vnd.ms-office.chartstyle+xml"/>
  <Override PartName="/ppt/charts/colors7.xml" ContentType="application/vnd.ms-office.chartcolorstyle+xml"/>
  <Override PartName="/ppt/charts/chartEx4.xml" ContentType="application/vnd.ms-office.chartex+xml"/>
  <Override PartName="/ppt/charts/style8.xml" ContentType="application/vnd.ms-office.chartstyle+xml"/>
  <Override PartName="/ppt/charts/colors8.xml" ContentType="application/vnd.ms-office.chartcolorstyle+xml"/>
  <Override PartName="/ppt/charts/chartEx5.xml" ContentType="application/vnd.ms-office.chartex+xml"/>
  <Override PartName="/ppt/charts/style9.xml" ContentType="application/vnd.ms-office.chartstyle+xml"/>
  <Override PartName="/ppt/charts/colors9.xml" ContentType="application/vnd.ms-office.chartcolorstyle+xml"/>
  <Override PartName="/ppt/notesSlides/notesSlide2.xml" ContentType="application/vnd.openxmlformats-officedocument.presentationml.notesSlide+xml"/>
  <Override PartName="/ppt/charts/chartEx6.xml" ContentType="application/vnd.ms-office.chartex+xml"/>
  <Override PartName="/ppt/charts/style10.xml" ContentType="application/vnd.ms-office.chartstyle+xml"/>
  <Override PartName="/ppt/charts/colors10.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5.xml" ContentType="application/vnd.openxmlformats-officedocument.drawingml.chart+xml"/>
  <Override PartName="/ppt/charts/style11.xml" ContentType="application/vnd.ms-office.chartstyle+xml"/>
  <Override PartName="/ppt/charts/colors11.xml" ContentType="application/vnd.ms-office.chartcolorstyle+xml"/>
  <Override PartName="/ppt/drawings/drawing1.xml" ContentType="application/vnd.openxmlformats-officedocument.drawingml.chartshapes+xml"/>
  <Override PartName="/ppt/charts/chart6.xml" ContentType="application/vnd.openxmlformats-officedocument.drawingml.chart+xml"/>
  <Override PartName="/ppt/charts/style12.xml" ContentType="application/vnd.ms-office.chartstyle+xml"/>
  <Override PartName="/ppt/charts/colors12.xml" ContentType="application/vnd.ms-office.chartcolorstyle+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9" r:id="rId4"/>
    <p:sldId id="260" r:id="rId5"/>
    <p:sldId id="266" r:id="rId6"/>
    <p:sldId id="267" r:id="rId7"/>
    <p:sldId id="265" r:id="rId8"/>
    <p:sldId id="268" r:id="rId9"/>
    <p:sldId id="269" r:id="rId10"/>
    <p:sldId id="264"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30A0"/>
    <a:srgbClr val="ED7D31"/>
    <a:srgbClr val="B4C6E7"/>
    <a:srgbClr val="FCE4D6"/>
    <a:srgbClr val="548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45" autoAdjust="0"/>
    <p:restoredTop sz="94660"/>
  </p:normalViewPr>
  <p:slideViewPr>
    <p:cSldViewPr snapToGrid="0">
      <p:cViewPr>
        <p:scale>
          <a:sx n="100" d="100"/>
          <a:sy n="100" d="100"/>
        </p:scale>
        <p:origin x="376"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thar\OneDrive\Desktop\CPI%20Case%20Study.xlsx" TargetMode="Externa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thar\AppData\Roaming\Microsoft\Excel\CPI%20Case%20Study%20(version%201).xlsb" TargetMode="Externa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chartUserShapes" Target="../drawings/drawing2.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athar\OneDrive\Desktop\CPI%20Case%20Study.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athar\OneDrive\Desktop\CPI%20Case%20Study.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athar\OneDrive\Desktop\CPI%20Case%20Study.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C:\Users\athar\OneDrive\Desktop\CPI%20Case%20Study.xlsx" TargetMode="External"/></Relationships>
</file>

<file path=ppt/charts/_rels/chartEx5.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C:\Users\athar\OneDrive\Desktop\CPI%20Case%20Study.xlsx" TargetMode="External"/></Relationships>
</file>

<file path=ppt/charts/_rels/chartEx6.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C:\Users\athar\OneDrive\Desktop\CPI%20Case%20Study.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Total Contribution</c:v>
                </c:pt>
              </c:strCache>
            </c:strRef>
          </c:tx>
          <c:explosion val="3"/>
          <c:dPt>
            <c:idx val="0"/>
            <c:bubble3D val="0"/>
            <c:explosion val="17"/>
            <c:spPr>
              <a:solidFill>
                <a:schemeClr val="accent2"/>
              </a:solidFill>
              <a:ln w="19050">
                <a:solidFill>
                  <a:schemeClr val="lt1"/>
                </a:solidFill>
              </a:ln>
              <a:effectLst/>
            </c:spPr>
            <c:extLst>
              <c:ext xmlns:c16="http://schemas.microsoft.com/office/drawing/2014/chart" uri="{C3380CC4-5D6E-409C-BE32-E72D297353CC}">
                <c16:uniqueId val="{00000002-4EC1-428B-B2FC-214616B38782}"/>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1-4EC1-428B-B2FC-214616B38782}"/>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8-4EC1-428B-B2FC-214616B38782}"/>
              </c:ext>
            </c:extLst>
          </c:dPt>
          <c:dPt>
            <c:idx val="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7-4EC1-428B-B2FC-214616B38782}"/>
              </c:ext>
            </c:extLst>
          </c:dPt>
          <c:dPt>
            <c:idx val="4"/>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06-4EC1-428B-B2FC-214616B38782}"/>
              </c:ext>
            </c:extLst>
          </c:dPt>
          <c:dLbls>
            <c:dLbl>
              <c:idx val="0"/>
              <c:layout>
                <c:manualLayout>
                  <c:x val="0.1161238060799366"/>
                  <c:y val="-2.6422014059863549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6009178726002646"/>
                      <c:h val="6.8472603746032021E-2"/>
                    </c:manualLayout>
                  </c15:layout>
                </c:ext>
                <c:ext xmlns:c16="http://schemas.microsoft.com/office/drawing/2014/chart" uri="{C3380CC4-5D6E-409C-BE32-E72D297353CC}">
                  <c16:uniqueId val="{00000002-4EC1-428B-B2FC-214616B38782}"/>
                </c:ext>
              </c:extLst>
            </c:dLbl>
            <c:dLbl>
              <c:idx val="1"/>
              <c:layout>
                <c:manualLayout>
                  <c:x val="0.12377575335757918"/>
                  <c:y val="0.11727141591462573"/>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1640593219901849"/>
                      <c:h val="7.9667959271807698E-2"/>
                    </c:manualLayout>
                  </c15:layout>
                </c:ext>
                <c:ext xmlns:c16="http://schemas.microsoft.com/office/drawing/2014/chart" uri="{C3380CC4-5D6E-409C-BE32-E72D297353CC}">
                  <c16:uniqueId val="{00000001-4EC1-428B-B2FC-214616B38782}"/>
                </c:ext>
              </c:extLst>
            </c:dLbl>
            <c:dLbl>
              <c:idx val="2"/>
              <c:layout>
                <c:manualLayout>
                  <c:x val="-0.12722124404429566"/>
                  <c:y val="9.7851396414244965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0340899207080021"/>
                      <c:h val="7.4126823708544995E-2"/>
                    </c:manualLayout>
                  </c15:layout>
                </c:ext>
                <c:ext xmlns:c16="http://schemas.microsoft.com/office/drawing/2014/chart" uri="{C3380CC4-5D6E-409C-BE32-E72D297353CC}">
                  <c16:uniqueId val="{00000008-4EC1-428B-B2FC-214616B38782}"/>
                </c:ext>
              </c:extLst>
            </c:dLbl>
            <c:dLbl>
              <c:idx val="3"/>
              <c:layout>
                <c:manualLayout>
                  <c:x val="-0.12957444428100306"/>
                  <c:y val="1.6995160521969092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9016988398171442"/>
                      <c:h val="7.6953933689801482E-2"/>
                    </c:manualLayout>
                  </c15:layout>
                </c:ext>
                <c:ext xmlns:c16="http://schemas.microsoft.com/office/drawing/2014/chart" uri="{C3380CC4-5D6E-409C-BE32-E72D297353CC}">
                  <c16:uniqueId val="{00000007-4EC1-428B-B2FC-214616B38782}"/>
                </c:ext>
              </c:extLst>
            </c:dLbl>
            <c:dLbl>
              <c:idx val="4"/>
              <c:layout>
                <c:manualLayout>
                  <c:x val="-0.14314189761853646"/>
                  <c:y val="-8.3126382946516419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2955832939502832"/>
                      <c:h val="7.5570208048581777E-2"/>
                    </c:manualLayout>
                  </c15:layout>
                </c:ext>
                <c:ext xmlns:c16="http://schemas.microsoft.com/office/drawing/2014/chart" uri="{C3380CC4-5D6E-409C-BE32-E72D297353CC}">
                  <c16:uniqueId val="{00000006-4EC1-428B-B2FC-214616B38782}"/>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Sheet1!$A$2:$A$6</c:f>
              <c:strCache>
                <c:ptCount val="5"/>
                <c:pt idx="0">
                  <c:v>Basic Food Items</c:v>
                </c:pt>
                <c:pt idx="1">
                  <c:v>Other Food and Intoxicants</c:v>
                </c:pt>
                <c:pt idx="2">
                  <c:v>Clothing and footwear</c:v>
                </c:pt>
                <c:pt idx="3">
                  <c:v>Housing and Utilities</c:v>
                </c:pt>
                <c:pt idx="4">
                  <c:v>Services and Miscellaneous</c:v>
                </c:pt>
              </c:strCache>
            </c:strRef>
          </c:cat>
          <c:val>
            <c:numRef>
              <c:f>Sheet1!$B$2:$B$6</c:f>
              <c:numCache>
                <c:formatCode>0</c:formatCode>
                <c:ptCount val="5"/>
                <c:pt idx="0">
                  <c:v>1622.2000000000003</c:v>
                </c:pt>
                <c:pt idx="1">
                  <c:v>868.4</c:v>
                </c:pt>
                <c:pt idx="2">
                  <c:v>569.90000000000009</c:v>
                </c:pt>
                <c:pt idx="3">
                  <c:v>362.3</c:v>
                </c:pt>
                <c:pt idx="4">
                  <c:v>1076</c:v>
                </c:pt>
              </c:numCache>
            </c:numRef>
          </c:val>
          <c:extLst>
            <c:ext xmlns:c16="http://schemas.microsoft.com/office/drawing/2014/chart" uri="{C3380CC4-5D6E-409C-BE32-E72D297353CC}">
              <c16:uniqueId val="{00000000-4EC1-428B-B2FC-214616B38782}"/>
            </c:ext>
          </c:extLst>
        </c:ser>
        <c:dLbls>
          <c:showLegendKey val="0"/>
          <c:showVal val="1"/>
          <c:showCatName val="0"/>
          <c:showSerName val="0"/>
          <c:showPercent val="0"/>
          <c:showBubbleSize val="0"/>
          <c:showLeaderLines val="0"/>
        </c:dLbls>
        <c:firstSliceAng val="0"/>
        <c:holeSize val="60"/>
      </c:doughnutChart>
      <c:spPr>
        <a:noFill/>
        <a:ln>
          <a:noFill/>
        </a:ln>
        <a:effectLst/>
      </c:spPr>
    </c:plotArea>
    <c:legend>
      <c:legendPos val="t"/>
      <c:layout>
        <c:manualLayout>
          <c:xMode val="edge"/>
          <c:yMode val="edge"/>
          <c:x val="4.9999999999999989E-2"/>
          <c:y val="3.1098209793821319E-2"/>
          <c:w val="0.89999992885260061"/>
          <c:h val="6.479446687829179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Total Contribution</c:v>
                </c:pt>
              </c:strCache>
            </c:strRef>
          </c:tx>
          <c:explosion val="3"/>
          <c:dPt>
            <c:idx val="0"/>
            <c:bubble3D val="0"/>
            <c:explosion val="17"/>
            <c:spPr>
              <a:solidFill>
                <a:schemeClr val="accent1"/>
              </a:solidFill>
              <a:ln w="19050">
                <a:solidFill>
                  <a:schemeClr val="lt1"/>
                </a:solidFill>
              </a:ln>
              <a:effectLst/>
            </c:spPr>
            <c:extLst>
              <c:ext xmlns:c16="http://schemas.microsoft.com/office/drawing/2014/chart" uri="{C3380CC4-5D6E-409C-BE32-E72D297353CC}">
                <c16:uniqueId val="{00000002-4EC1-428B-B2FC-214616B38782}"/>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4EC1-428B-B2FC-214616B38782}"/>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8-4EC1-428B-B2FC-214616B38782}"/>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7-4EC1-428B-B2FC-214616B38782}"/>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6-4EC1-428B-B2FC-214616B38782}"/>
              </c:ext>
            </c:extLst>
          </c:dPt>
          <c:dLbls>
            <c:dLbl>
              <c:idx val="0"/>
              <c:layout>
                <c:manualLayout>
                  <c:x val="0.1161238060799366"/>
                  <c:y val="-2.6422014059863549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6009178726002646"/>
                      <c:h val="6.8472603746032021E-2"/>
                    </c:manualLayout>
                  </c15:layout>
                </c:ext>
                <c:ext xmlns:c16="http://schemas.microsoft.com/office/drawing/2014/chart" uri="{C3380CC4-5D6E-409C-BE32-E72D297353CC}">
                  <c16:uniqueId val="{00000002-4EC1-428B-B2FC-214616B38782}"/>
                </c:ext>
              </c:extLst>
            </c:dLbl>
            <c:dLbl>
              <c:idx val="1"/>
              <c:layout>
                <c:manualLayout>
                  <c:x val="0.12377575335757918"/>
                  <c:y val="0.11727141591462573"/>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1640593219901849"/>
                      <c:h val="7.9667959271807698E-2"/>
                    </c:manualLayout>
                  </c15:layout>
                </c:ext>
                <c:ext xmlns:c16="http://schemas.microsoft.com/office/drawing/2014/chart" uri="{C3380CC4-5D6E-409C-BE32-E72D297353CC}">
                  <c16:uniqueId val="{00000001-4EC1-428B-B2FC-214616B38782}"/>
                </c:ext>
              </c:extLst>
            </c:dLbl>
            <c:dLbl>
              <c:idx val="2"/>
              <c:layout>
                <c:manualLayout>
                  <c:x val="-0.12722124404429566"/>
                  <c:y val="9.7851396414244965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0340899207080021"/>
                      <c:h val="7.4126823708544995E-2"/>
                    </c:manualLayout>
                  </c15:layout>
                </c:ext>
                <c:ext xmlns:c16="http://schemas.microsoft.com/office/drawing/2014/chart" uri="{C3380CC4-5D6E-409C-BE32-E72D297353CC}">
                  <c16:uniqueId val="{00000008-4EC1-428B-B2FC-214616B38782}"/>
                </c:ext>
              </c:extLst>
            </c:dLbl>
            <c:dLbl>
              <c:idx val="3"/>
              <c:layout>
                <c:manualLayout>
                  <c:x val="-0.12957444428100306"/>
                  <c:y val="1.6995160521969092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9016988398171442"/>
                      <c:h val="7.6953933689801482E-2"/>
                    </c:manualLayout>
                  </c15:layout>
                </c:ext>
                <c:ext xmlns:c16="http://schemas.microsoft.com/office/drawing/2014/chart" uri="{C3380CC4-5D6E-409C-BE32-E72D297353CC}">
                  <c16:uniqueId val="{00000007-4EC1-428B-B2FC-214616B38782}"/>
                </c:ext>
              </c:extLst>
            </c:dLbl>
            <c:dLbl>
              <c:idx val="4"/>
              <c:layout>
                <c:manualLayout>
                  <c:x val="-0.14314189761853646"/>
                  <c:y val="-8.3126382946516419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2955832939502832"/>
                      <c:h val="7.5570208048581777E-2"/>
                    </c:manualLayout>
                  </c15:layout>
                </c:ext>
                <c:ext xmlns:c16="http://schemas.microsoft.com/office/drawing/2014/chart" uri="{C3380CC4-5D6E-409C-BE32-E72D297353CC}">
                  <c16:uniqueId val="{00000006-4EC1-428B-B2FC-214616B38782}"/>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Sheet1!$A$2:$A$6</c:f>
              <c:strCache>
                <c:ptCount val="5"/>
                <c:pt idx="0">
                  <c:v>Basic Food Items</c:v>
                </c:pt>
                <c:pt idx="1">
                  <c:v>Other Food and Intoxicants</c:v>
                </c:pt>
                <c:pt idx="2">
                  <c:v>Clothing and footwear</c:v>
                </c:pt>
                <c:pt idx="3">
                  <c:v>Housing and Utilities</c:v>
                </c:pt>
                <c:pt idx="4">
                  <c:v>Services and Miscellaneous</c:v>
                </c:pt>
              </c:strCache>
            </c:strRef>
          </c:cat>
          <c:val>
            <c:numRef>
              <c:f>Sheet1!$B$2:$B$6</c:f>
              <c:numCache>
                <c:formatCode>0</c:formatCode>
                <c:ptCount val="5"/>
                <c:pt idx="0">
                  <c:v>1664.2</c:v>
                </c:pt>
                <c:pt idx="1">
                  <c:v>875.09999999999991</c:v>
                </c:pt>
                <c:pt idx="2">
                  <c:v>528.70000000000005</c:v>
                </c:pt>
                <c:pt idx="3">
                  <c:v>529.1</c:v>
                </c:pt>
                <c:pt idx="4">
                  <c:v>1043.8</c:v>
                </c:pt>
              </c:numCache>
            </c:numRef>
          </c:val>
          <c:extLst>
            <c:ext xmlns:c16="http://schemas.microsoft.com/office/drawing/2014/chart" uri="{C3380CC4-5D6E-409C-BE32-E72D297353CC}">
              <c16:uniqueId val="{00000000-4EC1-428B-B2FC-214616B38782}"/>
            </c:ext>
          </c:extLst>
        </c:ser>
        <c:dLbls>
          <c:showLegendKey val="0"/>
          <c:showVal val="1"/>
          <c:showCatName val="0"/>
          <c:showSerName val="0"/>
          <c:showPercent val="0"/>
          <c:showBubbleSize val="0"/>
          <c:showLeaderLines val="0"/>
        </c:dLbls>
        <c:firstSliceAng val="0"/>
        <c:holeSize val="60"/>
      </c:doughnutChart>
      <c:spPr>
        <a:noFill/>
        <a:ln>
          <a:noFill/>
        </a:ln>
        <a:effectLst/>
      </c:spPr>
    </c:plotArea>
    <c:legend>
      <c:legendPos val="t"/>
      <c:layout>
        <c:manualLayout>
          <c:xMode val="edge"/>
          <c:yMode val="edge"/>
          <c:x val="4.9999999999999989E-2"/>
          <c:y val="3.1098209793821319E-2"/>
          <c:w val="0.89999992885260061"/>
          <c:h val="6.479446687829179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Total Contribution</c:v>
                </c:pt>
              </c:strCache>
            </c:strRef>
          </c:tx>
          <c:explosion val="3"/>
          <c:dPt>
            <c:idx val="0"/>
            <c:bubble3D val="0"/>
            <c:explosion val="17"/>
            <c:spPr>
              <a:solidFill>
                <a:schemeClr val="accent1"/>
              </a:solidFill>
              <a:ln w="19050">
                <a:solidFill>
                  <a:schemeClr val="lt1"/>
                </a:solidFill>
              </a:ln>
              <a:effectLst/>
            </c:spPr>
            <c:extLst>
              <c:ext xmlns:c16="http://schemas.microsoft.com/office/drawing/2014/chart" uri="{C3380CC4-5D6E-409C-BE32-E72D297353CC}">
                <c16:uniqueId val="{00000002-4EC1-428B-B2FC-214616B3878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4EC1-428B-B2FC-214616B3878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8-4EC1-428B-B2FC-214616B3878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EC1-428B-B2FC-214616B3878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6-4EC1-428B-B2FC-214616B38782}"/>
              </c:ext>
            </c:extLst>
          </c:dPt>
          <c:dLbls>
            <c:dLbl>
              <c:idx val="0"/>
              <c:layout>
                <c:manualLayout>
                  <c:x val="0.1161238060799366"/>
                  <c:y val="-2.6422014059863549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6009178726002646"/>
                      <c:h val="6.8472603746032021E-2"/>
                    </c:manualLayout>
                  </c15:layout>
                </c:ext>
                <c:ext xmlns:c16="http://schemas.microsoft.com/office/drawing/2014/chart" uri="{C3380CC4-5D6E-409C-BE32-E72D297353CC}">
                  <c16:uniqueId val="{00000002-4EC1-428B-B2FC-214616B38782}"/>
                </c:ext>
              </c:extLst>
            </c:dLbl>
            <c:dLbl>
              <c:idx val="1"/>
              <c:layout>
                <c:manualLayout>
                  <c:x val="0.12377575335757918"/>
                  <c:y val="0.11727141591462573"/>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1640593219901849"/>
                      <c:h val="7.9667959271807698E-2"/>
                    </c:manualLayout>
                  </c15:layout>
                </c:ext>
                <c:ext xmlns:c16="http://schemas.microsoft.com/office/drawing/2014/chart" uri="{C3380CC4-5D6E-409C-BE32-E72D297353CC}">
                  <c16:uniqueId val="{00000001-4EC1-428B-B2FC-214616B38782}"/>
                </c:ext>
              </c:extLst>
            </c:dLbl>
            <c:dLbl>
              <c:idx val="2"/>
              <c:layout>
                <c:manualLayout>
                  <c:x val="-0.12722124404429566"/>
                  <c:y val="9.7851396414244965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0340899207080021"/>
                      <c:h val="7.4126823708544995E-2"/>
                    </c:manualLayout>
                  </c15:layout>
                </c:ext>
                <c:ext xmlns:c16="http://schemas.microsoft.com/office/drawing/2014/chart" uri="{C3380CC4-5D6E-409C-BE32-E72D297353CC}">
                  <c16:uniqueId val="{00000008-4EC1-428B-B2FC-214616B38782}"/>
                </c:ext>
              </c:extLst>
            </c:dLbl>
            <c:dLbl>
              <c:idx val="3"/>
              <c:layout>
                <c:manualLayout>
                  <c:x val="-0.12957444428100306"/>
                  <c:y val="1.6995160521969092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9016988398171442"/>
                      <c:h val="7.6953933689801482E-2"/>
                    </c:manualLayout>
                  </c15:layout>
                </c:ext>
                <c:ext xmlns:c16="http://schemas.microsoft.com/office/drawing/2014/chart" uri="{C3380CC4-5D6E-409C-BE32-E72D297353CC}">
                  <c16:uniqueId val="{00000007-4EC1-428B-B2FC-214616B38782}"/>
                </c:ext>
              </c:extLst>
            </c:dLbl>
            <c:dLbl>
              <c:idx val="4"/>
              <c:layout>
                <c:manualLayout>
                  <c:x val="-0.14314189761853646"/>
                  <c:y val="-8.3126382946516419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2955832939502832"/>
                      <c:h val="7.5570208048581777E-2"/>
                    </c:manualLayout>
                  </c15:layout>
                </c:ext>
                <c:ext xmlns:c16="http://schemas.microsoft.com/office/drawing/2014/chart" uri="{C3380CC4-5D6E-409C-BE32-E72D297353CC}">
                  <c16:uniqueId val="{00000006-4EC1-428B-B2FC-214616B38782}"/>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Sheet1!$A$2:$A$6</c:f>
              <c:strCache>
                <c:ptCount val="5"/>
                <c:pt idx="0">
                  <c:v>Basic Food Items</c:v>
                </c:pt>
                <c:pt idx="1">
                  <c:v>Other Food and Intoxicants</c:v>
                </c:pt>
                <c:pt idx="2">
                  <c:v>Clothing and footwear</c:v>
                </c:pt>
                <c:pt idx="3">
                  <c:v>Housing and Utilities</c:v>
                </c:pt>
                <c:pt idx="4">
                  <c:v>Services and Miscellaneous</c:v>
                </c:pt>
              </c:strCache>
            </c:strRef>
          </c:cat>
          <c:val>
            <c:numRef>
              <c:f>Sheet1!$B$2:$B$6</c:f>
              <c:numCache>
                <c:formatCode>0</c:formatCode>
                <c:ptCount val="5"/>
                <c:pt idx="0">
                  <c:v>1637.5</c:v>
                </c:pt>
                <c:pt idx="1">
                  <c:v>870.4</c:v>
                </c:pt>
                <c:pt idx="2">
                  <c:v>553.20000000000005</c:v>
                </c:pt>
                <c:pt idx="3">
                  <c:v>533.59999999999991</c:v>
                </c:pt>
                <c:pt idx="4">
                  <c:v>1059.7</c:v>
                </c:pt>
              </c:numCache>
            </c:numRef>
          </c:val>
          <c:extLst>
            <c:ext xmlns:c16="http://schemas.microsoft.com/office/drawing/2014/chart" uri="{C3380CC4-5D6E-409C-BE32-E72D297353CC}">
              <c16:uniqueId val="{00000000-4EC1-428B-B2FC-214616B38782}"/>
            </c:ext>
          </c:extLst>
        </c:ser>
        <c:dLbls>
          <c:showLegendKey val="0"/>
          <c:showVal val="1"/>
          <c:showCatName val="0"/>
          <c:showSerName val="0"/>
          <c:showPercent val="0"/>
          <c:showBubbleSize val="0"/>
          <c:showLeaderLines val="0"/>
        </c:dLbls>
        <c:firstSliceAng val="0"/>
        <c:holeSize val="60"/>
      </c:doughnutChart>
      <c:spPr>
        <a:noFill/>
        <a:ln>
          <a:noFill/>
        </a:ln>
        <a:effectLst/>
      </c:spPr>
    </c:plotArea>
    <c:legend>
      <c:legendPos val="t"/>
      <c:layout>
        <c:manualLayout>
          <c:xMode val="edge"/>
          <c:yMode val="edge"/>
          <c:x val="4.9999999999999989E-2"/>
          <c:y val="3.1098209793821319E-2"/>
          <c:w val="0.89999992885260061"/>
          <c:h val="6.479446687829179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147291109077724E-2"/>
          <c:y val="5.8871580092565531E-2"/>
          <c:w val="0.93574425843194964"/>
          <c:h val="0.84224606947836256"/>
        </c:manualLayout>
      </c:layout>
      <c:lineChart>
        <c:grouping val="stacked"/>
        <c:varyColors val="0"/>
        <c:ser>
          <c:idx val="0"/>
          <c:order val="0"/>
          <c:tx>
            <c:strRef>
              <c:f>Sheet1!$B$1</c:f>
              <c:strCache>
                <c:ptCount val="1"/>
                <c:pt idx="0">
                  <c:v>CPI Inflation</c:v>
                </c:pt>
              </c:strCache>
            </c:strRef>
          </c:tx>
          <c:spPr>
            <a:ln w="28575" cap="rnd">
              <a:solidFill>
                <a:srgbClr val="00B0F0"/>
              </a:solidFill>
              <a:round/>
            </a:ln>
            <a:effectLst/>
          </c:spPr>
          <c:marker>
            <c:symbol val="circle"/>
            <c:size val="5"/>
            <c:spPr>
              <a:solidFill>
                <a:schemeClr val="tx1"/>
              </a:solidFill>
              <a:ln w="25400">
                <a:solidFill>
                  <a:schemeClr val="tx1"/>
                </a:solidFill>
              </a:ln>
              <a:effectLst/>
            </c:spPr>
          </c:marker>
          <c:dPt>
            <c:idx val="0"/>
            <c:marker>
              <c:symbol val="circle"/>
              <c:size val="5"/>
              <c:spPr>
                <a:solidFill>
                  <a:schemeClr val="tx1"/>
                </a:solidFill>
                <a:ln w="25400">
                  <a:solidFill>
                    <a:schemeClr val="tx1"/>
                  </a:solidFill>
                </a:ln>
                <a:effectLst/>
              </c:spPr>
            </c:marker>
            <c:bubble3D val="0"/>
            <c:spPr>
              <a:ln w="28575" cap="rnd">
                <a:solidFill>
                  <a:srgbClr val="00B0F0"/>
                </a:solidFill>
                <a:round/>
              </a:ln>
              <a:effectLst/>
            </c:spPr>
            <c:extLst>
              <c:ext xmlns:c16="http://schemas.microsoft.com/office/drawing/2014/chart" uri="{C3380CC4-5D6E-409C-BE32-E72D297353CC}">
                <c16:uniqueId val="{00000001-3B95-4654-A095-B400C9C005DB}"/>
              </c:ext>
            </c:extLst>
          </c:dPt>
          <c:dPt>
            <c:idx val="1"/>
            <c:marker>
              <c:symbol val="circle"/>
              <c:size val="5"/>
              <c:spPr>
                <a:solidFill>
                  <a:schemeClr val="tx1"/>
                </a:solidFill>
                <a:ln w="25400">
                  <a:solidFill>
                    <a:schemeClr val="tx1"/>
                  </a:solidFill>
                </a:ln>
                <a:effectLst/>
              </c:spPr>
            </c:marker>
            <c:bubble3D val="0"/>
            <c:explosion val="7"/>
            <c:spPr>
              <a:ln w="28575" cap="rnd">
                <a:solidFill>
                  <a:srgbClr val="00B0F0"/>
                </a:solidFill>
                <a:round/>
              </a:ln>
              <a:effectLst/>
            </c:spPr>
            <c:extLst>
              <c:ext xmlns:c16="http://schemas.microsoft.com/office/drawing/2014/chart" uri="{C3380CC4-5D6E-409C-BE32-E72D297353CC}">
                <c16:uniqueId val="{00000003-3B95-4654-A095-B400C9C005DB}"/>
              </c:ext>
            </c:extLst>
          </c:dPt>
          <c:dPt>
            <c:idx val="2"/>
            <c:marker>
              <c:symbol val="circle"/>
              <c:size val="5"/>
              <c:spPr>
                <a:solidFill>
                  <a:schemeClr val="tx1"/>
                </a:solidFill>
                <a:ln w="25400">
                  <a:solidFill>
                    <a:schemeClr val="tx1"/>
                  </a:solidFill>
                </a:ln>
                <a:effectLst/>
              </c:spPr>
            </c:marker>
            <c:bubble3D val="0"/>
            <c:explosion val="5"/>
            <c:spPr>
              <a:ln w="28575" cap="rnd">
                <a:solidFill>
                  <a:srgbClr val="00B0F0"/>
                </a:solidFill>
                <a:round/>
              </a:ln>
              <a:effectLst/>
            </c:spPr>
            <c:extLst>
              <c:ext xmlns:c16="http://schemas.microsoft.com/office/drawing/2014/chart" uri="{C3380CC4-5D6E-409C-BE32-E72D297353CC}">
                <c16:uniqueId val="{00000005-3B95-4654-A095-B400C9C005DB}"/>
              </c:ext>
            </c:extLst>
          </c:dPt>
          <c:dPt>
            <c:idx val="3"/>
            <c:marker>
              <c:symbol val="circle"/>
              <c:size val="5"/>
              <c:spPr>
                <a:solidFill>
                  <a:schemeClr val="tx1"/>
                </a:solidFill>
                <a:ln w="25400">
                  <a:solidFill>
                    <a:schemeClr val="tx1"/>
                  </a:solidFill>
                </a:ln>
                <a:effectLst/>
              </c:spPr>
            </c:marker>
            <c:bubble3D val="0"/>
            <c:spPr>
              <a:ln w="28575" cap="rnd">
                <a:solidFill>
                  <a:srgbClr val="00B0F0"/>
                </a:solidFill>
                <a:round/>
              </a:ln>
              <a:effectLst/>
            </c:spPr>
            <c:extLst>
              <c:ext xmlns:c16="http://schemas.microsoft.com/office/drawing/2014/chart" uri="{C3380CC4-5D6E-409C-BE32-E72D297353CC}">
                <c16:uniqueId val="{00000007-3B95-4654-A095-B400C9C005DB}"/>
              </c:ext>
            </c:extLst>
          </c:dPt>
          <c:dPt>
            <c:idx val="4"/>
            <c:marker>
              <c:symbol val="circle"/>
              <c:size val="5"/>
              <c:spPr>
                <a:solidFill>
                  <a:schemeClr val="tx1"/>
                </a:solidFill>
                <a:ln w="25400">
                  <a:solidFill>
                    <a:schemeClr val="tx1"/>
                  </a:solidFill>
                </a:ln>
                <a:effectLst/>
              </c:spPr>
            </c:marker>
            <c:bubble3D val="0"/>
            <c:spPr>
              <a:ln w="28575" cap="rnd">
                <a:solidFill>
                  <a:srgbClr val="00B0F0"/>
                </a:solidFill>
                <a:round/>
              </a:ln>
              <a:effectLst/>
            </c:spPr>
            <c:extLst>
              <c:ext xmlns:c16="http://schemas.microsoft.com/office/drawing/2014/chart" uri="{C3380CC4-5D6E-409C-BE32-E72D297353CC}">
                <c16:uniqueId val="{00000009-3B95-4654-A095-B400C9C005DB}"/>
              </c:ext>
            </c:extLst>
          </c:dPt>
          <c:dPt>
            <c:idx val="5"/>
            <c:marker>
              <c:symbol val="circle"/>
              <c:size val="5"/>
              <c:spPr>
                <a:solidFill>
                  <a:schemeClr val="tx1"/>
                </a:solidFill>
                <a:ln w="25400">
                  <a:solidFill>
                    <a:schemeClr val="tx1"/>
                  </a:solidFill>
                </a:ln>
                <a:effectLst/>
              </c:spPr>
            </c:marker>
            <c:bubble3D val="0"/>
            <c:spPr>
              <a:ln w="28575" cap="rnd">
                <a:solidFill>
                  <a:srgbClr val="00B0F0"/>
                </a:solidFill>
                <a:round/>
              </a:ln>
              <a:effectLst/>
            </c:spPr>
            <c:extLst>
              <c:ext xmlns:c16="http://schemas.microsoft.com/office/drawing/2014/chart" uri="{C3380CC4-5D6E-409C-BE32-E72D297353CC}">
                <c16:uniqueId val="{0000000B-3B95-4654-A095-B400C9C005DB}"/>
              </c:ext>
            </c:extLst>
          </c:dPt>
          <c:dPt>
            <c:idx val="6"/>
            <c:marker>
              <c:symbol val="circle"/>
              <c:size val="5"/>
              <c:spPr>
                <a:solidFill>
                  <a:schemeClr val="tx1"/>
                </a:solidFill>
                <a:ln w="25400">
                  <a:solidFill>
                    <a:schemeClr val="tx1"/>
                  </a:solidFill>
                </a:ln>
                <a:effectLst/>
              </c:spPr>
            </c:marker>
            <c:bubble3D val="0"/>
            <c:spPr>
              <a:ln w="28575" cap="rnd">
                <a:solidFill>
                  <a:srgbClr val="00B0F0"/>
                </a:solidFill>
                <a:round/>
              </a:ln>
              <a:effectLst/>
            </c:spPr>
            <c:extLst>
              <c:ext xmlns:c16="http://schemas.microsoft.com/office/drawing/2014/chart" uri="{C3380CC4-5D6E-409C-BE32-E72D297353CC}">
                <c16:uniqueId val="{0000000D-3B95-4654-A095-B400C9C005DB}"/>
              </c:ext>
            </c:extLst>
          </c:dPt>
          <c:dPt>
            <c:idx val="7"/>
            <c:marker>
              <c:symbol val="circle"/>
              <c:size val="5"/>
              <c:spPr>
                <a:solidFill>
                  <a:schemeClr val="tx1"/>
                </a:solidFill>
                <a:ln w="25400">
                  <a:solidFill>
                    <a:schemeClr val="tx1"/>
                  </a:solidFill>
                </a:ln>
                <a:effectLst/>
              </c:spPr>
            </c:marker>
            <c:bubble3D val="0"/>
            <c:spPr>
              <a:ln w="28575" cap="rnd">
                <a:solidFill>
                  <a:srgbClr val="00B0F0"/>
                </a:solidFill>
                <a:round/>
              </a:ln>
              <a:effectLst/>
            </c:spPr>
            <c:extLst>
              <c:ext xmlns:c16="http://schemas.microsoft.com/office/drawing/2014/chart" uri="{C3380CC4-5D6E-409C-BE32-E72D297353CC}">
                <c16:uniqueId val="{0000000F-3B95-4654-A095-B400C9C005DB}"/>
              </c:ext>
            </c:extLst>
          </c:dPt>
          <c:dLbls>
            <c:dLbl>
              <c:idx val="2"/>
              <c:layout>
                <c:manualLayout>
                  <c:x val="-2.3539971797798105E-2"/>
                  <c:y val="5.26786366013954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B95-4654-A095-B400C9C005D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Sheet1!$A$2:$A$9</c:f>
              <c:numCache>
                <c:formatCode>General</c:formatCode>
                <c:ptCount val="8"/>
                <c:pt idx="0">
                  <c:v>2016</c:v>
                </c:pt>
                <c:pt idx="1">
                  <c:v>2017</c:v>
                </c:pt>
                <c:pt idx="2">
                  <c:v>2018</c:v>
                </c:pt>
                <c:pt idx="3">
                  <c:v>2019</c:v>
                </c:pt>
                <c:pt idx="4">
                  <c:v>2020</c:v>
                </c:pt>
                <c:pt idx="5">
                  <c:v>2021</c:v>
                </c:pt>
                <c:pt idx="6">
                  <c:v>2022</c:v>
                </c:pt>
                <c:pt idx="7">
                  <c:v>2023</c:v>
                </c:pt>
              </c:numCache>
            </c:numRef>
          </c:cat>
          <c:val>
            <c:numRef>
              <c:f>Sheet1!$B$2:$B$9</c:f>
              <c:numCache>
                <c:formatCode>0.00%</c:formatCode>
                <c:ptCount val="8"/>
                <c:pt idx="0">
                  <c:v>0</c:v>
                </c:pt>
                <c:pt idx="1">
                  <c:v>5.295471987720627E-2</c:v>
                </c:pt>
                <c:pt idx="2">
                  <c:v>2.3374726077428697E-2</c:v>
                </c:pt>
                <c:pt idx="3">
                  <c:v>7.7363896848137617E-2</c:v>
                </c:pt>
                <c:pt idx="4">
                  <c:v>5.7922769640479481E-2</c:v>
                </c:pt>
                <c:pt idx="5">
                  <c:v>5.657978385251098E-2</c:v>
                </c:pt>
                <c:pt idx="6">
                  <c:v>6.0350030175015092E-2</c:v>
                </c:pt>
                <c:pt idx="7">
                  <c:v>1.4730878186968806E-2</c:v>
                </c:pt>
              </c:numCache>
            </c:numRef>
          </c:val>
          <c:smooth val="0"/>
          <c:extLst>
            <c:ext xmlns:c16="http://schemas.microsoft.com/office/drawing/2014/chart" uri="{C3380CC4-5D6E-409C-BE32-E72D297353CC}">
              <c16:uniqueId val="{00000016-3B95-4654-A095-B400C9C005DB}"/>
            </c:ext>
          </c:extLst>
        </c:ser>
        <c:dLbls>
          <c:dLblPos val="t"/>
          <c:showLegendKey val="0"/>
          <c:showVal val="1"/>
          <c:showCatName val="0"/>
          <c:showSerName val="0"/>
          <c:showPercent val="0"/>
          <c:showBubbleSize val="0"/>
        </c:dLbls>
        <c:marker val="1"/>
        <c:smooth val="0"/>
        <c:axId val="1186937119"/>
        <c:axId val="1186937599"/>
      </c:lineChart>
      <c:catAx>
        <c:axId val="118693711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86937599"/>
        <c:crosses val="autoZero"/>
        <c:auto val="1"/>
        <c:lblAlgn val="ctr"/>
        <c:lblOffset val="100"/>
        <c:noMultiLvlLbl val="0"/>
      </c:catAx>
      <c:valAx>
        <c:axId val="1186937599"/>
        <c:scaling>
          <c:orientation val="minMax"/>
        </c:scaling>
        <c:delete val="0"/>
        <c:axPos val="l"/>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869371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Trend in Imported Crude Oil Prices: MoM Growth Rate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1794692086325099E-2"/>
          <c:y val="0.14631163708086786"/>
          <c:w val="0.95104406565594002"/>
          <c:h val="0.7910646228393049"/>
        </c:manualLayout>
      </c:layout>
      <c:lineChart>
        <c:grouping val="stacked"/>
        <c:varyColors val="0"/>
        <c:ser>
          <c:idx val="0"/>
          <c:order val="0"/>
          <c:tx>
            <c:strRef>
              <c:f>'Q5 Crude Oil Inflation'!$H$2</c:f>
              <c:strCache>
                <c:ptCount val="1"/>
                <c:pt idx="0">
                  <c:v>MoM Change (%)</c:v>
                </c:pt>
              </c:strCache>
            </c:strRef>
          </c:tx>
          <c:spPr>
            <a:ln w="28575" cap="rnd">
              <a:solidFill>
                <a:schemeClr val="accent4"/>
              </a:solidFill>
              <a:round/>
            </a:ln>
            <a:effectLst/>
          </c:spPr>
          <c:marker>
            <c:symbol val="circle"/>
            <c:size val="5"/>
            <c:spPr>
              <a:solidFill>
                <a:schemeClr val="accent4"/>
              </a:solidFill>
              <a:ln w="9525">
                <a:solidFill>
                  <a:schemeClr val="tx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'Q5 Crude Oil Inflation'!$D$4:$D$26</c:f>
              <c:strCache>
                <c:ptCount val="23"/>
                <c:pt idx="0">
                  <c:v>May-2021</c:v>
                </c:pt>
                <c:pt idx="1">
                  <c:v>June-2021</c:v>
                </c:pt>
                <c:pt idx="2">
                  <c:v>July-2021</c:v>
                </c:pt>
                <c:pt idx="3">
                  <c:v>August-2021</c:v>
                </c:pt>
                <c:pt idx="4">
                  <c:v>September-2021</c:v>
                </c:pt>
                <c:pt idx="5">
                  <c:v>October-2021</c:v>
                </c:pt>
                <c:pt idx="6">
                  <c:v>November-2021</c:v>
                </c:pt>
                <c:pt idx="7">
                  <c:v>December-2021</c:v>
                </c:pt>
                <c:pt idx="8">
                  <c:v>January-2022</c:v>
                </c:pt>
                <c:pt idx="9">
                  <c:v>February-2022</c:v>
                </c:pt>
                <c:pt idx="10">
                  <c:v>March-2022</c:v>
                </c:pt>
                <c:pt idx="11">
                  <c:v>April-2022</c:v>
                </c:pt>
                <c:pt idx="12">
                  <c:v>May-2022</c:v>
                </c:pt>
                <c:pt idx="13">
                  <c:v>June-2022</c:v>
                </c:pt>
                <c:pt idx="14">
                  <c:v>July-2022</c:v>
                </c:pt>
                <c:pt idx="15">
                  <c:v>August-2022</c:v>
                </c:pt>
                <c:pt idx="16">
                  <c:v>September-2022</c:v>
                </c:pt>
                <c:pt idx="17">
                  <c:v>October-2022</c:v>
                </c:pt>
                <c:pt idx="18">
                  <c:v>November-2022</c:v>
                </c:pt>
                <c:pt idx="19">
                  <c:v>December-2022</c:v>
                </c:pt>
                <c:pt idx="20">
                  <c:v>January-2023</c:v>
                </c:pt>
                <c:pt idx="21">
                  <c:v>February-2023</c:v>
                </c:pt>
                <c:pt idx="22">
                  <c:v>March-2023</c:v>
                </c:pt>
              </c:strCache>
            </c:strRef>
          </c:cat>
          <c:val>
            <c:numRef>
              <c:f>'Q5 Crude Oil Inflation'!$H$4:$H$26</c:f>
              <c:numCache>
                <c:formatCode>0.00%</c:formatCode>
                <c:ptCount val="23"/>
                <c:pt idx="0">
                  <c:v>2.1594892360118929E-2</c:v>
                </c:pt>
                <c:pt idx="1">
                  <c:v>8.8604779489336871E-2</c:v>
                </c:pt>
                <c:pt idx="2">
                  <c:v>1.8821378680567373E-2</c:v>
                </c:pt>
                <c:pt idx="3">
                  <c:v>-1.6950112704460375E-2</c:v>
                </c:pt>
                <c:pt idx="4">
                  <c:v>1.6297823698013098E-2</c:v>
                </c:pt>
                <c:pt idx="5">
                  <c:v>6.3386768936414345E-2</c:v>
                </c:pt>
                <c:pt idx="6">
                  <c:v>2.3486969752359053E-2</c:v>
                </c:pt>
                <c:pt idx="7">
                  <c:v>-4.0235314048855511E-2</c:v>
                </c:pt>
                <c:pt idx="8">
                  <c:v>8.481095660186555E-2</c:v>
                </c:pt>
                <c:pt idx="9">
                  <c:v>9.8959412390041232E-2</c:v>
                </c:pt>
                <c:pt idx="10">
                  <c:v>0.18313929002639978</c:v>
                </c:pt>
                <c:pt idx="11">
                  <c:v>-5.1777982847279851E-3</c:v>
                </c:pt>
                <c:pt idx="12">
                  <c:v>1.2774012270926061E-2</c:v>
                </c:pt>
                <c:pt idx="13">
                  <c:v>3.1098448706091512E-2</c:v>
                </c:pt>
                <c:pt idx="14">
                  <c:v>-2.8717275647558427E-2</c:v>
                </c:pt>
                <c:pt idx="15">
                  <c:v>-5.763504108370656E-2</c:v>
                </c:pt>
                <c:pt idx="16">
                  <c:v>-5.1122472394447442E-2</c:v>
                </c:pt>
                <c:pt idx="17">
                  <c:v>-5.4272181894324908E-2</c:v>
                </c:pt>
                <c:pt idx="18">
                  <c:v>-3.3174513849205743E-2</c:v>
                </c:pt>
                <c:pt idx="19">
                  <c:v>-9.5187068262291646E-2</c:v>
                </c:pt>
                <c:pt idx="20">
                  <c:v>-3.8225085259807424E-2</c:v>
                </c:pt>
                <c:pt idx="21">
                  <c:v>-3.692990754243014E-2</c:v>
                </c:pt>
                <c:pt idx="22">
                  <c:v>-3.6620563332498503E-2</c:v>
                </c:pt>
              </c:numCache>
            </c:numRef>
          </c:val>
          <c:smooth val="0"/>
          <c:extLst>
            <c:ext xmlns:c16="http://schemas.microsoft.com/office/drawing/2014/chart" uri="{C3380CC4-5D6E-409C-BE32-E72D297353CC}">
              <c16:uniqueId val="{00000000-6E19-4DDB-8451-119F80C36735}"/>
            </c:ext>
          </c:extLst>
        </c:ser>
        <c:dLbls>
          <c:dLblPos val="t"/>
          <c:showLegendKey val="0"/>
          <c:showVal val="1"/>
          <c:showCatName val="0"/>
          <c:showSerName val="0"/>
          <c:showPercent val="0"/>
          <c:showBubbleSize val="0"/>
        </c:dLbls>
        <c:marker val="1"/>
        <c:smooth val="0"/>
        <c:axId val="808700351"/>
        <c:axId val="808698911"/>
      </c:lineChart>
      <c:catAx>
        <c:axId val="808700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8698911"/>
        <c:crosses val="autoZero"/>
        <c:auto val="1"/>
        <c:lblAlgn val="ctr"/>
        <c:lblOffset val="100"/>
        <c:noMultiLvlLbl val="0"/>
      </c:catAx>
      <c:valAx>
        <c:axId val="808698911"/>
        <c:scaling>
          <c:orientation val="minMax"/>
        </c:scaling>
        <c:delete val="1"/>
        <c:axPos val="l"/>
        <c:numFmt formatCode="0.00%" sourceLinked="1"/>
        <c:majorTickMark val="none"/>
        <c:minorTickMark val="none"/>
        <c:tickLblPos val="nextTo"/>
        <c:crossAx val="808700351"/>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a:t>Correlation</a:t>
            </a:r>
            <a:r>
              <a:rPr lang="en-IN" baseline="0"/>
              <a:t> of Inflation in Crude oil Price with Various Categories</a:t>
            </a:r>
            <a:endParaRPr lang="en-IN"/>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0030458293725568"/>
          <c:y val="7.0565237505746503E-2"/>
          <c:w val="0.88995782763325115"/>
          <c:h val="0.70494168323127637"/>
        </c:manualLayout>
      </c:layout>
      <c:barChart>
        <c:barDir val="col"/>
        <c:grouping val="clustered"/>
        <c:varyColors val="0"/>
        <c:ser>
          <c:idx val="0"/>
          <c:order val="0"/>
          <c:tx>
            <c:strRef>
              <c:f>'Q5RuralUrban Sector Correlation'!$H$4</c:f>
              <c:strCache>
                <c:ptCount val="1"/>
                <c:pt idx="0">
                  <c:v>Corelation Value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'Q5RuralUrban Sector Correlation'!$G$5:$G$30</c:f>
              <c:strCache>
                <c:ptCount val="26"/>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Non-alcoholic beverages</c:v>
                </c:pt>
                <c:pt idx="11">
                  <c:v>Prepared meals, snacks, sweets, etc.</c:v>
                </c:pt>
                <c:pt idx="12">
                  <c:v>Food and beverages</c:v>
                </c:pt>
                <c:pt idx="13">
                  <c:v>Pan, tobacco, and intoxicants</c:v>
                </c:pt>
                <c:pt idx="14">
                  <c:v>Clothing</c:v>
                </c:pt>
                <c:pt idx="15">
                  <c:v>Footwear</c:v>
                </c:pt>
                <c:pt idx="16">
                  <c:v>Clothing and footwear</c:v>
                </c:pt>
                <c:pt idx="17">
                  <c:v>Housing</c:v>
                </c:pt>
                <c:pt idx="18">
                  <c:v>Fuel and light</c:v>
                </c:pt>
                <c:pt idx="19">
                  <c:v>Household goods and services</c:v>
                </c:pt>
                <c:pt idx="20">
                  <c:v>Health</c:v>
                </c:pt>
                <c:pt idx="21">
                  <c:v>Transport and communication</c:v>
                </c:pt>
                <c:pt idx="22">
                  <c:v>Recreation and amusement</c:v>
                </c:pt>
                <c:pt idx="23">
                  <c:v>Education</c:v>
                </c:pt>
                <c:pt idx="24">
                  <c:v>Personal care and effects</c:v>
                </c:pt>
                <c:pt idx="25">
                  <c:v>Miscellaneous</c:v>
                </c:pt>
              </c:strCache>
            </c:strRef>
          </c:cat>
          <c:val>
            <c:numRef>
              <c:f>'Q5RuralUrban Sector Correlation'!$H$5:$H$30</c:f>
              <c:numCache>
                <c:formatCode>0.000</c:formatCode>
                <c:ptCount val="26"/>
                <c:pt idx="0">
                  <c:v>-0.34950843670445497</c:v>
                </c:pt>
                <c:pt idx="1">
                  <c:v>0.57993784283909533</c:v>
                </c:pt>
                <c:pt idx="2">
                  <c:v>-0.11059283401886609</c:v>
                </c:pt>
                <c:pt idx="3">
                  <c:v>-0.29134152953577541</c:v>
                </c:pt>
                <c:pt idx="4">
                  <c:v>0.51666183182873271</c:v>
                </c:pt>
                <c:pt idx="5">
                  <c:v>0.10752133161756114</c:v>
                </c:pt>
                <c:pt idx="6">
                  <c:v>0.24816211316105977</c:v>
                </c:pt>
                <c:pt idx="7">
                  <c:v>-0.15621774168037136</c:v>
                </c:pt>
                <c:pt idx="8">
                  <c:v>-4.686248775383877E-2</c:v>
                </c:pt>
                <c:pt idx="9">
                  <c:v>-6.8542666496403476E-2</c:v>
                </c:pt>
                <c:pt idx="10">
                  <c:v>-6.9466092882781603E-3</c:v>
                </c:pt>
                <c:pt idx="11">
                  <c:v>0.1132585017491691</c:v>
                </c:pt>
                <c:pt idx="12">
                  <c:v>0.34415819048394491</c:v>
                </c:pt>
                <c:pt idx="13">
                  <c:v>-5.8124104156859195E-2</c:v>
                </c:pt>
                <c:pt idx="14">
                  <c:v>7.1334729445142797E-2</c:v>
                </c:pt>
                <c:pt idx="15">
                  <c:v>0.23273611842683412</c:v>
                </c:pt>
                <c:pt idx="16">
                  <c:v>0.11963089114146776</c:v>
                </c:pt>
                <c:pt idx="17">
                  <c:v>-9.8207951496237789E-2</c:v>
                </c:pt>
                <c:pt idx="18">
                  <c:v>0.1421615215874939</c:v>
                </c:pt>
                <c:pt idx="19">
                  <c:v>-1.5233345307590986E-2</c:v>
                </c:pt>
                <c:pt idx="20">
                  <c:v>-9.8067071442510326E-2</c:v>
                </c:pt>
                <c:pt idx="21">
                  <c:v>0.14066335229397289</c:v>
                </c:pt>
                <c:pt idx="22">
                  <c:v>6.1488540574993943E-2</c:v>
                </c:pt>
                <c:pt idx="23">
                  <c:v>4.5033900613614484E-3</c:v>
                </c:pt>
                <c:pt idx="24">
                  <c:v>0.10997997950161716</c:v>
                </c:pt>
                <c:pt idx="25">
                  <c:v>0.1041942633945681</c:v>
                </c:pt>
              </c:numCache>
            </c:numRef>
          </c:val>
          <c:extLst>
            <c:ext xmlns:c16="http://schemas.microsoft.com/office/drawing/2014/chart" uri="{C3380CC4-5D6E-409C-BE32-E72D297353CC}">
              <c16:uniqueId val="{00000000-3163-492F-9CAB-6E07CCD975F8}"/>
            </c:ext>
          </c:extLst>
        </c:ser>
        <c:dLbls>
          <c:dLblPos val="outEnd"/>
          <c:showLegendKey val="0"/>
          <c:showVal val="1"/>
          <c:showCatName val="0"/>
          <c:showSerName val="0"/>
          <c:showPercent val="0"/>
          <c:showBubbleSize val="0"/>
        </c:dLbls>
        <c:gapWidth val="100"/>
        <c:overlap val="-24"/>
        <c:axId val="1629371920"/>
        <c:axId val="1629370960"/>
      </c:barChart>
      <c:catAx>
        <c:axId val="162937192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29370960"/>
        <c:crosses val="autoZero"/>
        <c:auto val="1"/>
        <c:lblAlgn val="ctr"/>
        <c:lblOffset val="100"/>
        <c:noMultiLvlLbl val="0"/>
      </c:catAx>
      <c:valAx>
        <c:axId val="1629370960"/>
        <c:scaling>
          <c:orientation val="minMax"/>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2937192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'Q3 MOM Food Inflation Analysis'!$D$24:$O$24</cx:f>
        <cx:lvl ptCount="12">
          <cx:pt idx="0">Jun-22</cx:pt>
          <cx:pt idx="1">Jul-22</cx:pt>
          <cx:pt idx="2">Aug-22</cx:pt>
          <cx:pt idx="3">Sep-22</cx:pt>
          <cx:pt idx="4">Oct-22</cx:pt>
          <cx:pt idx="5">Nov-22</cx:pt>
          <cx:pt idx="6">Dec-22</cx:pt>
          <cx:pt idx="7">Jan-23</cx:pt>
          <cx:pt idx="8">Feb-23</cx:pt>
          <cx:pt idx="9">Mar-23</cx:pt>
          <cx:pt idx="10">Apr-23</cx:pt>
          <cx:pt idx="11">May-23</cx:pt>
        </cx:lvl>
      </cx:strDim>
      <cx:numDim type="val">
        <cx:f dir="row">'Q3 MOM Food Inflation Analysis'!$D$26:$O$26</cx:f>
        <cx:lvl ptCount="12" formatCode="0.00%">
          <cx:pt idx="0">0.010862014524786892</cx:pt>
          <cx:pt idx="1">0.0015618167051913367</cx:pt>
          <cx:pt idx="2">-0.00018712574850296567</cx:pt>
          <cx:pt idx="3">0.0052405015908666116</cx:pt>
          <cx:pt idx="4">0.008254204679451347</cx:pt>
          <cx:pt idx="5">0.0010464114243504976</cx:pt>
          <cx:pt idx="6">-0.0057185021213796523</cx:pt>
          <cx:pt idx="7">0.0034013605442178279</cx:pt>
          <cx:pt idx="8">-0.011217257318952401</cx:pt>
          <cx:pt idx="9">6.2332481456171804e-05</cx:pt>
          <cx:pt idx="10">0.0032410870107204052</cx:pt>
          <cx:pt idx="11">0.0078280318091453558</cx:pt>
        </cx:lvl>
      </cx:numDim>
    </cx:data>
  </cx:chartData>
  <cx:chart>
    <cx:title pos="t" align="ctr" overlay="0">
      <cx:tx>
        <cx:txData>
          <cx:v>M-O-M Inflation rate of Rural Sector for basic food items</cx:v>
        </cx:txData>
      </cx:tx>
      <cx:txPr>
        <a:bodyPr spcFirstLastPara="1" vertOverflow="ellipsis" horzOverflow="overflow" wrap="square" lIns="0" tIns="0" rIns="0" bIns="0" anchor="ctr" anchorCtr="1"/>
        <a:lstStyle/>
        <a:p>
          <a:pPr algn="ctr" rtl="0">
            <a:defRPr/>
          </a:pPr>
          <a:r>
            <a:rPr lang="en-US" sz="1400" b="0" i="0" u="none" strike="noStrike" baseline="0">
              <a:solidFill>
                <a:sysClr val="windowText" lastClr="000000">
                  <a:lumMod val="65000"/>
                  <a:lumOff val="35000"/>
                </a:sysClr>
              </a:solidFill>
              <a:latin typeface="Calibri" panose="020F0502020204030204"/>
            </a:rPr>
            <a:t>M-O-M Inflation rate of Rural Sector for basic food items</a:t>
          </a:r>
        </a:p>
      </cx:txPr>
    </cx:title>
    <cx:plotArea>
      <cx:plotAreaRegion>
        <cx:series layoutId="waterfall" uniqueId="{00000002-0BB4-408F-9D36-1DBEC350757A}">
          <cx:tx>
            <cx:txData>
              <cx:f>'Q3 MOM Food Inflation Analysis'!$B$25:$B$26</cx:f>
              <cx:v>Basic Food Items</cx:v>
            </cx:txData>
          </cx:tx>
          <cx:dataLabels>
            <cx:visibility seriesName="0" categoryName="0" value="1"/>
          </cx:dataLabels>
          <cx:dataId val="0"/>
          <cx:layoutPr>
            <cx:subtotals/>
          </cx:layoutPr>
        </cx:series>
      </cx:plotAreaRegion>
      <cx:axis id="0">
        <cx:catScaling gapWidth="0.5"/>
        <cx:tickLabels/>
      </cx:axis>
      <cx:axis id="1" hidden="1">
        <cx:valScaling/>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'Q3 MOM Food Inflation Analysis'!$D$24:$O$24</cx:f>
        <cx:lvl ptCount="12">
          <cx:pt idx="0">Jun-22</cx:pt>
          <cx:pt idx="1">Jul-22</cx:pt>
          <cx:pt idx="2">Aug-22</cx:pt>
          <cx:pt idx="3">Sep-22</cx:pt>
          <cx:pt idx="4">Oct-22</cx:pt>
          <cx:pt idx="5">Nov-22</cx:pt>
          <cx:pt idx="6">Dec-22</cx:pt>
          <cx:pt idx="7">Jan-23</cx:pt>
          <cx:pt idx="8">Feb-23</cx:pt>
          <cx:pt idx="9">Mar-23</cx:pt>
          <cx:pt idx="10">Apr-23</cx:pt>
          <cx:pt idx="11">May-23</cx:pt>
        </cx:lvl>
      </cx:strDim>
      <cx:numDim type="val">
        <cx:f dir="row">'Q3 MOM Food Inflation Analysis'!$D$29:$O$29</cx:f>
        <cx:lvl ptCount="12" formatCode="0.00%">
          <cx:pt idx="0">0.0051423104520449117</cx:pt>
          <cx:pt idx="1">0.0023795359904819915</cx:pt>
          <cx:pt idx="2">0.0048664688427298621</cx:pt>
          <cx:pt idx="3">0.0051972596267423708</cx:pt>
          <cx:pt idx="4">0.004465334900117455</cx:pt>
          <cx:pt idx="5">0.002456715021057584</cx:pt>
          <cx:pt idx="6">-0.0010502975843155295</cx:pt>
          <cx:pt idx="7">0.0018691588785046994</cx:pt>
          <cx:pt idx="8">0.0024486940298507729</cx:pt>
          <cx:pt idx="9">0.00011631964638830143</cx:pt>
          <cx:pt idx="10">0.0050011630611769648</cx:pt>
          <cx:pt idx="11">0.0049762758939936981</cx:pt>
        </cx:lvl>
      </cx:numDim>
    </cx:data>
  </cx:chartData>
  <cx:chart>
    <cx:title pos="t" align="ctr" overlay="0">
      <cx:tx>
        <cx:txData>
          <cx:v>M-O-M Inflation rate of Rural Sector for food and other intoxicants</cx:v>
        </cx:txData>
      </cx:tx>
      <cx:txPr>
        <a:bodyPr spcFirstLastPara="1" vertOverflow="ellipsis" horzOverflow="overflow" wrap="square" lIns="0" tIns="0" rIns="0" bIns="0" anchor="ctr" anchorCtr="1"/>
        <a:lstStyle/>
        <a:p>
          <a:pPr algn="ctr" rtl="0">
            <a:defRPr/>
          </a:pPr>
          <a:r>
            <a:rPr lang="en-US" sz="1400" b="0" i="0" u="none" strike="noStrike" baseline="0">
              <a:solidFill>
                <a:sysClr val="windowText" lastClr="000000">
                  <a:lumMod val="65000"/>
                  <a:lumOff val="35000"/>
                </a:sysClr>
              </a:solidFill>
              <a:latin typeface="Calibri" panose="020F0502020204030204"/>
            </a:rPr>
            <a:t>M-O-M Inflation rate of Rural Sector for food and other intoxicants</a:t>
          </a:r>
        </a:p>
      </cx:txPr>
    </cx:title>
    <cx:plotArea>
      <cx:plotAreaRegion>
        <cx:series layoutId="waterfall" uniqueId="{00000002-0BB4-408F-9D36-1DBEC350757A}">
          <cx:tx>
            <cx:txData>
              <cx:f>'Q3 MOM Food Inflation Analysis'!$B$28:$B$29</cx:f>
              <cx:v>Other Food and Intoxicants</cx:v>
            </cx:txData>
          </cx:tx>
          <cx:dataLabels>
            <cx:visibility seriesName="0" categoryName="0" value="1"/>
          </cx:dataLabels>
          <cx:dataId val="0"/>
          <cx:layoutPr>
            <cx:subtotals/>
          </cx:layoutPr>
        </cx:series>
      </cx:plotAreaRegion>
      <cx:axis id="0">
        <cx:catScaling gapWidth="0.5"/>
        <cx:tickLabels/>
      </cx:axis>
      <cx:axis id="1" hidden="1">
        <cx:valScaling/>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'Q3 MOM Food Inflation Analysis'!$D$50:$O$50</cx:f>
        <cx:lvl ptCount="12">
          <cx:pt idx="0">Jun-22</cx:pt>
          <cx:pt idx="1">Jul-22</cx:pt>
          <cx:pt idx="2">Aug-22</cx:pt>
          <cx:pt idx="3">Sep-22</cx:pt>
          <cx:pt idx="4">Oct-22</cx:pt>
          <cx:pt idx="5">Nov-22</cx:pt>
          <cx:pt idx="6">Dec-22</cx:pt>
          <cx:pt idx="7">Jan-23</cx:pt>
          <cx:pt idx="8">Feb-23</cx:pt>
          <cx:pt idx="9">Mar-23</cx:pt>
          <cx:pt idx="10">Apr-23</cx:pt>
          <cx:pt idx="11">May-23</cx:pt>
        </cx:lvl>
      </cx:strDim>
      <cx:numDim type="val">
        <cx:f dir="row">'Q3 MOM Food Inflation Analysis'!$D$52:$O$52</cx:f>
        <cx:lvl ptCount="12" formatCode="0.00%">
          <cx:pt idx="0">0.013147336584161302</cx:pt>
          <cx:pt idx="1">0.0010966248324602061</cx:pt>
          <cx:pt idx="2">-0.00091285296981513349</cx:pt>
          <cx:pt idx="3">0.0050557349089359709</cx:pt>
          <cx:pt idx="4">0.0075757575757577139</cx:pt>
          <cx:pt idx="5">-0.0043909774436092681</cx:pt>
          <cx:pt idx="6">-0.01039149347510864</cx:pt>
          <cx:pt idx="7">0.007326007326007326</cx:pt>
          <cx:pt idx="8">-0.0066060606060607992</cx:pt>
          <cx:pt idx="9">6.1009090354546055e-05</cx:pt>
          <cx:pt idx="10">0.0065885797950222119</cx:pt>
          <cx:pt idx="11">0.0086060606060604939</cx:pt>
        </cx:lvl>
      </cx:numDim>
    </cx:data>
  </cx:chartData>
  <cx:chart>
    <cx:title pos="t" align="ctr" overlay="0">
      <cx:tx>
        <cx:txData>
          <cx:v>M-O-M Inflation rate of Urban Sector for basic food items</cx:v>
        </cx:txData>
      </cx:tx>
      <cx:txPr>
        <a:bodyPr spcFirstLastPara="1" vertOverflow="ellipsis" horzOverflow="overflow" wrap="square" lIns="0" tIns="0" rIns="0" bIns="0" anchor="ctr" anchorCtr="1"/>
        <a:lstStyle/>
        <a:p>
          <a:pPr algn="ctr" rtl="0">
            <a:defRPr/>
          </a:pPr>
          <a:r>
            <a:rPr lang="en-US" sz="1400" b="0" i="0" u="none" strike="noStrike" baseline="0">
              <a:solidFill>
                <a:sysClr val="windowText" lastClr="000000">
                  <a:lumMod val="65000"/>
                  <a:lumOff val="35000"/>
                </a:sysClr>
              </a:solidFill>
              <a:latin typeface="Calibri" panose="020F0502020204030204"/>
            </a:rPr>
            <a:t>M-O-M Inflation rate of Urban Sector for basic food items</a:t>
          </a:r>
        </a:p>
      </cx:txPr>
    </cx:title>
    <cx:plotArea>
      <cx:plotAreaRegion>
        <cx:series layoutId="waterfall" uniqueId="{00000002-0BB4-408F-9D36-1DBEC350757A}">
          <cx:tx>
            <cx:txData>
              <cx:f>'Q3 MOM Food Inflation Analysis'!$B$51:$B$52</cx:f>
              <cx:v>Basic Food Items</cx:v>
            </cx:txData>
          </cx:tx>
          <cx:dataLabels>
            <cx:visibility seriesName="0" categoryName="0" value="1"/>
          </cx:dataLabels>
          <cx:dataId val="0"/>
          <cx:layoutPr>
            <cx:subtotals/>
          </cx:layoutPr>
        </cx:series>
      </cx:plotAreaRegion>
      <cx:axis id="0">
        <cx:catScaling gapWidth="0.5"/>
        <cx:tickLabels/>
      </cx:axis>
      <cx:axis id="1" hidden="1">
        <cx:valScaling/>
        <cx:tickLabels/>
      </cx:axis>
    </cx:plotArea>
  </cx:chart>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'Q3 MOM Food Inflation Analysis'!$D$50:$O$50</cx:f>
        <cx:lvl ptCount="12">
          <cx:pt idx="0">Jun-22</cx:pt>
          <cx:pt idx="1">Jul-22</cx:pt>
          <cx:pt idx="2">Aug-22</cx:pt>
          <cx:pt idx="3">Sep-22</cx:pt>
          <cx:pt idx="4">Oct-22</cx:pt>
          <cx:pt idx="5">Nov-22</cx:pt>
          <cx:pt idx="6">Dec-22</cx:pt>
          <cx:pt idx="7">Jan-23</cx:pt>
          <cx:pt idx="8">Feb-23</cx:pt>
          <cx:pt idx="9">Mar-23</cx:pt>
          <cx:pt idx="10">Apr-23</cx:pt>
          <cx:pt idx="11">May-23</cx:pt>
        </cx:lvl>
      </cx:strDim>
      <cx:numDim type="val">
        <cx:f dir="row">'Q3 MOM Food Inflation Analysis'!$D$55:$O$55</cx:f>
        <cx:lvl ptCount="12" formatCode="0.00%">
          <cx:pt idx="0">0.0057170080990948885</cx:pt>
          <cx:pt idx="1">0.0030791094268118294</cx:pt>
          <cx:pt idx="2">0.0043683589138135128</cx:pt>
          <cx:pt idx="3">0.0063477136475844492</cx:pt>
          <cx:pt idx="4">0.0044387337927810303</cx:pt>
          <cx:pt idx="5">-0.00011629259216177352</cx:pt>
          <cx:pt idx="6">-0.0010467550593162257</cx:pt>
          <cx:pt idx="7">0.0033764116893702308</cx:pt>
          <cx:pt idx="8">0.0058018101647712766</cx:pt>
          <cx:pt idx="9">0.00011536686663605957</cx:pt>
          <cx:pt idx="10">0.0049602030222631842</cx:pt>
          <cx:pt idx="11">0.0044765840220384106</cx:pt>
        </cx:lvl>
      </cx:numDim>
    </cx:data>
  </cx:chartData>
  <cx:chart>
    <cx:title pos="t" align="ctr" overlay="0">
      <cx:tx>
        <cx:txData>
          <cx:v>M-O-M Inflation rate of Urban Sector for food &amp; other intoxicants</cx:v>
        </cx:txData>
      </cx:tx>
      <cx:txPr>
        <a:bodyPr spcFirstLastPara="1" vertOverflow="ellipsis" horzOverflow="overflow" wrap="square" lIns="0" tIns="0" rIns="0" bIns="0" anchor="ctr" anchorCtr="1"/>
        <a:lstStyle/>
        <a:p>
          <a:pPr algn="ctr" rtl="0">
            <a:defRPr/>
          </a:pPr>
          <a:r>
            <a:rPr lang="en-US" sz="1200" b="0" i="0" u="none" strike="noStrike" baseline="0" dirty="0">
              <a:solidFill>
                <a:sysClr val="windowText" lastClr="000000">
                  <a:lumMod val="65000"/>
                  <a:lumOff val="35000"/>
                </a:sysClr>
              </a:solidFill>
              <a:latin typeface="Calibri" panose="020F0502020204030204"/>
            </a:rPr>
            <a:t>M-O-M Inflation rate of Urban Sector for food &amp; other intoxicants</a:t>
          </a:r>
        </a:p>
      </cx:txPr>
    </cx:title>
    <cx:plotArea>
      <cx:plotAreaRegion>
        <cx:series layoutId="waterfall" uniqueId="{00000002-0BB4-408F-9D36-1DBEC350757A}">
          <cx:tx>
            <cx:txData>
              <cx:f>'Q3 MOM Food Inflation Analysis'!$B$54:$B$55</cx:f>
              <cx:v>Other Food and Intoxicants</cx:v>
            </cx:txData>
          </cx:tx>
          <cx:dataLabels>
            <cx:visibility seriesName="0" categoryName="0" value="1"/>
          </cx:dataLabels>
          <cx:dataId val="0"/>
          <cx:layoutPr>
            <cx:subtotals/>
          </cx:layoutPr>
        </cx:series>
      </cx:plotAreaRegion>
      <cx:axis id="0">
        <cx:catScaling gapWidth="0.5"/>
        <cx:tickLabels/>
      </cx:axis>
      <cx:axis id="1" hidden="1">
        <cx:valScaling/>
        <cx:tickLabels/>
      </cx:axis>
    </cx:plotArea>
  </cx:chart>
</cx:chartSpace>
</file>

<file path=ppt/charts/chartEx5.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'Q3 MOM Food Inflation Analysis'!$D$76:$O$76</cx:f>
        <cx:lvl ptCount="12">
          <cx:pt idx="0">Jun-22</cx:pt>
          <cx:pt idx="1">Jul-22</cx:pt>
          <cx:pt idx="2">Aug-22</cx:pt>
          <cx:pt idx="3">Sep-22</cx:pt>
          <cx:pt idx="4">Oct-22</cx:pt>
          <cx:pt idx="5">Nov-22</cx:pt>
          <cx:pt idx="6">Dec-22</cx:pt>
          <cx:pt idx="7">Jan-23</cx:pt>
          <cx:pt idx="8">Feb-23</cx:pt>
          <cx:pt idx="9">Mar-23</cx:pt>
          <cx:pt idx="10">Apr-23</cx:pt>
          <cx:pt idx="11">May-23</cx:pt>
        </cx:lvl>
      </cx:strDim>
      <cx:numDim type="val">
        <cx:f dir="row">'Q3 MOM Food Inflation Analysis'!$D$78:$O$78</cx:f>
        <cx:lvl ptCount="12" formatCode="0.00%">
          <cx:pt idx="0">0.011902524588109718</cx:pt>
          <cx:pt idx="1">0.001485792112920398</cx:pt>
          <cx:pt idx="2">-0.00049452926995113714</cx:pt>
          <cx:pt idx="3">0.0048240460139771955</cx:pt>
          <cx:pt idx="4">0.0079399273712071894</cx:pt>
          <cx:pt idx="5">-0.00067171470444575218</cx:pt>
          <cx:pt idx="6">-0.007393828292086577</cx:pt>
          <cx:pt idx="7">0.0048633341541492797</cx:pt>
          <cx:pt idx="8">-0.0094958034674999855</cx:pt>
          <cx:pt idx="9">6.1850569025178782e-05</cx:pt>
          <cx:pt idx="10">0.0043911188075950059</cx:pt>
          <cx:pt idx="11">0.008312807881773257</cx:pt>
        </cx:lvl>
      </cx:numDim>
    </cx:data>
  </cx:chartData>
  <cx:chart>
    <cx:title pos="t" align="ctr" overlay="0">
      <cx:tx>
        <cx:txData>
          <cx:v>M-O-M Inflation rate of Rural + Urban Sector for basic food items</cx:v>
        </cx:txData>
      </cx:tx>
      <cx:txPr>
        <a:bodyPr spcFirstLastPara="1" vertOverflow="ellipsis" horzOverflow="overflow" wrap="square" lIns="0" tIns="0" rIns="0" bIns="0" anchor="ctr" anchorCtr="1"/>
        <a:lstStyle/>
        <a:p>
          <a:pPr algn="ctr" rtl="0">
            <a:defRPr/>
          </a:pPr>
          <a:r>
            <a:rPr lang="en-US" sz="1400" b="0" i="0" u="none" strike="noStrike" baseline="0" dirty="0">
              <a:solidFill>
                <a:sysClr val="windowText" lastClr="000000">
                  <a:lumMod val="65000"/>
                  <a:lumOff val="35000"/>
                </a:sysClr>
              </a:solidFill>
              <a:latin typeface="Calibri" panose="020F0502020204030204"/>
            </a:rPr>
            <a:t>M-O-M Inflation rate of Rural + Urban Sector for basic food items</a:t>
          </a:r>
        </a:p>
      </cx:txPr>
    </cx:title>
    <cx:plotArea>
      <cx:plotAreaRegion>
        <cx:series layoutId="waterfall" uniqueId="{00000002-0BB4-408F-9D36-1DBEC350757A}">
          <cx:tx>
            <cx:txData>
              <cx:f>'Q3 MOM Food Inflation Analysis'!$B$77:$B$78</cx:f>
              <cx:v>Basic Food Items</cx:v>
            </cx:txData>
          </cx:tx>
          <cx:dataLabels>
            <cx:visibility seriesName="0" categoryName="0" value="1"/>
          </cx:dataLabels>
          <cx:dataId val="0"/>
          <cx:layoutPr>
            <cx:subtotals/>
          </cx:layoutPr>
        </cx:series>
      </cx:plotAreaRegion>
      <cx:axis id="0">
        <cx:catScaling gapWidth="0.5"/>
        <cx:tickLabels/>
      </cx:axis>
      <cx:axis id="1" hidden="1">
        <cx:valScaling/>
        <cx:tickLabels/>
      </cx:axis>
    </cx:plotArea>
  </cx:chart>
</cx:chartSpace>
</file>

<file path=ppt/charts/chartEx6.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'Q3 MOM Food Inflation Analysis'!$D$76:$O$76</cx:f>
        <cx:lvl ptCount="12">
          <cx:pt idx="0">Jun-22</cx:pt>
          <cx:pt idx="1">Jul-22</cx:pt>
          <cx:pt idx="2">Aug-22</cx:pt>
          <cx:pt idx="3">Sep-22</cx:pt>
          <cx:pt idx="4">Oct-22</cx:pt>
          <cx:pt idx="5">Nov-22</cx:pt>
          <cx:pt idx="6">Dec-22</cx:pt>
          <cx:pt idx="7">Jan-23</cx:pt>
          <cx:pt idx="8">Feb-23</cx:pt>
          <cx:pt idx="9">Mar-23</cx:pt>
          <cx:pt idx="10">Apr-23</cx:pt>
          <cx:pt idx="11">May-23</cx:pt>
        </cx:lvl>
      </cx:strDim>
      <cx:numDim type="val">
        <cx:f dir="row">'Q3 MOM Food Inflation Analysis'!$D$81:$O$81</cx:f>
        <cx:lvl ptCount="12" formatCode="0.00%">
          <cx:pt idx="0">0.0050197203298673904</cx:pt>
          <cx:pt idx="1">0.0027351647044831021</cx:pt>
          <cx:pt idx="2">0.0048624288425049064</cx:pt>
          <cx:pt idx="3">0.0056650536999881436</cx:pt>
          <cx:pt idx="4">0.0045769275906583466</cx:pt>
          <cx:pt idx="5">0.001401869158878425</cx:pt>
          <cx:pt idx="6">-0.0010499300046663291</cx:pt>
          <cx:pt idx="7">0.0026859745416325524</cx:pt>
          <cx:pt idx="8">0.003726997437689315</cx:pt>
          <cx:pt idx="9">0</cx:pt>
          <cx:pt idx="10">0.0051055929449989454</cx:pt>
          <cx:pt idx="11">0.0048487647194642479</cx:pt>
        </cx:lvl>
      </cx:numDim>
    </cx:data>
  </cx:chartData>
  <cx:chart>
    <cx:title pos="t" align="ctr" overlay="0">
      <cx:tx>
        <cx:txData>
          <cx:v>M-O-M Inflation rate of Rural + Urban Sector for other food &amp; intoxicants </cx:v>
        </cx:txData>
      </cx:tx>
      <cx:txPr>
        <a:bodyPr spcFirstLastPara="1" vertOverflow="ellipsis" horzOverflow="overflow" wrap="square" lIns="0" tIns="0" rIns="0" bIns="0" anchor="ctr" anchorCtr="1"/>
        <a:lstStyle/>
        <a:p>
          <a:pPr algn="ctr" rtl="0">
            <a:defRPr/>
          </a:pPr>
          <a:r>
            <a:rPr lang="en-US" sz="1200" b="0" i="0" u="none" strike="noStrike" baseline="0" dirty="0">
              <a:solidFill>
                <a:sysClr val="windowText" lastClr="000000">
                  <a:lumMod val="65000"/>
                  <a:lumOff val="35000"/>
                </a:sysClr>
              </a:solidFill>
              <a:latin typeface="Calibri" panose="020F0502020204030204"/>
            </a:rPr>
            <a:t>M-O-M Inflation rate of Rural + Urban Sector for other food &amp; intoxicants </a:t>
          </a:r>
        </a:p>
      </cx:txPr>
    </cx:title>
    <cx:plotArea>
      <cx:plotAreaRegion>
        <cx:series layoutId="waterfall" uniqueId="{00000002-0BB4-408F-9D36-1DBEC350757A}">
          <cx:tx>
            <cx:txData>
              <cx:f>'Q3 MOM Food Inflation Analysis'!$B$54:$B$55</cx:f>
              <cx:v>Other Food and Intoxicants</cx:v>
            </cx:txData>
          </cx:tx>
          <cx:dataLabels>
            <cx:visibility seriesName="0" categoryName="0" value="1"/>
          </cx:dataLabels>
          <cx:dataId val="0"/>
          <cx:layoutPr>
            <cx:subtotals/>
          </cx:layoutPr>
        </cx:series>
      </cx:plotAreaRegion>
      <cx:axis id="0">
        <cx:catScaling gapWidth="0.5"/>
        <cx:tickLabels/>
      </cx:axis>
      <cx:axis id="1" hidden="1">
        <cx:valScaling/>
        <cx:tickLabels/>
      </cx:axis>
    </cx:plotArea>
  </cx:chart>
</cx: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withinLinear" id="17">
  <a:schemeClr val="accent4"/>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A5C339-9A7A-48E7-91E9-AF1D1D8C193E}" type="doc">
      <dgm:prSet loTypeId="urn:microsoft.com/office/officeart/2009/3/layout/HorizontalOrganizationChart" loCatId="hierarchy" qsTypeId="urn:microsoft.com/office/officeart/2005/8/quickstyle/3d3" qsCatId="3D" csTypeId="urn:microsoft.com/office/officeart/2005/8/colors/accent2_1" csCatId="accent2" phldr="1"/>
      <dgm:spPr/>
      <dgm:t>
        <a:bodyPr/>
        <a:lstStyle/>
        <a:p>
          <a:endParaRPr lang="en-US"/>
        </a:p>
      </dgm:t>
    </dgm:pt>
    <dgm:pt modelId="{D3F4A7D5-683D-4F6B-8060-FC01DBA5A741}">
      <dgm:prSet phldrT="[Text]"/>
      <dgm:spPr/>
      <dgm:t>
        <a:bodyPr/>
        <a:lstStyle/>
        <a:p>
          <a:r>
            <a:rPr lang="en-US" dirty="0"/>
            <a:t>Basic Food Items</a:t>
          </a:r>
        </a:p>
      </dgm:t>
    </dgm:pt>
    <dgm:pt modelId="{485F75E4-3F58-4CD8-986A-B622EB11A1D8}" type="parTrans" cxnId="{4710ACAF-E667-4DCE-827D-219CB72C1C78}">
      <dgm:prSet/>
      <dgm:spPr/>
      <dgm:t>
        <a:bodyPr/>
        <a:lstStyle/>
        <a:p>
          <a:endParaRPr lang="en-US"/>
        </a:p>
      </dgm:t>
    </dgm:pt>
    <dgm:pt modelId="{A2129C23-DAA6-49C4-A73A-503C66D58FB5}" type="sibTrans" cxnId="{4710ACAF-E667-4DCE-827D-219CB72C1C78}">
      <dgm:prSet/>
      <dgm:spPr/>
      <dgm:t>
        <a:bodyPr/>
        <a:lstStyle/>
        <a:p>
          <a:endParaRPr lang="en-US"/>
        </a:p>
      </dgm:t>
    </dgm:pt>
    <dgm:pt modelId="{1AA0EC51-15A2-4C09-8E8A-2D8A73A55BA4}">
      <dgm:prSet phldrT="[Text]"/>
      <dgm:spPr/>
      <dgm:t>
        <a:bodyPr/>
        <a:lstStyle/>
        <a:p>
          <a:r>
            <a:rPr lang="en-US" dirty="0"/>
            <a:t>Cereals and products</a:t>
          </a:r>
        </a:p>
      </dgm:t>
    </dgm:pt>
    <dgm:pt modelId="{432B71A9-8F64-4681-81DF-2B75236B1AD9}" type="parTrans" cxnId="{79CA2B2F-9DB8-4779-ACEF-9861A8A4B3DD}">
      <dgm:prSet/>
      <dgm:spPr/>
      <dgm:t>
        <a:bodyPr/>
        <a:lstStyle/>
        <a:p>
          <a:endParaRPr lang="en-US"/>
        </a:p>
      </dgm:t>
    </dgm:pt>
    <dgm:pt modelId="{72EC1556-80CA-4F2A-AC81-B7E5C1A3F4A7}" type="sibTrans" cxnId="{79CA2B2F-9DB8-4779-ACEF-9861A8A4B3DD}">
      <dgm:prSet/>
      <dgm:spPr/>
      <dgm:t>
        <a:bodyPr/>
        <a:lstStyle/>
        <a:p>
          <a:endParaRPr lang="en-US"/>
        </a:p>
      </dgm:t>
    </dgm:pt>
    <dgm:pt modelId="{6CADD1EE-48EA-420B-B919-C0B7A8D53333}">
      <dgm:prSet phldrT="[Text]"/>
      <dgm:spPr/>
      <dgm:t>
        <a:bodyPr/>
        <a:lstStyle/>
        <a:p>
          <a:r>
            <a:rPr lang="en-US" dirty="0"/>
            <a:t>Meat and fish</a:t>
          </a:r>
        </a:p>
      </dgm:t>
    </dgm:pt>
    <dgm:pt modelId="{2B1246E3-99FC-4D8D-B840-E2E927DC0D43}" type="parTrans" cxnId="{9E83ABA3-F2EB-4751-8D00-9EBA6B3346A3}">
      <dgm:prSet/>
      <dgm:spPr/>
      <dgm:t>
        <a:bodyPr/>
        <a:lstStyle/>
        <a:p>
          <a:endParaRPr lang="en-US"/>
        </a:p>
      </dgm:t>
    </dgm:pt>
    <dgm:pt modelId="{DD88B693-DD2C-449E-A408-F8F5F62FEA3D}" type="sibTrans" cxnId="{9E83ABA3-F2EB-4751-8D00-9EBA6B3346A3}">
      <dgm:prSet/>
      <dgm:spPr/>
      <dgm:t>
        <a:bodyPr/>
        <a:lstStyle/>
        <a:p>
          <a:endParaRPr lang="en-US"/>
        </a:p>
      </dgm:t>
    </dgm:pt>
    <dgm:pt modelId="{0861C889-B7C3-4491-BA59-DF3764C0544E}">
      <dgm:prSet phldrT="[Text]"/>
      <dgm:spPr/>
      <dgm:t>
        <a:bodyPr/>
        <a:lstStyle/>
        <a:p>
          <a:r>
            <a:rPr lang="en-US" dirty="0"/>
            <a:t>Egg</a:t>
          </a:r>
        </a:p>
      </dgm:t>
    </dgm:pt>
    <dgm:pt modelId="{438CEA4E-5F70-4233-A60B-2D6A20E93121}" type="parTrans" cxnId="{26087F7D-C6D6-4164-8437-584732B1ABF8}">
      <dgm:prSet/>
      <dgm:spPr/>
      <dgm:t>
        <a:bodyPr/>
        <a:lstStyle/>
        <a:p>
          <a:endParaRPr lang="en-US"/>
        </a:p>
      </dgm:t>
    </dgm:pt>
    <dgm:pt modelId="{17C71C96-D3F5-43F7-9EBF-51FAEE521DFD}" type="sibTrans" cxnId="{26087F7D-C6D6-4164-8437-584732B1ABF8}">
      <dgm:prSet/>
      <dgm:spPr/>
      <dgm:t>
        <a:bodyPr/>
        <a:lstStyle/>
        <a:p>
          <a:endParaRPr lang="en-US"/>
        </a:p>
      </dgm:t>
    </dgm:pt>
    <dgm:pt modelId="{419CFF37-9DF9-428C-8668-555991B940D9}">
      <dgm:prSet phldrT="[Text]"/>
      <dgm:spPr/>
      <dgm:t>
        <a:bodyPr/>
        <a:lstStyle/>
        <a:p>
          <a:r>
            <a:rPr lang="en-US"/>
            <a:t>Milk and products</a:t>
          </a:r>
          <a:endParaRPr lang="en-US" dirty="0"/>
        </a:p>
      </dgm:t>
    </dgm:pt>
    <dgm:pt modelId="{8C39B31D-D782-4BFE-ADD3-02C6B2B1CA28}" type="parTrans" cxnId="{46CE6011-C295-447E-BB4F-76F60AE4D21D}">
      <dgm:prSet/>
      <dgm:spPr/>
      <dgm:t>
        <a:bodyPr/>
        <a:lstStyle/>
        <a:p>
          <a:endParaRPr lang="en-US"/>
        </a:p>
      </dgm:t>
    </dgm:pt>
    <dgm:pt modelId="{4A1FE3E3-C8C1-41BB-B253-F823941F8FFA}" type="sibTrans" cxnId="{46CE6011-C295-447E-BB4F-76F60AE4D21D}">
      <dgm:prSet/>
      <dgm:spPr/>
      <dgm:t>
        <a:bodyPr/>
        <a:lstStyle/>
        <a:p>
          <a:endParaRPr lang="en-US"/>
        </a:p>
      </dgm:t>
    </dgm:pt>
    <dgm:pt modelId="{1B466735-7C7F-43A4-92BE-6337741FAEE6}">
      <dgm:prSet phldrT="[Text]"/>
      <dgm:spPr/>
      <dgm:t>
        <a:bodyPr/>
        <a:lstStyle/>
        <a:p>
          <a:r>
            <a:rPr lang="en-US"/>
            <a:t>Oils and fats</a:t>
          </a:r>
          <a:endParaRPr lang="en-US" dirty="0"/>
        </a:p>
      </dgm:t>
    </dgm:pt>
    <dgm:pt modelId="{4ECDB1A6-8BC6-4EBC-9602-3D66757C6430}" type="parTrans" cxnId="{F374D3BA-7AFF-44D0-BEF7-D931853B5AB9}">
      <dgm:prSet/>
      <dgm:spPr/>
      <dgm:t>
        <a:bodyPr/>
        <a:lstStyle/>
        <a:p>
          <a:endParaRPr lang="en-US"/>
        </a:p>
      </dgm:t>
    </dgm:pt>
    <dgm:pt modelId="{6DFE6A61-007C-4B2D-B168-20A51A974CCD}" type="sibTrans" cxnId="{F374D3BA-7AFF-44D0-BEF7-D931853B5AB9}">
      <dgm:prSet/>
      <dgm:spPr/>
      <dgm:t>
        <a:bodyPr/>
        <a:lstStyle/>
        <a:p>
          <a:endParaRPr lang="en-US"/>
        </a:p>
      </dgm:t>
    </dgm:pt>
    <dgm:pt modelId="{AA8DB4C9-83DC-4104-AFEA-71BA1964DF3A}">
      <dgm:prSet phldrT="[Text]"/>
      <dgm:spPr/>
      <dgm:t>
        <a:bodyPr/>
        <a:lstStyle/>
        <a:p>
          <a:r>
            <a:rPr lang="en-US" dirty="0"/>
            <a:t>Fruits</a:t>
          </a:r>
        </a:p>
      </dgm:t>
    </dgm:pt>
    <dgm:pt modelId="{20A9EB44-87A9-49D6-9B28-F70949B265B7}" type="parTrans" cxnId="{E927DDD8-3469-483E-B2B9-C55AEC5653D4}">
      <dgm:prSet/>
      <dgm:spPr/>
      <dgm:t>
        <a:bodyPr/>
        <a:lstStyle/>
        <a:p>
          <a:endParaRPr lang="en-US"/>
        </a:p>
      </dgm:t>
    </dgm:pt>
    <dgm:pt modelId="{CCDDEEFD-B542-4FA7-87F3-CA85C275CC2E}" type="sibTrans" cxnId="{E927DDD8-3469-483E-B2B9-C55AEC5653D4}">
      <dgm:prSet/>
      <dgm:spPr/>
      <dgm:t>
        <a:bodyPr/>
        <a:lstStyle/>
        <a:p>
          <a:endParaRPr lang="en-US"/>
        </a:p>
      </dgm:t>
    </dgm:pt>
    <dgm:pt modelId="{4D6F0231-E687-4487-BCEF-E68900C2D73C}">
      <dgm:prSet phldrT="[Text]"/>
      <dgm:spPr/>
      <dgm:t>
        <a:bodyPr/>
        <a:lstStyle/>
        <a:p>
          <a:r>
            <a:rPr lang="en-US"/>
            <a:t>Vegetables</a:t>
          </a:r>
          <a:endParaRPr lang="en-US" dirty="0"/>
        </a:p>
      </dgm:t>
    </dgm:pt>
    <dgm:pt modelId="{824A3019-364F-42DA-B09F-B6BC2045FEC2}" type="parTrans" cxnId="{73C04561-6896-44C7-B82B-E124394C8B94}">
      <dgm:prSet/>
      <dgm:spPr/>
      <dgm:t>
        <a:bodyPr/>
        <a:lstStyle/>
        <a:p>
          <a:endParaRPr lang="en-US"/>
        </a:p>
      </dgm:t>
    </dgm:pt>
    <dgm:pt modelId="{7B985474-D38F-49E4-814D-61E0AB292D3A}" type="sibTrans" cxnId="{73C04561-6896-44C7-B82B-E124394C8B94}">
      <dgm:prSet/>
      <dgm:spPr/>
      <dgm:t>
        <a:bodyPr/>
        <a:lstStyle/>
        <a:p>
          <a:endParaRPr lang="en-US"/>
        </a:p>
      </dgm:t>
    </dgm:pt>
    <dgm:pt modelId="{31BE7C2D-1738-4C0F-BC46-58998993E3DB}">
      <dgm:prSet phldrT="[Text]"/>
      <dgm:spPr/>
      <dgm:t>
        <a:bodyPr/>
        <a:lstStyle/>
        <a:p>
          <a:r>
            <a:rPr lang="en-US"/>
            <a:t>Pulses and products</a:t>
          </a:r>
          <a:endParaRPr lang="en-US" dirty="0"/>
        </a:p>
      </dgm:t>
    </dgm:pt>
    <dgm:pt modelId="{125C7561-D9F8-40F7-8F39-5A175B118FD0}" type="parTrans" cxnId="{CFBF15B8-A9F3-4F89-9AFC-FC4E9A627353}">
      <dgm:prSet/>
      <dgm:spPr/>
      <dgm:t>
        <a:bodyPr/>
        <a:lstStyle/>
        <a:p>
          <a:endParaRPr lang="en-US"/>
        </a:p>
      </dgm:t>
    </dgm:pt>
    <dgm:pt modelId="{0D676AAD-C607-468A-ABF2-BE7224070DD3}" type="sibTrans" cxnId="{CFBF15B8-A9F3-4F89-9AFC-FC4E9A627353}">
      <dgm:prSet/>
      <dgm:spPr/>
      <dgm:t>
        <a:bodyPr/>
        <a:lstStyle/>
        <a:p>
          <a:endParaRPr lang="en-US"/>
        </a:p>
      </dgm:t>
    </dgm:pt>
    <dgm:pt modelId="{15B410BB-FFAC-4838-A0C1-DCF2C8D6AAD5}">
      <dgm:prSet phldrT="[Text]"/>
      <dgm:spPr/>
      <dgm:t>
        <a:bodyPr/>
        <a:lstStyle/>
        <a:p>
          <a:r>
            <a:rPr lang="en-US"/>
            <a:t>Spices</a:t>
          </a:r>
          <a:endParaRPr lang="en-US" dirty="0"/>
        </a:p>
      </dgm:t>
    </dgm:pt>
    <dgm:pt modelId="{1A21C791-1296-4444-9814-3DE9E7889235}" type="parTrans" cxnId="{AD86600D-067A-4AD0-BD01-64D7DC8ADD5D}">
      <dgm:prSet/>
      <dgm:spPr/>
      <dgm:t>
        <a:bodyPr/>
        <a:lstStyle/>
        <a:p>
          <a:endParaRPr lang="en-US"/>
        </a:p>
      </dgm:t>
    </dgm:pt>
    <dgm:pt modelId="{BDF8183F-43C8-4C5F-A23A-269CB16640BB}" type="sibTrans" cxnId="{AD86600D-067A-4AD0-BD01-64D7DC8ADD5D}">
      <dgm:prSet/>
      <dgm:spPr/>
      <dgm:t>
        <a:bodyPr/>
        <a:lstStyle/>
        <a:p>
          <a:endParaRPr lang="en-US"/>
        </a:p>
      </dgm:t>
    </dgm:pt>
    <dgm:pt modelId="{7D970598-4A7B-449D-8DAF-C58717E9C16B}" type="pres">
      <dgm:prSet presAssocID="{97A5C339-9A7A-48E7-91E9-AF1D1D8C193E}" presName="hierChild1" presStyleCnt="0">
        <dgm:presLayoutVars>
          <dgm:orgChart val="1"/>
          <dgm:chPref val="1"/>
          <dgm:dir/>
          <dgm:animOne val="branch"/>
          <dgm:animLvl val="lvl"/>
          <dgm:resizeHandles/>
        </dgm:presLayoutVars>
      </dgm:prSet>
      <dgm:spPr/>
    </dgm:pt>
    <dgm:pt modelId="{B2F6B32D-367A-45CD-9BFF-52A770791918}" type="pres">
      <dgm:prSet presAssocID="{D3F4A7D5-683D-4F6B-8060-FC01DBA5A741}" presName="hierRoot1" presStyleCnt="0">
        <dgm:presLayoutVars>
          <dgm:hierBranch val="hang"/>
        </dgm:presLayoutVars>
      </dgm:prSet>
      <dgm:spPr/>
    </dgm:pt>
    <dgm:pt modelId="{E06F50B6-E71F-47FE-8169-D4ADC356D238}" type="pres">
      <dgm:prSet presAssocID="{D3F4A7D5-683D-4F6B-8060-FC01DBA5A741}" presName="rootComposite1" presStyleCnt="0"/>
      <dgm:spPr/>
    </dgm:pt>
    <dgm:pt modelId="{94B3CD04-F98F-4B35-B7B1-7E1C40A0FA4C}" type="pres">
      <dgm:prSet presAssocID="{D3F4A7D5-683D-4F6B-8060-FC01DBA5A741}" presName="rootText1" presStyleLbl="node0" presStyleIdx="0" presStyleCnt="1" custScaleX="107156">
        <dgm:presLayoutVars>
          <dgm:chPref val="3"/>
        </dgm:presLayoutVars>
      </dgm:prSet>
      <dgm:spPr>
        <a:prstGeom prst="roundRect">
          <a:avLst/>
        </a:prstGeom>
      </dgm:spPr>
    </dgm:pt>
    <dgm:pt modelId="{A3093ACF-716F-4DFE-AE24-DE2C2ABF3796}" type="pres">
      <dgm:prSet presAssocID="{D3F4A7D5-683D-4F6B-8060-FC01DBA5A741}" presName="rootConnector1" presStyleLbl="node1" presStyleIdx="0" presStyleCnt="0"/>
      <dgm:spPr/>
    </dgm:pt>
    <dgm:pt modelId="{D9AA15E5-F88B-441B-ABA2-65E24046FAAC}" type="pres">
      <dgm:prSet presAssocID="{D3F4A7D5-683D-4F6B-8060-FC01DBA5A741}" presName="hierChild2" presStyleCnt="0"/>
      <dgm:spPr/>
    </dgm:pt>
    <dgm:pt modelId="{27B5672D-5A59-4BF8-A2AB-5B031E0A80F8}" type="pres">
      <dgm:prSet presAssocID="{432B71A9-8F64-4681-81DF-2B75236B1AD9}" presName="Name47" presStyleLbl="parChTrans1D2" presStyleIdx="0" presStyleCnt="9"/>
      <dgm:spPr/>
    </dgm:pt>
    <dgm:pt modelId="{D009D4F0-15AC-4EC8-9137-76AEF7B870A2}" type="pres">
      <dgm:prSet presAssocID="{1AA0EC51-15A2-4C09-8E8A-2D8A73A55BA4}" presName="hierRoot2" presStyleCnt="0">
        <dgm:presLayoutVars>
          <dgm:hierBranch val="init"/>
        </dgm:presLayoutVars>
      </dgm:prSet>
      <dgm:spPr/>
    </dgm:pt>
    <dgm:pt modelId="{B7E9DB8B-763E-4C2C-B548-CA0679CAE7AF}" type="pres">
      <dgm:prSet presAssocID="{1AA0EC51-15A2-4C09-8E8A-2D8A73A55BA4}" presName="rootComposite" presStyleCnt="0"/>
      <dgm:spPr/>
    </dgm:pt>
    <dgm:pt modelId="{F6FA6216-E376-478A-BE10-0672CF3DBED3}" type="pres">
      <dgm:prSet presAssocID="{1AA0EC51-15A2-4C09-8E8A-2D8A73A55BA4}" presName="rootText" presStyleLbl="node2" presStyleIdx="0" presStyleCnt="9">
        <dgm:presLayoutVars>
          <dgm:chPref val="3"/>
        </dgm:presLayoutVars>
      </dgm:prSet>
      <dgm:spPr>
        <a:prstGeom prst="roundRect">
          <a:avLst/>
        </a:prstGeom>
      </dgm:spPr>
    </dgm:pt>
    <dgm:pt modelId="{109EAF05-1F69-4F62-96DE-70689B2D1DCE}" type="pres">
      <dgm:prSet presAssocID="{1AA0EC51-15A2-4C09-8E8A-2D8A73A55BA4}" presName="rootConnector" presStyleLbl="node2" presStyleIdx="0" presStyleCnt="9"/>
      <dgm:spPr/>
    </dgm:pt>
    <dgm:pt modelId="{9D81B184-990C-48BE-8CE9-8DF9D5ABE381}" type="pres">
      <dgm:prSet presAssocID="{1AA0EC51-15A2-4C09-8E8A-2D8A73A55BA4}" presName="hierChild4" presStyleCnt="0"/>
      <dgm:spPr/>
    </dgm:pt>
    <dgm:pt modelId="{D5A97464-656C-40FF-B91A-7A7737A8111A}" type="pres">
      <dgm:prSet presAssocID="{1AA0EC51-15A2-4C09-8E8A-2D8A73A55BA4}" presName="hierChild5" presStyleCnt="0"/>
      <dgm:spPr/>
    </dgm:pt>
    <dgm:pt modelId="{3628D6B9-4128-4A8C-BB6C-7D3D57EBFCE7}" type="pres">
      <dgm:prSet presAssocID="{2B1246E3-99FC-4D8D-B840-E2E927DC0D43}" presName="Name47" presStyleLbl="parChTrans1D2" presStyleIdx="1" presStyleCnt="9"/>
      <dgm:spPr/>
    </dgm:pt>
    <dgm:pt modelId="{FA674727-46F5-4267-B8B7-0CD867B75D38}" type="pres">
      <dgm:prSet presAssocID="{6CADD1EE-48EA-420B-B919-C0B7A8D53333}" presName="hierRoot2" presStyleCnt="0">
        <dgm:presLayoutVars>
          <dgm:hierBranch val="init"/>
        </dgm:presLayoutVars>
      </dgm:prSet>
      <dgm:spPr/>
    </dgm:pt>
    <dgm:pt modelId="{5EEB0899-A86A-416D-B821-AADFA4345DC0}" type="pres">
      <dgm:prSet presAssocID="{6CADD1EE-48EA-420B-B919-C0B7A8D53333}" presName="rootComposite" presStyleCnt="0"/>
      <dgm:spPr/>
    </dgm:pt>
    <dgm:pt modelId="{F04277DD-8156-44A8-81B8-18688F1059B8}" type="pres">
      <dgm:prSet presAssocID="{6CADD1EE-48EA-420B-B919-C0B7A8D53333}" presName="rootText" presStyleLbl="node2" presStyleIdx="1" presStyleCnt="9">
        <dgm:presLayoutVars>
          <dgm:chPref val="3"/>
        </dgm:presLayoutVars>
      </dgm:prSet>
      <dgm:spPr>
        <a:prstGeom prst="roundRect">
          <a:avLst/>
        </a:prstGeom>
      </dgm:spPr>
    </dgm:pt>
    <dgm:pt modelId="{1CD7D00D-264C-4276-9989-F08DFC305740}" type="pres">
      <dgm:prSet presAssocID="{6CADD1EE-48EA-420B-B919-C0B7A8D53333}" presName="rootConnector" presStyleLbl="node2" presStyleIdx="1" presStyleCnt="9"/>
      <dgm:spPr/>
    </dgm:pt>
    <dgm:pt modelId="{EBA049B0-E83C-4935-AD3F-2E408B2AF3D3}" type="pres">
      <dgm:prSet presAssocID="{6CADD1EE-48EA-420B-B919-C0B7A8D53333}" presName="hierChild4" presStyleCnt="0"/>
      <dgm:spPr/>
    </dgm:pt>
    <dgm:pt modelId="{7046780D-85D5-4BA5-9F52-87E3B44D1870}" type="pres">
      <dgm:prSet presAssocID="{6CADD1EE-48EA-420B-B919-C0B7A8D53333}" presName="hierChild5" presStyleCnt="0"/>
      <dgm:spPr/>
    </dgm:pt>
    <dgm:pt modelId="{0F59564C-F994-4F3F-87AD-575898603BC6}" type="pres">
      <dgm:prSet presAssocID="{438CEA4E-5F70-4233-A60B-2D6A20E93121}" presName="Name47" presStyleLbl="parChTrans1D2" presStyleIdx="2" presStyleCnt="9"/>
      <dgm:spPr/>
    </dgm:pt>
    <dgm:pt modelId="{F41352BA-9072-4C78-AD35-F007039B0F14}" type="pres">
      <dgm:prSet presAssocID="{0861C889-B7C3-4491-BA59-DF3764C0544E}" presName="hierRoot2" presStyleCnt="0">
        <dgm:presLayoutVars>
          <dgm:hierBranch val="init"/>
        </dgm:presLayoutVars>
      </dgm:prSet>
      <dgm:spPr/>
    </dgm:pt>
    <dgm:pt modelId="{C84599F1-53CC-490D-9889-EDBD640A566E}" type="pres">
      <dgm:prSet presAssocID="{0861C889-B7C3-4491-BA59-DF3764C0544E}" presName="rootComposite" presStyleCnt="0"/>
      <dgm:spPr/>
    </dgm:pt>
    <dgm:pt modelId="{AD1AD31F-5D21-446E-AF0F-074046E4D67E}" type="pres">
      <dgm:prSet presAssocID="{0861C889-B7C3-4491-BA59-DF3764C0544E}" presName="rootText" presStyleLbl="node2" presStyleIdx="2" presStyleCnt="9">
        <dgm:presLayoutVars>
          <dgm:chPref val="3"/>
        </dgm:presLayoutVars>
      </dgm:prSet>
      <dgm:spPr>
        <a:prstGeom prst="roundRect">
          <a:avLst/>
        </a:prstGeom>
      </dgm:spPr>
    </dgm:pt>
    <dgm:pt modelId="{5FC465B2-3C03-4C4B-8C95-1E890D4418C5}" type="pres">
      <dgm:prSet presAssocID="{0861C889-B7C3-4491-BA59-DF3764C0544E}" presName="rootConnector" presStyleLbl="node2" presStyleIdx="2" presStyleCnt="9"/>
      <dgm:spPr/>
    </dgm:pt>
    <dgm:pt modelId="{5C9DA663-932D-44C9-AF7A-39C754D88FCD}" type="pres">
      <dgm:prSet presAssocID="{0861C889-B7C3-4491-BA59-DF3764C0544E}" presName="hierChild4" presStyleCnt="0"/>
      <dgm:spPr/>
    </dgm:pt>
    <dgm:pt modelId="{AFD6D4F7-96FC-40A0-94E9-97B5B2CA8D7F}" type="pres">
      <dgm:prSet presAssocID="{0861C889-B7C3-4491-BA59-DF3764C0544E}" presName="hierChild5" presStyleCnt="0"/>
      <dgm:spPr/>
    </dgm:pt>
    <dgm:pt modelId="{13916A45-CE33-4509-95FC-327AFB34D806}" type="pres">
      <dgm:prSet presAssocID="{8C39B31D-D782-4BFE-ADD3-02C6B2B1CA28}" presName="Name47" presStyleLbl="parChTrans1D2" presStyleIdx="3" presStyleCnt="9"/>
      <dgm:spPr/>
    </dgm:pt>
    <dgm:pt modelId="{C4D5333D-9935-492F-AAF9-25E35D9C6F0C}" type="pres">
      <dgm:prSet presAssocID="{419CFF37-9DF9-428C-8668-555991B940D9}" presName="hierRoot2" presStyleCnt="0">
        <dgm:presLayoutVars>
          <dgm:hierBranch val="init"/>
        </dgm:presLayoutVars>
      </dgm:prSet>
      <dgm:spPr/>
    </dgm:pt>
    <dgm:pt modelId="{7AF8CEE5-A57F-421D-8D7C-F3462B1A3CEB}" type="pres">
      <dgm:prSet presAssocID="{419CFF37-9DF9-428C-8668-555991B940D9}" presName="rootComposite" presStyleCnt="0"/>
      <dgm:spPr/>
    </dgm:pt>
    <dgm:pt modelId="{A84B4A3B-7F92-4BB3-975C-FD5CA7C99306}" type="pres">
      <dgm:prSet presAssocID="{419CFF37-9DF9-428C-8668-555991B940D9}" presName="rootText" presStyleLbl="node2" presStyleIdx="3" presStyleCnt="9">
        <dgm:presLayoutVars>
          <dgm:chPref val="3"/>
        </dgm:presLayoutVars>
      </dgm:prSet>
      <dgm:spPr>
        <a:prstGeom prst="roundRect">
          <a:avLst/>
        </a:prstGeom>
      </dgm:spPr>
    </dgm:pt>
    <dgm:pt modelId="{CB242BC4-1AF8-4660-AAF0-A4453D750BD7}" type="pres">
      <dgm:prSet presAssocID="{419CFF37-9DF9-428C-8668-555991B940D9}" presName="rootConnector" presStyleLbl="node2" presStyleIdx="3" presStyleCnt="9"/>
      <dgm:spPr/>
    </dgm:pt>
    <dgm:pt modelId="{1691A86E-BE02-48FE-B330-3FC619E99C09}" type="pres">
      <dgm:prSet presAssocID="{419CFF37-9DF9-428C-8668-555991B940D9}" presName="hierChild4" presStyleCnt="0"/>
      <dgm:spPr/>
    </dgm:pt>
    <dgm:pt modelId="{44C23361-A89E-4DC2-829D-B803ABD31BB8}" type="pres">
      <dgm:prSet presAssocID="{419CFF37-9DF9-428C-8668-555991B940D9}" presName="hierChild5" presStyleCnt="0"/>
      <dgm:spPr/>
    </dgm:pt>
    <dgm:pt modelId="{012C2FF3-669F-494A-833F-BE038008E7D7}" type="pres">
      <dgm:prSet presAssocID="{4ECDB1A6-8BC6-4EBC-9602-3D66757C6430}" presName="Name47" presStyleLbl="parChTrans1D2" presStyleIdx="4" presStyleCnt="9"/>
      <dgm:spPr/>
    </dgm:pt>
    <dgm:pt modelId="{B983177E-76ED-4924-9E5F-1DBCB2AF0FA2}" type="pres">
      <dgm:prSet presAssocID="{1B466735-7C7F-43A4-92BE-6337741FAEE6}" presName="hierRoot2" presStyleCnt="0">
        <dgm:presLayoutVars>
          <dgm:hierBranch val="init"/>
        </dgm:presLayoutVars>
      </dgm:prSet>
      <dgm:spPr/>
    </dgm:pt>
    <dgm:pt modelId="{4394348A-E62B-439A-B4CE-C9BD5A8385E9}" type="pres">
      <dgm:prSet presAssocID="{1B466735-7C7F-43A4-92BE-6337741FAEE6}" presName="rootComposite" presStyleCnt="0"/>
      <dgm:spPr/>
    </dgm:pt>
    <dgm:pt modelId="{01DF2238-5112-45F6-B337-B00FA2E896D2}" type="pres">
      <dgm:prSet presAssocID="{1B466735-7C7F-43A4-92BE-6337741FAEE6}" presName="rootText" presStyleLbl="node2" presStyleIdx="4" presStyleCnt="9">
        <dgm:presLayoutVars>
          <dgm:chPref val="3"/>
        </dgm:presLayoutVars>
      </dgm:prSet>
      <dgm:spPr>
        <a:prstGeom prst="roundRect">
          <a:avLst/>
        </a:prstGeom>
      </dgm:spPr>
    </dgm:pt>
    <dgm:pt modelId="{68DB2A22-43E1-4D1E-837F-966148A4080B}" type="pres">
      <dgm:prSet presAssocID="{1B466735-7C7F-43A4-92BE-6337741FAEE6}" presName="rootConnector" presStyleLbl="node2" presStyleIdx="4" presStyleCnt="9"/>
      <dgm:spPr/>
    </dgm:pt>
    <dgm:pt modelId="{1EF51883-3EF0-4467-BDB6-6CECECD5FF23}" type="pres">
      <dgm:prSet presAssocID="{1B466735-7C7F-43A4-92BE-6337741FAEE6}" presName="hierChild4" presStyleCnt="0"/>
      <dgm:spPr/>
    </dgm:pt>
    <dgm:pt modelId="{F11D5DAE-70EE-4E22-AF27-269B5BAC8EA9}" type="pres">
      <dgm:prSet presAssocID="{1B466735-7C7F-43A4-92BE-6337741FAEE6}" presName="hierChild5" presStyleCnt="0"/>
      <dgm:spPr/>
    </dgm:pt>
    <dgm:pt modelId="{6DECA28D-AFCE-44D3-AE9C-95FA3B1DC7D5}" type="pres">
      <dgm:prSet presAssocID="{20A9EB44-87A9-49D6-9B28-F70949B265B7}" presName="Name47" presStyleLbl="parChTrans1D2" presStyleIdx="5" presStyleCnt="9"/>
      <dgm:spPr/>
    </dgm:pt>
    <dgm:pt modelId="{DC1E6858-1A91-423F-BAF6-4D1C2C54ED5C}" type="pres">
      <dgm:prSet presAssocID="{AA8DB4C9-83DC-4104-AFEA-71BA1964DF3A}" presName="hierRoot2" presStyleCnt="0">
        <dgm:presLayoutVars>
          <dgm:hierBranch val="init"/>
        </dgm:presLayoutVars>
      </dgm:prSet>
      <dgm:spPr/>
    </dgm:pt>
    <dgm:pt modelId="{2AE1676D-1892-4ED6-B13A-FE868F6CFF27}" type="pres">
      <dgm:prSet presAssocID="{AA8DB4C9-83DC-4104-AFEA-71BA1964DF3A}" presName="rootComposite" presStyleCnt="0"/>
      <dgm:spPr/>
    </dgm:pt>
    <dgm:pt modelId="{02416A66-498C-4CBA-8B93-1CCC291712C1}" type="pres">
      <dgm:prSet presAssocID="{AA8DB4C9-83DC-4104-AFEA-71BA1964DF3A}" presName="rootText" presStyleLbl="node2" presStyleIdx="5" presStyleCnt="9">
        <dgm:presLayoutVars>
          <dgm:chPref val="3"/>
        </dgm:presLayoutVars>
      </dgm:prSet>
      <dgm:spPr>
        <a:prstGeom prst="roundRect">
          <a:avLst/>
        </a:prstGeom>
      </dgm:spPr>
    </dgm:pt>
    <dgm:pt modelId="{DE9DD512-48C9-4CA8-AECF-A54B2AA22658}" type="pres">
      <dgm:prSet presAssocID="{AA8DB4C9-83DC-4104-AFEA-71BA1964DF3A}" presName="rootConnector" presStyleLbl="node2" presStyleIdx="5" presStyleCnt="9"/>
      <dgm:spPr/>
    </dgm:pt>
    <dgm:pt modelId="{824FA4CA-B77C-421A-8D7E-1ACE919A41A2}" type="pres">
      <dgm:prSet presAssocID="{AA8DB4C9-83DC-4104-AFEA-71BA1964DF3A}" presName="hierChild4" presStyleCnt="0"/>
      <dgm:spPr/>
    </dgm:pt>
    <dgm:pt modelId="{53436296-EC6B-40D3-850A-A220487720FD}" type="pres">
      <dgm:prSet presAssocID="{AA8DB4C9-83DC-4104-AFEA-71BA1964DF3A}" presName="hierChild5" presStyleCnt="0"/>
      <dgm:spPr/>
    </dgm:pt>
    <dgm:pt modelId="{8C967708-047E-4F59-A1AB-68296299236B}" type="pres">
      <dgm:prSet presAssocID="{824A3019-364F-42DA-B09F-B6BC2045FEC2}" presName="Name47" presStyleLbl="parChTrans1D2" presStyleIdx="6" presStyleCnt="9"/>
      <dgm:spPr/>
    </dgm:pt>
    <dgm:pt modelId="{61172F4B-592F-4EAD-9384-D995E56EDD28}" type="pres">
      <dgm:prSet presAssocID="{4D6F0231-E687-4487-BCEF-E68900C2D73C}" presName="hierRoot2" presStyleCnt="0">
        <dgm:presLayoutVars>
          <dgm:hierBranch val="init"/>
        </dgm:presLayoutVars>
      </dgm:prSet>
      <dgm:spPr/>
    </dgm:pt>
    <dgm:pt modelId="{751420B5-CFFB-4D62-AB19-6C6100FCF751}" type="pres">
      <dgm:prSet presAssocID="{4D6F0231-E687-4487-BCEF-E68900C2D73C}" presName="rootComposite" presStyleCnt="0"/>
      <dgm:spPr/>
    </dgm:pt>
    <dgm:pt modelId="{58F2BFAA-FFF4-4B54-BF1E-3D039ADD43C4}" type="pres">
      <dgm:prSet presAssocID="{4D6F0231-E687-4487-BCEF-E68900C2D73C}" presName="rootText" presStyleLbl="node2" presStyleIdx="6" presStyleCnt="9">
        <dgm:presLayoutVars>
          <dgm:chPref val="3"/>
        </dgm:presLayoutVars>
      </dgm:prSet>
      <dgm:spPr>
        <a:prstGeom prst="roundRect">
          <a:avLst/>
        </a:prstGeom>
      </dgm:spPr>
    </dgm:pt>
    <dgm:pt modelId="{A3EFE76F-88C8-4DAC-83D8-C0AF3CE7EF56}" type="pres">
      <dgm:prSet presAssocID="{4D6F0231-E687-4487-BCEF-E68900C2D73C}" presName="rootConnector" presStyleLbl="node2" presStyleIdx="6" presStyleCnt="9"/>
      <dgm:spPr/>
    </dgm:pt>
    <dgm:pt modelId="{6205CD4E-63CD-4DE0-AF6D-C40DE7226A5B}" type="pres">
      <dgm:prSet presAssocID="{4D6F0231-E687-4487-BCEF-E68900C2D73C}" presName="hierChild4" presStyleCnt="0"/>
      <dgm:spPr/>
    </dgm:pt>
    <dgm:pt modelId="{294C17F8-9ACF-484C-861F-B410E9F84751}" type="pres">
      <dgm:prSet presAssocID="{4D6F0231-E687-4487-BCEF-E68900C2D73C}" presName="hierChild5" presStyleCnt="0"/>
      <dgm:spPr/>
    </dgm:pt>
    <dgm:pt modelId="{C0B1F88A-DB33-4FBF-A868-156F094DA0AC}" type="pres">
      <dgm:prSet presAssocID="{125C7561-D9F8-40F7-8F39-5A175B118FD0}" presName="Name47" presStyleLbl="parChTrans1D2" presStyleIdx="7" presStyleCnt="9"/>
      <dgm:spPr/>
    </dgm:pt>
    <dgm:pt modelId="{E2F0C3E9-FB15-49CB-80D9-8E2773F335E3}" type="pres">
      <dgm:prSet presAssocID="{31BE7C2D-1738-4C0F-BC46-58998993E3DB}" presName="hierRoot2" presStyleCnt="0">
        <dgm:presLayoutVars>
          <dgm:hierBranch val="init"/>
        </dgm:presLayoutVars>
      </dgm:prSet>
      <dgm:spPr/>
    </dgm:pt>
    <dgm:pt modelId="{9F1A4422-293A-4C67-A30F-F2A4516BDADF}" type="pres">
      <dgm:prSet presAssocID="{31BE7C2D-1738-4C0F-BC46-58998993E3DB}" presName="rootComposite" presStyleCnt="0"/>
      <dgm:spPr/>
    </dgm:pt>
    <dgm:pt modelId="{F5E30269-4859-40F0-BB3F-DF0C666AFD36}" type="pres">
      <dgm:prSet presAssocID="{31BE7C2D-1738-4C0F-BC46-58998993E3DB}" presName="rootText" presStyleLbl="node2" presStyleIdx="7" presStyleCnt="9">
        <dgm:presLayoutVars>
          <dgm:chPref val="3"/>
        </dgm:presLayoutVars>
      </dgm:prSet>
      <dgm:spPr>
        <a:prstGeom prst="roundRect">
          <a:avLst/>
        </a:prstGeom>
      </dgm:spPr>
    </dgm:pt>
    <dgm:pt modelId="{7A47AE48-B20B-408B-B703-911D5EFEE068}" type="pres">
      <dgm:prSet presAssocID="{31BE7C2D-1738-4C0F-BC46-58998993E3DB}" presName="rootConnector" presStyleLbl="node2" presStyleIdx="7" presStyleCnt="9"/>
      <dgm:spPr/>
    </dgm:pt>
    <dgm:pt modelId="{E1ED84B7-522E-4961-9EBF-4371A213530D}" type="pres">
      <dgm:prSet presAssocID="{31BE7C2D-1738-4C0F-BC46-58998993E3DB}" presName="hierChild4" presStyleCnt="0"/>
      <dgm:spPr/>
    </dgm:pt>
    <dgm:pt modelId="{E96CF629-196A-4DFB-AE72-139354D54217}" type="pres">
      <dgm:prSet presAssocID="{31BE7C2D-1738-4C0F-BC46-58998993E3DB}" presName="hierChild5" presStyleCnt="0"/>
      <dgm:spPr/>
    </dgm:pt>
    <dgm:pt modelId="{713CA3A9-A800-4EB6-8F25-AD3827A9E4EC}" type="pres">
      <dgm:prSet presAssocID="{1A21C791-1296-4444-9814-3DE9E7889235}" presName="Name47" presStyleLbl="parChTrans1D2" presStyleIdx="8" presStyleCnt="9"/>
      <dgm:spPr/>
    </dgm:pt>
    <dgm:pt modelId="{4C769F05-1A27-493F-A2DB-97D3BB5086C6}" type="pres">
      <dgm:prSet presAssocID="{15B410BB-FFAC-4838-A0C1-DCF2C8D6AAD5}" presName="hierRoot2" presStyleCnt="0">
        <dgm:presLayoutVars>
          <dgm:hierBranch val="init"/>
        </dgm:presLayoutVars>
      </dgm:prSet>
      <dgm:spPr/>
    </dgm:pt>
    <dgm:pt modelId="{233837D0-4E1B-4588-9A6C-823BB01F177F}" type="pres">
      <dgm:prSet presAssocID="{15B410BB-FFAC-4838-A0C1-DCF2C8D6AAD5}" presName="rootComposite" presStyleCnt="0"/>
      <dgm:spPr/>
    </dgm:pt>
    <dgm:pt modelId="{C9D4F81F-3A64-47BB-BB46-B9264B12F83C}" type="pres">
      <dgm:prSet presAssocID="{15B410BB-FFAC-4838-A0C1-DCF2C8D6AAD5}" presName="rootText" presStyleLbl="node2" presStyleIdx="8" presStyleCnt="9">
        <dgm:presLayoutVars>
          <dgm:chPref val="3"/>
        </dgm:presLayoutVars>
      </dgm:prSet>
      <dgm:spPr>
        <a:prstGeom prst="roundRect">
          <a:avLst/>
        </a:prstGeom>
      </dgm:spPr>
    </dgm:pt>
    <dgm:pt modelId="{54950137-F880-4CFE-A3A9-9CE6F0592517}" type="pres">
      <dgm:prSet presAssocID="{15B410BB-FFAC-4838-A0C1-DCF2C8D6AAD5}" presName="rootConnector" presStyleLbl="node2" presStyleIdx="8" presStyleCnt="9"/>
      <dgm:spPr/>
    </dgm:pt>
    <dgm:pt modelId="{85C924B8-BD22-480B-BF1C-DA37090A7B0B}" type="pres">
      <dgm:prSet presAssocID="{15B410BB-FFAC-4838-A0C1-DCF2C8D6AAD5}" presName="hierChild4" presStyleCnt="0"/>
      <dgm:spPr/>
    </dgm:pt>
    <dgm:pt modelId="{9D8D84DF-8832-494C-A445-5531D3B7CE2E}" type="pres">
      <dgm:prSet presAssocID="{15B410BB-FFAC-4838-A0C1-DCF2C8D6AAD5}" presName="hierChild5" presStyleCnt="0"/>
      <dgm:spPr/>
    </dgm:pt>
    <dgm:pt modelId="{62E8EA10-7B11-42FD-BE5F-4A3E0BE10BDF}" type="pres">
      <dgm:prSet presAssocID="{D3F4A7D5-683D-4F6B-8060-FC01DBA5A741}" presName="hierChild3" presStyleCnt="0"/>
      <dgm:spPr/>
    </dgm:pt>
  </dgm:ptLst>
  <dgm:cxnLst>
    <dgm:cxn modelId="{4115EF00-4FD5-4232-8D52-27C254C5ADF9}" type="presOf" srcId="{4ECDB1A6-8BC6-4EBC-9602-3D66757C6430}" destId="{012C2FF3-669F-494A-833F-BE038008E7D7}" srcOrd="0" destOrd="0" presId="urn:microsoft.com/office/officeart/2009/3/layout/HorizontalOrganizationChart"/>
    <dgm:cxn modelId="{CA5EF200-051E-4F3E-AC57-5890BD99BBC8}" type="presOf" srcId="{0861C889-B7C3-4491-BA59-DF3764C0544E}" destId="{AD1AD31F-5D21-446E-AF0F-074046E4D67E}" srcOrd="0" destOrd="0" presId="urn:microsoft.com/office/officeart/2009/3/layout/HorizontalOrganizationChart"/>
    <dgm:cxn modelId="{AD86600D-067A-4AD0-BD01-64D7DC8ADD5D}" srcId="{D3F4A7D5-683D-4F6B-8060-FC01DBA5A741}" destId="{15B410BB-FFAC-4838-A0C1-DCF2C8D6AAD5}" srcOrd="8" destOrd="0" parTransId="{1A21C791-1296-4444-9814-3DE9E7889235}" sibTransId="{BDF8183F-43C8-4C5F-A23A-269CB16640BB}"/>
    <dgm:cxn modelId="{46CE6011-C295-447E-BB4F-76F60AE4D21D}" srcId="{D3F4A7D5-683D-4F6B-8060-FC01DBA5A741}" destId="{419CFF37-9DF9-428C-8668-555991B940D9}" srcOrd="3" destOrd="0" parTransId="{8C39B31D-D782-4BFE-ADD3-02C6B2B1CA28}" sibTransId="{4A1FE3E3-C8C1-41BB-B253-F823941F8FFA}"/>
    <dgm:cxn modelId="{B6622D21-2906-4608-815B-ED9D1DD27A9A}" type="presOf" srcId="{AA8DB4C9-83DC-4104-AFEA-71BA1964DF3A}" destId="{DE9DD512-48C9-4CA8-AECF-A54B2AA22658}" srcOrd="1" destOrd="0" presId="urn:microsoft.com/office/officeart/2009/3/layout/HorizontalOrganizationChart"/>
    <dgm:cxn modelId="{7A964428-69EC-4469-8139-94EC7E1739EA}" type="presOf" srcId="{1B466735-7C7F-43A4-92BE-6337741FAEE6}" destId="{68DB2A22-43E1-4D1E-837F-966148A4080B}" srcOrd="1" destOrd="0" presId="urn:microsoft.com/office/officeart/2009/3/layout/HorizontalOrganizationChart"/>
    <dgm:cxn modelId="{8FBA392B-FEDE-4B86-8490-6C6457EBD22F}" type="presOf" srcId="{1A21C791-1296-4444-9814-3DE9E7889235}" destId="{713CA3A9-A800-4EB6-8F25-AD3827A9E4EC}" srcOrd="0" destOrd="0" presId="urn:microsoft.com/office/officeart/2009/3/layout/HorizontalOrganizationChart"/>
    <dgm:cxn modelId="{8897642C-C81A-4122-8E0D-E47ACA7B2397}" type="presOf" srcId="{419CFF37-9DF9-428C-8668-555991B940D9}" destId="{CB242BC4-1AF8-4660-AAF0-A4453D750BD7}" srcOrd="1" destOrd="0" presId="urn:microsoft.com/office/officeart/2009/3/layout/HorizontalOrganizationChart"/>
    <dgm:cxn modelId="{EBBF1B2D-3EFD-43AA-BA73-FC7E274D5CBB}" type="presOf" srcId="{125C7561-D9F8-40F7-8F39-5A175B118FD0}" destId="{C0B1F88A-DB33-4FBF-A868-156F094DA0AC}" srcOrd="0" destOrd="0" presId="urn:microsoft.com/office/officeart/2009/3/layout/HorizontalOrganizationChart"/>
    <dgm:cxn modelId="{79CA2B2F-9DB8-4779-ACEF-9861A8A4B3DD}" srcId="{D3F4A7D5-683D-4F6B-8060-FC01DBA5A741}" destId="{1AA0EC51-15A2-4C09-8E8A-2D8A73A55BA4}" srcOrd="0" destOrd="0" parTransId="{432B71A9-8F64-4681-81DF-2B75236B1AD9}" sibTransId="{72EC1556-80CA-4F2A-AC81-B7E5C1A3F4A7}"/>
    <dgm:cxn modelId="{48569039-774B-4F88-8833-A68492EF9BE2}" type="presOf" srcId="{438CEA4E-5F70-4233-A60B-2D6A20E93121}" destId="{0F59564C-F994-4F3F-87AD-575898603BC6}" srcOrd="0" destOrd="0" presId="urn:microsoft.com/office/officeart/2009/3/layout/HorizontalOrganizationChart"/>
    <dgm:cxn modelId="{931C733E-FF3C-462E-9176-92F63182BB3A}" type="presOf" srcId="{419CFF37-9DF9-428C-8668-555991B940D9}" destId="{A84B4A3B-7F92-4BB3-975C-FD5CA7C99306}" srcOrd="0" destOrd="0" presId="urn:microsoft.com/office/officeart/2009/3/layout/HorizontalOrganizationChart"/>
    <dgm:cxn modelId="{2EF5543F-66E4-442B-95E7-C32D9445284F}" type="presOf" srcId="{4D6F0231-E687-4487-BCEF-E68900C2D73C}" destId="{A3EFE76F-88C8-4DAC-83D8-C0AF3CE7EF56}" srcOrd="1" destOrd="0" presId="urn:microsoft.com/office/officeart/2009/3/layout/HorizontalOrganizationChart"/>
    <dgm:cxn modelId="{73C04561-6896-44C7-B82B-E124394C8B94}" srcId="{D3F4A7D5-683D-4F6B-8060-FC01DBA5A741}" destId="{4D6F0231-E687-4487-BCEF-E68900C2D73C}" srcOrd="6" destOrd="0" parTransId="{824A3019-364F-42DA-B09F-B6BC2045FEC2}" sibTransId="{7B985474-D38F-49E4-814D-61E0AB292D3A}"/>
    <dgm:cxn modelId="{72181A45-40C5-42AA-A38F-8373F6B3774F}" type="presOf" srcId="{D3F4A7D5-683D-4F6B-8060-FC01DBA5A741}" destId="{94B3CD04-F98F-4B35-B7B1-7E1C40A0FA4C}" srcOrd="0" destOrd="0" presId="urn:microsoft.com/office/officeart/2009/3/layout/HorizontalOrganizationChart"/>
    <dgm:cxn modelId="{D8BC5F46-C1F2-4D85-B570-BB10942E4DF1}" type="presOf" srcId="{97A5C339-9A7A-48E7-91E9-AF1D1D8C193E}" destId="{7D970598-4A7B-449D-8DAF-C58717E9C16B}" srcOrd="0" destOrd="0" presId="urn:microsoft.com/office/officeart/2009/3/layout/HorizontalOrganizationChart"/>
    <dgm:cxn modelId="{06265A68-0FAB-4639-BD70-DB92BC170B05}" type="presOf" srcId="{1B466735-7C7F-43A4-92BE-6337741FAEE6}" destId="{01DF2238-5112-45F6-B337-B00FA2E896D2}" srcOrd="0" destOrd="0" presId="urn:microsoft.com/office/officeart/2009/3/layout/HorizontalOrganizationChart"/>
    <dgm:cxn modelId="{4ECEA44E-D0F8-408F-9516-B7B1A4463453}" type="presOf" srcId="{20A9EB44-87A9-49D6-9B28-F70949B265B7}" destId="{6DECA28D-AFCE-44D3-AE9C-95FA3B1DC7D5}" srcOrd="0" destOrd="0" presId="urn:microsoft.com/office/officeart/2009/3/layout/HorizontalOrganizationChart"/>
    <dgm:cxn modelId="{E6ED2278-F0D9-4558-96D1-4DF65383EE50}" type="presOf" srcId="{432B71A9-8F64-4681-81DF-2B75236B1AD9}" destId="{27B5672D-5A59-4BF8-A2AB-5B031E0A80F8}" srcOrd="0" destOrd="0" presId="urn:microsoft.com/office/officeart/2009/3/layout/HorizontalOrganizationChart"/>
    <dgm:cxn modelId="{26087F7D-C6D6-4164-8437-584732B1ABF8}" srcId="{D3F4A7D5-683D-4F6B-8060-FC01DBA5A741}" destId="{0861C889-B7C3-4491-BA59-DF3764C0544E}" srcOrd="2" destOrd="0" parTransId="{438CEA4E-5F70-4233-A60B-2D6A20E93121}" sibTransId="{17C71C96-D3F5-43F7-9EBF-51FAEE521DFD}"/>
    <dgm:cxn modelId="{81179092-3827-4037-A3BB-FD672E7C4278}" type="presOf" srcId="{15B410BB-FFAC-4838-A0C1-DCF2C8D6AAD5}" destId="{C9D4F81F-3A64-47BB-BB46-B9264B12F83C}" srcOrd="0" destOrd="0" presId="urn:microsoft.com/office/officeart/2009/3/layout/HorizontalOrganizationChart"/>
    <dgm:cxn modelId="{EE332A96-AE70-481D-BBE7-A35B70B3E8F8}" type="presOf" srcId="{1AA0EC51-15A2-4C09-8E8A-2D8A73A55BA4}" destId="{F6FA6216-E376-478A-BE10-0672CF3DBED3}" srcOrd="0" destOrd="0" presId="urn:microsoft.com/office/officeart/2009/3/layout/HorizontalOrganizationChart"/>
    <dgm:cxn modelId="{0C855796-C6CA-42A9-850B-0A41E02C68AC}" type="presOf" srcId="{AA8DB4C9-83DC-4104-AFEA-71BA1964DF3A}" destId="{02416A66-498C-4CBA-8B93-1CCC291712C1}" srcOrd="0" destOrd="0" presId="urn:microsoft.com/office/officeart/2009/3/layout/HorizontalOrganizationChart"/>
    <dgm:cxn modelId="{9E83ABA3-F2EB-4751-8D00-9EBA6B3346A3}" srcId="{D3F4A7D5-683D-4F6B-8060-FC01DBA5A741}" destId="{6CADD1EE-48EA-420B-B919-C0B7A8D53333}" srcOrd="1" destOrd="0" parTransId="{2B1246E3-99FC-4D8D-B840-E2E927DC0D43}" sibTransId="{DD88B693-DD2C-449E-A408-F8F5F62FEA3D}"/>
    <dgm:cxn modelId="{094E07AC-A13D-4BC2-8E74-B7F8ABB88A32}" type="presOf" srcId="{31BE7C2D-1738-4C0F-BC46-58998993E3DB}" destId="{7A47AE48-B20B-408B-B703-911D5EFEE068}" srcOrd="1" destOrd="0" presId="urn:microsoft.com/office/officeart/2009/3/layout/HorizontalOrganizationChart"/>
    <dgm:cxn modelId="{4710ACAF-E667-4DCE-827D-219CB72C1C78}" srcId="{97A5C339-9A7A-48E7-91E9-AF1D1D8C193E}" destId="{D3F4A7D5-683D-4F6B-8060-FC01DBA5A741}" srcOrd="0" destOrd="0" parTransId="{485F75E4-3F58-4CD8-986A-B622EB11A1D8}" sibTransId="{A2129C23-DAA6-49C4-A73A-503C66D58FB5}"/>
    <dgm:cxn modelId="{C9DC57B4-F65E-4FD0-8ADF-447733AEE59F}" type="presOf" srcId="{6CADD1EE-48EA-420B-B919-C0B7A8D53333}" destId="{F04277DD-8156-44A8-81B8-18688F1059B8}" srcOrd="0" destOrd="0" presId="urn:microsoft.com/office/officeart/2009/3/layout/HorizontalOrganizationChart"/>
    <dgm:cxn modelId="{CFBF15B8-A9F3-4F89-9AFC-FC4E9A627353}" srcId="{D3F4A7D5-683D-4F6B-8060-FC01DBA5A741}" destId="{31BE7C2D-1738-4C0F-BC46-58998993E3DB}" srcOrd="7" destOrd="0" parTransId="{125C7561-D9F8-40F7-8F39-5A175B118FD0}" sibTransId="{0D676AAD-C607-468A-ABF2-BE7224070DD3}"/>
    <dgm:cxn modelId="{CC49E1B9-532F-482B-9D07-948100FCE458}" type="presOf" srcId="{6CADD1EE-48EA-420B-B919-C0B7A8D53333}" destId="{1CD7D00D-264C-4276-9989-F08DFC305740}" srcOrd="1" destOrd="0" presId="urn:microsoft.com/office/officeart/2009/3/layout/HorizontalOrganizationChart"/>
    <dgm:cxn modelId="{F374D3BA-7AFF-44D0-BEF7-D931853B5AB9}" srcId="{D3F4A7D5-683D-4F6B-8060-FC01DBA5A741}" destId="{1B466735-7C7F-43A4-92BE-6337741FAEE6}" srcOrd="4" destOrd="0" parTransId="{4ECDB1A6-8BC6-4EBC-9602-3D66757C6430}" sibTransId="{6DFE6A61-007C-4B2D-B168-20A51A974CCD}"/>
    <dgm:cxn modelId="{DFD823C0-8898-4869-BC5D-86685CF7F0C5}" type="presOf" srcId="{15B410BB-FFAC-4838-A0C1-DCF2C8D6AAD5}" destId="{54950137-F880-4CFE-A3A9-9CE6F0592517}" srcOrd="1" destOrd="0" presId="urn:microsoft.com/office/officeart/2009/3/layout/HorizontalOrganizationChart"/>
    <dgm:cxn modelId="{9B450DD2-C651-4784-91D1-05C385C99F92}" type="presOf" srcId="{D3F4A7D5-683D-4F6B-8060-FC01DBA5A741}" destId="{A3093ACF-716F-4DFE-AE24-DE2C2ABF3796}" srcOrd="1" destOrd="0" presId="urn:microsoft.com/office/officeart/2009/3/layout/HorizontalOrganizationChart"/>
    <dgm:cxn modelId="{E927DDD8-3469-483E-B2B9-C55AEC5653D4}" srcId="{D3F4A7D5-683D-4F6B-8060-FC01DBA5A741}" destId="{AA8DB4C9-83DC-4104-AFEA-71BA1964DF3A}" srcOrd="5" destOrd="0" parTransId="{20A9EB44-87A9-49D6-9B28-F70949B265B7}" sibTransId="{CCDDEEFD-B542-4FA7-87F3-CA85C275CC2E}"/>
    <dgm:cxn modelId="{3DFD4EDC-65C3-4C37-AB4F-C797D1F5D238}" type="presOf" srcId="{2B1246E3-99FC-4D8D-B840-E2E927DC0D43}" destId="{3628D6B9-4128-4A8C-BB6C-7D3D57EBFCE7}" srcOrd="0" destOrd="0" presId="urn:microsoft.com/office/officeart/2009/3/layout/HorizontalOrganizationChart"/>
    <dgm:cxn modelId="{1F9A26E9-8E94-4325-9CF8-05256340EF8D}" type="presOf" srcId="{4D6F0231-E687-4487-BCEF-E68900C2D73C}" destId="{58F2BFAA-FFF4-4B54-BF1E-3D039ADD43C4}" srcOrd="0" destOrd="0" presId="urn:microsoft.com/office/officeart/2009/3/layout/HorizontalOrganizationChart"/>
    <dgm:cxn modelId="{E216B7EA-FACC-48D3-A4D6-87B864C2000C}" type="presOf" srcId="{824A3019-364F-42DA-B09F-B6BC2045FEC2}" destId="{8C967708-047E-4F59-A1AB-68296299236B}" srcOrd="0" destOrd="0" presId="urn:microsoft.com/office/officeart/2009/3/layout/HorizontalOrganizationChart"/>
    <dgm:cxn modelId="{078318EF-B9DA-4652-977E-68189012B3B0}" type="presOf" srcId="{8C39B31D-D782-4BFE-ADD3-02C6B2B1CA28}" destId="{13916A45-CE33-4509-95FC-327AFB34D806}" srcOrd="0" destOrd="0" presId="urn:microsoft.com/office/officeart/2009/3/layout/HorizontalOrganizationChart"/>
    <dgm:cxn modelId="{7AD542F6-186E-40BF-A35D-8345D6414274}" type="presOf" srcId="{0861C889-B7C3-4491-BA59-DF3764C0544E}" destId="{5FC465B2-3C03-4C4B-8C95-1E890D4418C5}" srcOrd="1" destOrd="0" presId="urn:microsoft.com/office/officeart/2009/3/layout/HorizontalOrganizationChart"/>
    <dgm:cxn modelId="{1876F0FA-B78E-455C-9632-A92F11E368CD}" type="presOf" srcId="{31BE7C2D-1738-4C0F-BC46-58998993E3DB}" destId="{F5E30269-4859-40F0-BB3F-DF0C666AFD36}" srcOrd="0" destOrd="0" presId="urn:microsoft.com/office/officeart/2009/3/layout/HorizontalOrganizationChart"/>
    <dgm:cxn modelId="{5E6567FF-CED4-40C8-80C8-DB788F025A6C}" type="presOf" srcId="{1AA0EC51-15A2-4C09-8E8A-2D8A73A55BA4}" destId="{109EAF05-1F69-4F62-96DE-70689B2D1DCE}" srcOrd="1" destOrd="0" presId="urn:microsoft.com/office/officeart/2009/3/layout/HorizontalOrganizationChart"/>
    <dgm:cxn modelId="{82D7977B-F6FE-423C-9E13-044AA10734B2}" type="presParOf" srcId="{7D970598-4A7B-449D-8DAF-C58717E9C16B}" destId="{B2F6B32D-367A-45CD-9BFF-52A770791918}" srcOrd="0" destOrd="0" presId="urn:microsoft.com/office/officeart/2009/3/layout/HorizontalOrganizationChart"/>
    <dgm:cxn modelId="{6D5B85D7-A9E9-4C5E-9781-6A5F3257E77A}" type="presParOf" srcId="{B2F6B32D-367A-45CD-9BFF-52A770791918}" destId="{E06F50B6-E71F-47FE-8169-D4ADC356D238}" srcOrd="0" destOrd="0" presId="urn:microsoft.com/office/officeart/2009/3/layout/HorizontalOrganizationChart"/>
    <dgm:cxn modelId="{71A4D8DF-C5F7-4280-A05F-479F823E0A72}" type="presParOf" srcId="{E06F50B6-E71F-47FE-8169-D4ADC356D238}" destId="{94B3CD04-F98F-4B35-B7B1-7E1C40A0FA4C}" srcOrd="0" destOrd="0" presId="urn:microsoft.com/office/officeart/2009/3/layout/HorizontalOrganizationChart"/>
    <dgm:cxn modelId="{40B65346-C490-4370-9B8C-2AE4F9B75578}" type="presParOf" srcId="{E06F50B6-E71F-47FE-8169-D4ADC356D238}" destId="{A3093ACF-716F-4DFE-AE24-DE2C2ABF3796}" srcOrd="1" destOrd="0" presId="urn:microsoft.com/office/officeart/2009/3/layout/HorizontalOrganizationChart"/>
    <dgm:cxn modelId="{AD1E2C1D-90BA-41C9-AB8E-20A37A86190B}" type="presParOf" srcId="{B2F6B32D-367A-45CD-9BFF-52A770791918}" destId="{D9AA15E5-F88B-441B-ABA2-65E24046FAAC}" srcOrd="1" destOrd="0" presId="urn:microsoft.com/office/officeart/2009/3/layout/HorizontalOrganizationChart"/>
    <dgm:cxn modelId="{42CBDCB1-6052-48AD-8E7B-CA4EE9C400D3}" type="presParOf" srcId="{D9AA15E5-F88B-441B-ABA2-65E24046FAAC}" destId="{27B5672D-5A59-4BF8-A2AB-5B031E0A80F8}" srcOrd="0" destOrd="0" presId="urn:microsoft.com/office/officeart/2009/3/layout/HorizontalOrganizationChart"/>
    <dgm:cxn modelId="{C25970F4-8950-4F94-9FD0-9E6D22DA0A5E}" type="presParOf" srcId="{D9AA15E5-F88B-441B-ABA2-65E24046FAAC}" destId="{D009D4F0-15AC-4EC8-9137-76AEF7B870A2}" srcOrd="1" destOrd="0" presId="urn:microsoft.com/office/officeart/2009/3/layout/HorizontalOrganizationChart"/>
    <dgm:cxn modelId="{F610E140-77EA-431F-A042-8697DA8EF5EF}" type="presParOf" srcId="{D009D4F0-15AC-4EC8-9137-76AEF7B870A2}" destId="{B7E9DB8B-763E-4C2C-B548-CA0679CAE7AF}" srcOrd="0" destOrd="0" presId="urn:microsoft.com/office/officeart/2009/3/layout/HorizontalOrganizationChart"/>
    <dgm:cxn modelId="{6AC5A63A-0E30-4A6C-B3B4-82E8EF5BCE79}" type="presParOf" srcId="{B7E9DB8B-763E-4C2C-B548-CA0679CAE7AF}" destId="{F6FA6216-E376-478A-BE10-0672CF3DBED3}" srcOrd="0" destOrd="0" presId="urn:microsoft.com/office/officeart/2009/3/layout/HorizontalOrganizationChart"/>
    <dgm:cxn modelId="{8BDE06C6-0B82-4432-A9B1-26085D96DA37}" type="presParOf" srcId="{B7E9DB8B-763E-4C2C-B548-CA0679CAE7AF}" destId="{109EAF05-1F69-4F62-96DE-70689B2D1DCE}" srcOrd="1" destOrd="0" presId="urn:microsoft.com/office/officeart/2009/3/layout/HorizontalOrganizationChart"/>
    <dgm:cxn modelId="{B29D2EBE-63EB-4AC2-8011-E58D3EB15F73}" type="presParOf" srcId="{D009D4F0-15AC-4EC8-9137-76AEF7B870A2}" destId="{9D81B184-990C-48BE-8CE9-8DF9D5ABE381}" srcOrd="1" destOrd="0" presId="urn:microsoft.com/office/officeart/2009/3/layout/HorizontalOrganizationChart"/>
    <dgm:cxn modelId="{04511C46-937B-4295-9047-1BA01C87E3F7}" type="presParOf" srcId="{D009D4F0-15AC-4EC8-9137-76AEF7B870A2}" destId="{D5A97464-656C-40FF-B91A-7A7737A8111A}" srcOrd="2" destOrd="0" presId="urn:microsoft.com/office/officeart/2009/3/layout/HorizontalOrganizationChart"/>
    <dgm:cxn modelId="{FD34410E-50C9-40BB-9006-F69DB26219E0}" type="presParOf" srcId="{D9AA15E5-F88B-441B-ABA2-65E24046FAAC}" destId="{3628D6B9-4128-4A8C-BB6C-7D3D57EBFCE7}" srcOrd="2" destOrd="0" presId="urn:microsoft.com/office/officeart/2009/3/layout/HorizontalOrganizationChart"/>
    <dgm:cxn modelId="{FA58A53B-EDFB-4B93-BBFE-A54339134B7E}" type="presParOf" srcId="{D9AA15E5-F88B-441B-ABA2-65E24046FAAC}" destId="{FA674727-46F5-4267-B8B7-0CD867B75D38}" srcOrd="3" destOrd="0" presId="urn:microsoft.com/office/officeart/2009/3/layout/HorizontalOrganizationChart"/>
    <dgm:cxn modelId="{7E073026-947E-4245-BB91-78C706C3E636}" type="presParOf" srcId="{FA674727-46F5-4267-B8B7-0CD867B75D38}" destId="{5EEB0899-A86A-416D-B821-AADFA4345DC0}" srcOrd="0" destOrd="0" presId="urn:microsoft.com/office/officeart/2009/3/layout/HorizontalOrganizationChart"/>
    <dgm:cxn modelId="{14A5C5CD-BB2B-4F4A-A048-93EC84BDF7B3}" type="presParOf" srcId="{5EEB0899-A86A-416D-B821-AADFA4345DC0}" destId="{F04277DD-8156-44A8-81B8-18688F1059B8}" srcOrd="0" destOrd="0" presId="urn:microsoft.com/office/officeart/2009/3/layout/HorizontalOrganizationChart"/>
    <dgm:cxn modelId="{409F2106-308B-4A54-BAF7-E5F3D7BD6190}" type="presParOf" srcId="{5EEB0899-A86A-416D-B821-AADFA4345DC0}" destId="{1CD7D00D-264C-4276-9989-F08DFC305740}" srcOrd="1" destOrd="0" presId="urn:microsoft.com/office/officeart/2009/3/layout/HorizontalOrganizationChart"/>
    <dgm:cxn modelId="{09C167F9-12B8-43F6-BD4F-4C36331698CF}" type="presParOf" srcId="{FA674727-46F5-4267-B8B7-0CD867B75D38}" destId="{EBA049B0-E83C-4935-AD3F-2E408B2AF3D3}" srcOrd="1" destOrd="0" presId="urn:microsoft.com/office/officeart/2009/3/layout/HorizontalOrganizationChart"/>
    <dgm:cxn modelId="{B3DE4C03-4AC3-4732-A6E7-1AA0058B1D09}" type="presParOf" srcId="{FA674727-46F5-4267-B8B7-0CD867B75D38}" destId="{7046780D-85D5-4BA5-9F52-87E3B44D1870}" srcOrd="2" destOrd="0" presId="urn:microsoft.com/office/officeart/2009/3/layout/HorizontalOrganizationChart"/>
    <dgm:cxn modelId="{D792BFB9-32B9-4BE3-9E2B-F3FB7A78CB8E}" type="presParOf" srcId="{D9AA15E5-F88B-441B-ABA2-65E24046FAAC}" destId="{0F59564C-F994-4F3F-87AD-575898603BC6}" srcOrd="4" destOrd="0" presId="urn:microsoft.com/office/officeart/2009/3/layout/HorizontalOrganizationChart"/>
    <dgm:cxn modelId="{6ACF931A-58AA-44B5-9D5D-C256B4F3C8BC}" type="presParOf" srcId="{D9AA15E5-F88B-441B-ABA2-65E24046FAAC}" destId="{F41352BA-9072-4C78-AD35-F007039B0F14}" srcOrd="5" destOrd="0" presId="urn:microsoft.com/office/officeart/2009/3/layout/HorizontalOrganizationChart"/>
    <dgm:cxn modelId="{18CF6A35-4DC7-415E-A5FB-E249907665D2}" type="presParOf" srcId="{F41352BA-9072-4C78-AD35-F007039B0F14}" destId="{C84599F1-53CC-490D-9889-EDBD640A566E}" srcOrd="0" destOrd="0" presId="urn:microsoft.com/office/officeart/2009/3/layout/HorizontalOrganizationChart"/>
    <dgm:cxn modelId="{9ABE27A8-A55C-4D1C-AA0F-F63BBDCA5E91}" type="presParOf" srcId="{C84599F1-53CC-490D-9889-EDBD640A566E}" destId="{AD1AD31F-5D21-446E-AF0F-074046E4D67E}" srcOrd="0" destOrd="0" presId="urn:microsoft.com/office/officeart/2009/3/layout/HorizontalOrganizationChart"/>
    <dgm:cxn modelId="{D34859A2-1AE2-453E-A223-CCCDB55B540E}" type="presParOf" srcId="{C84599F1-53CC-490D-9889-EDBD640A566E}" destId="{5FC465B2-3C03-4C4B-8C95-1E890D4418C5}" srcOrd="1" destOrd="0" presId="urn:microsoft.com/office/officeart/2009/3/layout/HorizontalOrganizationChart"/>
    <dgm:cxn modelId="{ADD5696E-5769-4FE9-8002-03110A86BE3C}" type="presParOf" srcId="{F41352BA-9072-4C78-AD35-F007039B0F14}" destId="{5C9DA663-932D-44C9-AF7A-39C754D88FCD}" srcOrd="1" destOrd="0" presId="urn:microsoft.com/office/officeart/2009/3/layout/HorizontalOrganizationChart"/>
    <dgm:cxn modelId="{EA858D57-93FA-4F2E-A582-01A63F40D746}" type="presParOf" srcId="{F41352BA-9072-4C78-AD35-F007039B0F14}" destId="{AFD6D4F7-96FC-40A0-94E9-97B5B2CA8D7F}" srcOrd="2" destOrd="0" presId="urn:microsoft.com/office/officeart/2009/3/layout/HorizontalOrganizationChart"/>
    <dgm:cxn modelId="{371FD99E-5CDE-4AA0-BDAE-53AF9FCD593A}" type="presParOf" srcId="{D9AA15E5-F88B-441B-ABA2-65E24046FAAC}" destId="{13916A45-CE33-4509-95FC-327AFB34D806}" srcOrd="6" destOrd="0" presId="urn:microsoft.com/office/officeart/2009/3/layout/HorizontalOrganizationChart"/>
    <dgm:cxn modelId="{328B3B95-EC87-4D5E-9692-D8E3C61562BC}" type="presParOf" srcId="{D9AA15E5-F88B-441B-ABA2-65E24046FAAC}" destId="{C4D5333D-9935-492F-AAF9-25E35D9C6F0C}" srcOrd="7" destOrd="0" presId="urn:microsoft.com/office/officeart/2009/3/layout/HorizontalOrganizationChart"/>
    <dgm:cxn modelId="{BF2FA879-E71E-4A17-B80D-AF4F470128FE}" type="presParOf" srcId="{C4D5333D-9935-492F-AAF9-25E35D9C6F0C}" destId="{7AF8CEE5-A57F-421D-8D7C-F3462B1A3CEB}" srcOrd="0" destOrd="0" presId="urn:microsoft.com/office/officeart/2009/3/layout/HorizontalOrganizationChart"/>
    <dgm:cxn modelId="{5B9974A6-BF78-4ABD-9AC7-F599B60C91DA}" type="presParOf" srcId="{7AF8CEE5-A57F-421D-8D7C-F3462B1A3CEB}" destId="{A84B4A3B-7F92-4BB3-975C-FD5CA7C99306}" srcOrd="0" destOrd="0" presId="urn:microsoft.com/office/officeart/2009/3/layout/HorizontalOrganizationChart"/>
    <dgm:cxn modelId="{18BAE06A-7647-4BE6-BE53-F247A8317273}" type="presParOf" srcId="{7AF8CEE5-A57F-421D-8D7C-F3462B1A3CEB}" destId="{CB242BC4-1AF8-4660-AAF0-A4453D750BD7}" srcOrd="1" destOrd="0" presId="urn:microsoft.com/office/officeart/2009/3/layout/HorizontalOrganizationChart"/>
    <dgm:cxn modelId="{450DE453-9E44-4921-AC4D-CF26BB69B96A}" type="presParOf" srcId="{C4D5333D-9935-492F-AAF9-25E35D9C6F0C}" destId="{1691A86E-BE02-48FE-B330-3FC619E99C09}" srcOrd="1" destOrd="0" presId="urn:microsoft.com/office/officeart/2009/3/layout/HorizontalOrganizationChart"/>
    <dgm:cxn modelId="{D82A40B2-1E0C-4D4B-9146-AD2053607275}" type="presParOf" srcId="{C4D5333D-9935-492F-AAF9-25E35D9C6F0C}" destId="{44C23361-A89E-4DC2-829D-B803ABD31BB8}" srcOrd="2" destOrd="0" presId="urn:microsoft.com/office/officeart/2009/3/layout/HorizontalOrganizationChart"/>
    <dgm:cxn modelId="{3729BFB4-4C29-479F-8A91-06E8FCBBACA5}" type="presParOf" srcId="{D9AA15E5-F88B-441B-ABA2-65E24046FAAC}" destId="{012C2FF3-669F-494A-833F-BE038008E7D7}" srcOrd="8" destOrd="0" presId="urn:microsoft.com/office/officeart/2009/3/layout/HorizontalOrganizationChart"/>
    <dgm:cxn modelId="{3A2384C4-AA21-4AFF-B86B-4B85B86DC3F9}" type="presParOf" srcId="{D9AA15E5-F88B-441B-ABA2-65E24046FAAC}" destId="{B983177E-76ED-4924-9E5F-1DBCB2AF0FA2}" srcOrd="9" destOrd="0" presId="urn:microsoft.com/office/officeart/2009/3/layout/HorizontalOrganizationChart"/>
    <dgm:cxn modelId="{D85AA10C-1BBE-4CF1-932B-AD2A5E4AC6C7}" type="presParOf" srcId="{B983177E-76ED-4924-9E5F-1DBCB2AF0FA2}" destId="{4394348A-E62B-439A-B4CE-C9BD5A8385E9}" srcOrd="0" destOrd="0" presId="urn:microsoft.com/office/officeart/2009/3/layout/HorizontalOrganizationChart"/>
    <dgm:cxn modelId="{26F9B1A0-EF23-4DEC-A0E8-E39C4BCA61BA}" type="presParOf" srcId="{4394348A-E62B-439A-B4CE-C9BD5A8385E9}" destId="{01DF2238-5112-45F6-B337-B00FA2E896D2}" srcOrd="0" destOrd="0" presId="urn:microsoft.com/office/officeart/2009/3/layout/HorizontalOrganizationChart"/>
    <dgm:cxn modelId="{27E162A7-3DCD-4E65-B427-1B488378795A}" type="presParOf" srcId="{4394348A-E62B-439A-B4CE-C9BD5A8385E9}" destId="{68DB2A22-43E1-4D1E-837F-966148A4080B}" srcOrd="1" destOrd="0" presId="urn:microsoft.com/office/officeart/2009/3/layout/HorizontalOrganizationChart"/>
    <dgm:cxn modelId="{42441ADC-8241-4888-91AE-0C1F3D00FE8C}" type="presParOf" srcId="{B983177E-76ED-4924-9E5F-1DBCB2AF0FA2}" destId="{1EF51883-3EF0-4467-BDB6-6CECECD5FF23}" srcOrd="1" destOrd="0" presId="urn:microsoft.com/office/officeart/2009/3/layout/HorizontalOrganizationChart"/>
    <dgm:cxn modelId="{A92DEBDB-D540-41A4-8EB1-AD9C7E9DA9DF}" type="presParOf" srcId="{B983177E-76ED-4924-9E5F-1DBCB2AF0FA2}" destId="{F11D5DAE-70EE-4E22-AF27-269B5BAC8EA9}" srcOrd="2" destOrd="0" presId="urn:microsoft.com/office/officeart/2009/3/layout/HorizontalOrganizationChart"/>
    <dgm:cxn modelId="{E5E911CF-928C-4901-BA46-4484EE7D52E5}" type="presParOf" srcId="{D9AA15E5-F88B-441B-ABA2-65E24046FAAC}" destId="{6DECA28D-AFCE-44D3-AE9C-95FA3B1DC7D5}" srcOrd="10" destOrd="0" presId="urn:microsoft.com/office/officeart/2009/3/layout/HorizontalOrganizationChart"/>
    <dgm:cxn modelId="{7B9E5F41-D15E-4CCF-A677-79D77BA04710}" type="presParOf" srcId="{D9AA15E5-F88B-441B-ABA2-65E24046FAAC}" destId="{DC1E6858-1A91-423F-BAF6-4D1C2C54ED5C}" srcOrd="11" destOrd="0" presId="urn:microsoft.com/office/officeart/2009/3/layout/HorizontalOrganizationChart"/>
    <dgm:cxn modelId="{64491985-883C-4A0E-80BF-B0DD54A66B3C}" type="presParOf" srcId="{DC1E6858-1A91-423F-BAF6-4D1C2C54ED5C}" destId="{2AE1676D-1892-4ED6-B13A-FE868F6CFF27}" srcOrd="0" destOrd="0" presId="urn:microsoft.com/office/officeart/2009/3/layout/HorizontalOrganizationChart"/>
    <dgm:cxn modelId="{42E0DA10-929B-4975-A78F-C1482536FAE0}" type="presParOf" srcId="{2AE1676D-1892-4ED6-B13A-FE868F6CFF27}" destId="{02416A66-498C-4CBA-8B93-1CCC291712C1}" srcOrd="0" destOrd="0" presId="urn:microsoft.com/office/officeart/2009/3/layout/HorizontalOrganizationChart"/>
    <dgm:cxn modelId="{CB08AA19-C981-42FD-A206-1610E36F0885}" type="presParOf" srcId="{2AE1676D-1892-4ED6-B13A-FE868F6CFF27}" destId="{DE9DD512-48C9-4CA8-AECF-A54B2AA22658}" srcOrd="1" destOrd="0" presId="urn:microsoft.com/office/officeart/2009/3/layout/HorizontalOrganizationChart"/>
    <dgm:cxn modelId="{C8D10D40-9217-40FE-9BFE-E0C999EADD2B}" type="presParOf" srcId="{DC1E6858-1A91-423F-BAF6-4D1C2C54ED5C}" destId="{824FA4CA-B77C-421A-8D7E-1ACE919A41A2}" srcOrd="1" destOrd="0" presId="urn:microsoft.com/office/officeart/2009/3/layout/HorizontalOrganizationChart"/>
    <dgm:cxn modelId="{6BAAB424-3EE7-41E6-8FB7-60E7723EFFC0}" type="presParOf" srcId="{DC1E6858-1A91-423F-BAF6-4D1C2C54ED5C}" destId="{53436296-EC6B-40D3-850A-A220487720FD}" srcOrd="2" destOrd="0" presId="urn:microsoft.com/office/officeart/2009/3/layout/HorizontalOrganizationChart"/>
    <dgm:cxn modelId="{02426583-7E7D-40E2-809E-675199E2DAF9}" type="presParOf" srcId="{D9AA15E5-F88B-441B-ABA2-65E24046FAAC}" destId="{8C967708-047E-4F59-A1AB-68296299236B}" srcOrd="12" destOrd="0" presId="urn:microsoft.com/office/officeart/2009/3/layout/HorizontalOrganizationChart"/>
    <dgm:cxn modelId="{8D0E4883-CB05-49D9-9B8D-2F9BA4AE869B}" type="presParOf" srcId="{D9AA15E5-F88B-441B-ABA2-65E24046FAAC}" destId="{61172F4B-592F-4EAD-9384-D995E56EDD28}" srcOrd="13" destOrd="0" presId="urn:microsoft.com/office/officeart/2009/3/layout/HorizontalOrganizationChart"/>
    <dgm:cxn modelId="{CE4967E3-292E-47E6-BCAA-D8451C34C8E2}" type="presParOf" srcId="{61172F4B-592F-4EAD-9384-D995E56EDD28}" destId="{751420B5-CFFB-4D62-AB19-6C6100FCF751}" srcOrd="0" destOrd="0" presId="urn:microsoft.com/office/officeart/2009/3/layout/HorizontalOrganizationChart"/>
    <dgm:cxn modelId="{68651159-BDE8-4326-BE0C-8D3ABFB29F2C}" type="presParOf" srcId="{751420B5-CFFB-4D62-AB19-6C6100FCF751}" destId="{58F2BFAA-FFF4-4B54-BF1E-3D039ADD43C4}" srcOrd="0" destOrd="0" presId="urn:microsoft.com/office/officeart/2009/3/layout/HorizontalOrganizationChart"/>
    <dgm:cxn modelId="{B84A5852-3B36-4644-A4E5-136E4E9371AB}" type="presParOf" srcId="{751420B5-CFFB-4D62-AB19-6C6100FCF751}" destId="{A3EFE76F-88C8-4DAC-83D8-C0AF3CE7EF56}" srcOrd="1" destOrd="0" presId="urn:microsoft.com/office/officeart/2009/3/layout/HorizontalOrganizationChart"/>
    <dgm:cxn modelId="{E782C304-C8CD-4B38-B3D2-9469F4744145}" type="presParOf" srcId="{61172F4B-592F-4EAD-9384-D995E56EDD28}" destId="{6205CD4E-63CD-4DE0-AF6D-C40DE7226A5B}" srcOrd="1" destOrd="0" presId="urn:microsoft.com/office/officeart/2009/3/layout/HorizontalOrganizationChart"/>
    <dgm:cxn modelId="{A4A3AE3D-F7DB-4C85-9AB1-355D1E7F38E5}" type="presParOf" srcId="{61172F4B-592F-4EAD-9384-D995E56EDD28}" destId="{294C17F8-9ACF-484C-861F-B410E9F84751}" srcOrd="2" destOrd="0" presId="urn:microsoft.com/office/officeart/2009/3/layout/HorizontalOrganizationChart"/>
    <dgm:cxn modelId="{60A023EF-E7B4-4DF8-84EF-E1DADD10FC8B}" type="presParOf" srcId="{D9AA15E5-F88B-441B-ABA2-65E24046FAAC}" destId="{C0B1F88A-DB33-4FBF-A868-156F094DA0AC}" srcOrd="14" destOrd="0" presId="urn:microsoft.com/office/officeart/2009/3/layout/HorizontalOrganizationChart"/>
    <dgm:cxn modelId="{1E9D4CD2-6278-4033-84E6-4065DFE189B1}" type="presParOf" srcId="{D9AA15E5-F88B-441B-ABA2-65E24046FAAC}" destId="{E2F0C3E9-FB15-49CB-80D9-8E2773F335E3}" srcOrd="15" destOrd="0" presId="urn:microsoft.com/office/officeart/2009/3/layout/HorizontalOrganizationChart"/>
    <dgm:cxn modelId="{59BCD0A8-3B05-414D-95EE-011945A3568F}" type="presParOf" srcId="{E2F0C3E9-FB15-49CB-80D9-8E2773F335E3}" destId="{9F1A4422-293A-4C67-A30F-F2A4516BDADF}" srcOrd="0" destOrd="0" presId="urn:microsoft.com/office/officeart/2009/3/layout/HorizontalOrganizationChart"/>
    <dgm:cxn modelId="{CBD0BA85-B5A9-4FDC-82C3-D64684ED4CC3}" type="presParOf" srcId="{9F1A4422-293A-4C67-A30F-F2A4516BDADF}" destId="{F5E30269-4859-40F0-BB3F-DF0C666AFD36}" srcOrd="0" destOrd="0" presId="urn:microsoft.com/office/officeart/2009/3/layout/HorizontalOrganizationChart"/>
    <dgm:cxn modelId="{0310D5D0-A105-4224-95BE-4D78B7D13CDF}" type="presParOf" srcId="{9F1A4422-293A-4C67-A30F-F2A4516BDADF}" destId="{7A47AE48-B20B-408B-B703-911D5EFEE068}" srcOrd="1" destOrd="0" presId="urn:microsoft.com/office/officeart/2009/3/layout/HorizontalOrganizationChart"/>
    <dgm:cxn modelId="{E0368D27-6436-41CD-99DB-0F665ABB0BCB}" type="presParOf" srcId="{E2F0C3E9-FB15-49CB-80D9-8E2773F335E3}" destId="{E1ED84B7-522E-4961-9EBF-4371A213530D}" srcOrd="1" destOrd="0" presId="urn:microsoft.com/office/officeart/2009/3/layout/HorizontalOrganizationChart"/>
    <dgm:cxn modelId="{7B9E52A6-F0AE-412D-95F0-F671CB5D5A91}" type="presParOf" srcId="{E2F0C3E9-FB15-49CB-80D9-8E2773F335E3}" destId="{E96CF629-196A-4DFB-AE72-139354D54217}" srcOrd="2" destOrd="0" presId="urn:microsoft.com/office/officeart/2009/3/layout/HorizontalOrganizationChart"/>
    <dgm:cxn modelId="{66C16BA9-49E6-4677-A314-E531554AD963}" type="presParOf" srcId="{D9AA15E5-F88B-441B-ABA2-65E24046FAAC}" destId="{713CA3A9-A800-4EB6-8F25-AD3827A9E4EC}" srcOrd="16" destOrd="0" presId="urn:microsoft.com/office/officeart/2009/3/layout/HorizontalOrganizationChart"/>
    <dgm:cxn modelId="{F8C8A863-6E43-45AD-948B-8CEEC7A6A9D3}" type="presParOf" srcId="{D9AA15E5-F88B-441B-ABA2-65E24046FAAC}" destId="{4C769F05-1A27-493F-A2DB-97D3BB5086C6}" srcOrd="17" destOrd="0" presId="urn:microsoft.com/office/officeart/2009/3/layout/HorizontalOrganizationChart"/>
    <dgm:cxn modelId="{E15FD9F9-005B-4B9B-9B48-DBFF2C126302}" type="presParOf" srcId="{4C769F05-1A27-493F-A2DB-97D3BB5086C6}" destId="{233837D0-4E1B-4588-9A6C-823BB01F177F}" srcOrd="0" destOrd="0" presId="urn:microsoft.com/office/officeart/2009/3/layout/HorizontalOrganizationChart"/>
    <dgm:cxn modelId="{7A80FB46-6DC2-4ADC-87E3-2928DAA4FDA1}" type="presParOf" srcId="{233837D0-4E1B-4588-9A6C-823BB01F177F}" destId="{C9D4F81F-3A64-47BB-BB46-B9264B12F83C}" srcOrd="0" destOrd="0" presId="urn:microsoft.com/office/officeart/2009/3/layout/HorizontalOrganizationChart"/>
    <dgm:cxn modelId="{881F9DDF-3287-4E05-9EA0-7D0C05A7945C}" type="presParOf" srcId="{233837D0-4E1B-4588-9A6C-823BB01F177F}" destId="{54950137-F880-4CFE-A3A9-9CE6F0592517}" srcOrd="1" destOrd="0" presId="urn:microsoft.com/office/officeart/2009/3/layout/HorizontalOrganizationChart"/>
    <dgm:cxn modelId="{B3A291AE-F5A3-4223-8CEF-96B8BAFC3E11}" type="presParOf" srcId="{4C769F05-1A27-493F-A2DB-97D3BB5086C6}" destId="{85C924B8-BD22-480B-BF1C-DA37090A7B0B}" srcOrd="1" destOrd="0" presId="urn:microsoft.com/office/officeart/2009/3/layout/HorizontalOrganizationChart"/>
    <dgm:cxn modelId="{838CB5A8-0031-4765-AD92-A428D923572D}" type="presParOf" srcId="{4C769F05-1A27-493F-A2DB-97D3BB5086C6}" destId="{9D8D84DF-8832-494C-A445-5531D3B7CE2E}" srcOrd="2" destOrd="0" presId="urn:microsoft.com/office/officeart/2009/3/layout/HorizontalOrganizationChart"/>
    <dgm:cxn modelId="{CEF36C39-6072-4648-9E4F-E2A5E0FD369E}" type="presParOf" srcId="{B2F6B32D-367A-45CD-9BFF-52A770791918}" destId="{62E8EA10-7B11-42FD-BE5F-4A3E0BE10BDF}"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A5C339-9A7A-48E7-91E9-AF1D1D8C193E}" type="doc">
      <dgm:prSet loTypeId="urn:microsoft.com/office/officeart/2009/3/layout/HorizontalOrganizationChart" loCatId="hierarchy" qsTypeId="urn:microsoft.com/office/officeart/2005/8/quickstyle/3d3" qsCatId="3D" csTypeId="urn:microsoft.com/office/officeart/2005/8/colors/accent2_1" csCatId="accent2" phldr="1"/>
      <dgm:spPr/>
      <dgm:t>
        <a:bodyPr/>
        <a:lstStyle/>
        <a:p>
          <a:endParaRPr lang="en-US"/>
        </a:p>
      </dgm:t>
    </dgm:pt>
    <dgm:pt modelId="{D3F4A7D5-683D-4F6B-8060-FC01DBA5A741}">
      <dgm:prSet phldrT="[Text]" custT="1"/>
      <dgm:spPr/>
      <dgm:t>
        <a:bodyPr/>
        <a:lstStyle/>
        <a:p>
          <a:r>
            <a:rPr lang="en-US" sz="1600" dirty="0"/>
            <a:t>Other Food and Intoxicants</a:t>
          </a:r>
        </a:p>
      </dgm:t>
    </dgm:pt>
    <dgm:pt modelId="{485F75E4-3F58-4CD8-986A-B622EB11A1D8}" type="parTrans" cxnId="{4710ACAF-E667-4DCE-827D-219CB72C1C78}">
      <dgm:prSet/>
      <dgm:spPr/>
      <dgm:t>
        <a:bodyPr/>
        <a:lstStyle/>
        <a:p>
          <a:endParaRPr lang="en-US"/>
        </a:p>
      </dgm:t>
    </dgm:pt>
    <dgm:pt modelId="{A2129C23-DAA6-49C4-A73A-503C66D58FB5}" type="sibTrans" cxnId="{4710ACAF-E667-4DCE-827D-219CB72C1C78}">
      <dgm:prSet/>
      <dgm:spPr/>
      <dgm:t>
        <a:bodyPr/>
        <a:lstStyle/>
        <a:p>
          <a:endParaRPr lang="en-US"/>
        </a:p>
      </dgm:t>
    </dgm:pt>
    <dgm:pt modelId="{1AA0EC51-15A2-4C09-8E8A-2D8A73A55BA4}">
      <dgm:prSet phldrT="[Text]" custT="1"/>
      <dgm:spPr/>
      <dgm:t>
        <a:bodyPr/>
        <a:lstStyle/>
        <a:p>
          <a:r>
            <a:rPr lang="en-US" sz="1600" dirty="0"/>
            <a:t>Sugar and Confectionery</a:t>
          </a:r>
        </a:p>
      </dgm:t>
    </dgm:pt>
    <dgm:pt modelId="{432B71A9-8F64-4681-81DF-2B75236B1AD9}" type="parTrans" cxnId="{79CA2B2F-9DB8-4779-ACEF-9861A8A4B3DD}">
      <dgm:prSet/>
      <dgm:spPr/>
      <dgm:t>
        <a:bodyPr/>
        <a:lstStyle/>
        <a:p>
          <a:endParaRPr lang="en-US"/>
        </a:p>
      </dgm:t>
    </dgm:pt>
    <dgm:pt modelId="{72EC1556-80CA-4F2A-AC81-B7E5C1A3F4A7}" type="sibTrans" cxnId="{79CA2B2F-9DB8-4779-ACEF-9861A8A4B3DD}">
      <dgm:prSet/>
      <dgm:spPr/>
      <dgm:t>
        <a:bodyPr/>
        <a:lstStyle/>
        <a:p>
          <a:endParaRPr lang="en-US"/>
        </a:p>
      </dgm:t>
    </dgm:pt>
    <dgm:pt modelId="{13F55492-6DB8-4DF0-B9C4-9E0F2758660F}">
      <dgm:prSet phldrT="[Text]" custT="1"/>
      <dgm:spPr/>
      <dgm:t>
        <a:bodyPr/>
        <a:lstStyle/>
        <a:p>
          <a:r>
            <a:rPr lang="en-US" sz="1600" dirty="0"/>
            <a:t>Non-alcoholic beverages</a:t>
          </a:r>
        </a:p>
      </dgm:t>
    </dgm:pt>
    <dgm:pt modelId="{59F3A2B0-7B73-4EE0-AE70-50F622158386}" type="parTrans" cxnId="{855EAB8A-0AC1-4A0C-86D7-98B08339F204}">
      <dgm:prSet/>
      <dgm:spPr/>
      <dgm:t>
        <a:bodyPr/>
        <a:lstStyle/>
        <a:p>
          <a:endParaRPr lang="en-US"/>
        </a:p>
      </dgm:t>
    </dgm:pt>
    <dgm:pt modelId="{7F65BC85-A37D-4B04-BEDD-95CA56AFA60A}" type="sibTrans" cxnId="{855EAB8A-0AC1-4A0C-86D7-98B08339F204}">
      <dgm:prSet/>
      <dgm:spPr/>
      <dgm:t>
        <a:bodyPr/>
        <a:lstStyle/>
        <a:p>
          <a:endParaRPr lang="en-US"/>
        </a:p>
      </dgm:t>
    </dgm:pt>
    <dgm:pt modelId="{AFB2CD50-DE36-448C-A833-2AE4330F5509}">
      <dgm:prSet phldrT="[Text]" custT="1"/>
      <dgm:spPr/>
      <dgm:t>
        <a:bodyPr/>
        <a:lstStyle/>
        <a:p>
          <a:r>
            <a:rPr lang="en-US" sz="1600" dirty="0"/>
            <a:t>Prepared meals, snacks, sweets, etc.</a:t>
          </a:r>
        </a:p>
      </dgm:t>
    </dgm:pt>
    <dgm:pt modelId="{921277F6-0FFF-48D3-B6D7-EB2301C33A96}" type="parTrans" cxnId="{D0BF0DBA-AE1E-448D-9727-E54DAD3923A0}">
      <dgm:prSet/>
      <dgm:spPr/>
      <dgm:t>
        <a:bodyPr/>
        <a:lstStyle/>
        <a:p>
          <a:endParaRPr lang="en-US"/>
        </a:p>
      </dgm:t>
    </dgm:pt>
    <dgm:pt modelId="{18015ECB-3E27-4A9E-A970-33360467A550}" type="sibTrans" cxnId="{D0BF0DBA-AE1E-448D-9727-E54DAD3923A0}">
      <dgm:prSet/>
      <dgm:spPr/>
      <dgm:t>
        <a:bodyPr/>
        <a:lstStyle/>
        <a:p>
          <a:endParaRPr lang="en-US"/>
        </a:p>
      </dgm:t>
    </dgm:pt>
    <dgm:pt modelId="{2A1D8AB7-7CD7-4BF4-BE0C-A72DC2391C6A}">
      <dgm:prSet phldrT="[Text]" custT="1"/>
      <dgm:spPr/>
      <dgm:t>
        <a:bodyPr/>
        <a:lstStyle/>
        <a:p>
          <a:r>
            <a:rPr lang="en-US" sz="1600" dirty="0"/>
            <a:t>Food and beverages</a:t>
          </a:r>
        </a:p>
      </dgm:t>
    </dgm:pt>
    <dgm:pt modelId="{73D4625A-FDE3-4EC5-B932-8FA7C4EDD892}" type="parTrans" cxnId="{9E009AE0-0705-49E7-A12F-CDE0D73327DC}">
      <dgm:prSet/>
      <dgm:spPr/>
      <dgm:t>
        <a:bodyPr/>
        <a:lstStyle/>
        <a:p>
          <a:endParaRPr lang="en-US"/>
        </a:p>
      </dgm:t>
    </dgm:pt>
    <dgm:pt modelId="{5A61FD5D-A70D-447A-898F-96831A36D5D4}" type="sibTrans" cxnId="{9E009AE0-0705-49E7-A12F-CDE0D73327DC}">
      <dgm:prSet/>
      <dgm:spPr/>
      <dgm:t>
        <a:bodyPr/>
        <a:lstStyle/>
        <a:p>
          <a:endParaRPr lang="en-US"/>
        </a:p>
      </dgm:t>
    </dgm:pt>
    <dgm:pt modelId="{3F433B65-54D5-49B8-BFE6-B59DC0CA2A45}">
      <dgm:prSet phldrT="[Text]" custT="1"/>
      <dgm:spPr/>
      <dgm:t>
        <a:bodyPr/>
        <a:lstStyle/>
        <a:p>
          <a:r>
            <a:rPr lang="en-US" sz="1600" dirty="0"/>
            <a:t>Pan, tobacco, and intoxicants</a:t>
          </a:r>
        </a:p>
      </dgm:t>
    </dgm:pt>
    <dgm:pt modelId="{90A97B17-15A9-418F-89E3-EB16835FF8A9}" type="parTrans" cxnId="{231358BA-5FB8-43ED-A14B-434012EFB876}">
      <dgm:prSet/>
      <dgm:spPr/>
      <dgm:t>
        <a:bodyPr/>
        <a:lstStyle/>
        <a:p>
          <a:endParaRPr lang="en-US"/>
        </a:p>
      </dgm:t>
    </dgm:pt>
    <dgm:pt modelId="{3E36054F-DF0A-499D-A348-A6B859861377}" type="sibTrans" cxnId="{231358BA-5FB8-43ED-A14B-434012EFB876}">
      <dgm:prSet/>
      <dgm:spPr/>
      <dgm:t>
        <a:bodyPr/>
        <a:lstStyle/>
        <a:p>
          <a:endParaRPr lang="en-US"/>
        </a:p>
      </dgm:t>
    </dgm:pt>
    <dgm:pt modelId="{7D970598-4A7B-449D-8DAF-C58717E9C16B}" type="pres">
      <dgm:prSet presAssocID="{97A5C339-9A7A-48E7-91E9-AF1D1D8C193E}" presName="hierChild1" presStyleCnt="0">
        <dgm:presLayoutVars>
          <dgm:orgChart val="1"/>
          <dgm:chPref val="1"/>
          <dgm:dir/>
          <dgm:animOne val="branch"/>
          <dgm:animLvl val="lvl"/>
          <dgm:resizeHandles/>
        </dgm:presLayoutVars>
      </dgm:prSet>
      <dgm:spPr/>
    </dgm:pt>
    <dgm:pt modelId="{B2F6B32D-367A-45CD-9BFF-52A770791918}" type="pres">
      <dgm:prSet presAssocID="{D3F4A7D5-683D-4F6B-8060-FC01DBA5A741}" presName="hierRoot1" presStyleCnt="0">
        <dgm:presLayoutVars>
          <dgm:hierBranch val="hang"/>
        </dgm:presLayoutVars>
      </dgm:prSet>
      <dgm:spPr/>
    </dgm:pt>
    <dgm:pt modelId="{E06F50B6-E71F-47FE-8169-D4ADC356D238}" type="pres">
      <dgm:prSet presAssocID="{D3F4A7D5-683D-4F6B-8060-FC01DBA5A741}" presName="rootComposite1" presStyleCnt="0"/>
      <dgm:spPr/>
    </dgm:pt>
    <dgm:pt modelId="{94B3CD04-F98F-4B35-B7B1-7E1C40A0FA4C}" type="pres">
      <dgm:prSet presAssocID="{D3F4A7D5-683D-4F6B-8060-FC01DBA5A741}" presName="rootText1" presStyleLbl="node0" presStyleIdx="0" presStyleCnt="1" custScaleX="101597">
        <dgm:presLayoutVars>
          <dgm:chPref val="3"/>
        </dgm:presLayoutVars>
      </dgm:prSet>
      <dgm:spPr>
        <a:prstGeom prst="roundRect">
          <a:avLst/>
        </a:prstGeom>
      </dgm:spPr>
    </dgm:pt>
    <dgm:pt modelId="{A3093ACF-716F-4DFE-AE24-DE2C2ABF3796}" type="pres">
      <dgm:prSet presAssocID="{D3F4A7D5-683D-4F6B-8060-FC01DBA5A741}" presName="rootConnector1" presStyleLbl="node1" presStyleIdx="0" presStyleCnt="0"/>
      <dgm:spPr/>
    </dgm:pt>
    <dgm:pt modelId="{D9AA15E5-F88B-441B-ABA2-65E24046FAAC}" type="pres">
      <dgm:prSet presAssocID="{D3F4A7D5-683D-4F6B-8060-FC01DBA5A741}" presName="hierChild2" presStyleCnt="0"/>
      <dgm:spPr/>
    </dgm:pt>
    <dgm:pt modelId="{27B5672D-5A59-4BF8-A2AB-5B031E0A80F8}" type="pres">
      <dgm:prSet presAssocID="{432B71A9-8F64-4681-81DF-2B75236B1AD9}" presName="Name47" presStyleLbl="parChTrans1D2" presStyleIdx="0" presStyleCnt="5"/>
      <dgm:spPr/>
    </dgm:pt>
    <dgm:pt modelId="{D009D4F0-15AC-4EC8-9137-76AEF7B870A2}" type="pres">
      <dgm:prSet presAssocID="{1AA0EC51-15A2-4C09-8E8A-2D8A73A55BA4}" presName="hierRoot2" presStyleCnt="0">
        <dgm:presLayoutVars>
          <dgm:hierBranch val="init"/>
        </dgm:presLayoutVars>
      </dgm:prSet>
      <dgm:spPr/>
    </dgm:pt>
    <dgm:pt modelId="{B7E9DB8B-763E-4C2C-B548-CA0679CAE7AF}" type="pres">
      <dgm:prSet presAssocID="{1AA0EC51-15A2-4C09-8E8A-2D8A73A55BA4}" presName="rootComposite" presStyleCnt="0"/>
      <dgm:spPr/>
    </dgm:pt>
    <dgm:pt modelId="{F6FA6216-E376-478A-BE10-0672CF3DBED3}" type="pres">
      <dgm:prSet presAssocID="{1AA0EC51-15A2-4C09-8E8A-2D8A73A55BA4}" presName="rootText" presStyleLbl="node2" presStyleIdx="0" presStyleCnt="5">
        <dgm:presLayoutVars>
          <dgm:chPref val="3"/>
        </dgm:presLayoutVars>
      </dgm:prSet>
      <dgm:spPr>
        <a:prstGeom prst="roundRect">
          <a:avLst/>
        </a:prstGeom>
      </dgm:spPr>
    </dgm:pt>
    <dgm:pt modelId="{109EAF05-1F69-4F62-96DE-70689B2D1DCE}" type="pres">
      <dgm:prSet presAssocID="{1AA0EC51-15A2-4C09-8E8A-2D8A73A55BA4}" presName="rootConnector" presStyleLbl="node2" presStyleIdx="0" presStyleCnt="5"/>
      <dgm:spPr/>
    </dgm:pt>
    <dgm:pt modelId="{9D81B184-990C-48BE-8CE9-8DF9D5ABE381}" type="pres">
      <dgm:prSet presAssocID="{1AA0EC51-15A2-4C09-8E8A-2D8A73A55BA4}" presName="hierChild4" presStyleCnt="0"/>
      <dgm:spPr/>
    </dgm:pt>
    <dgm:pt modelId="{D5A97464-656C-40FF-B91A-7A7737A8111A}" type="pres">
      <dgm:prSet presAssocID="{1AA0EC51-15A2-4C09-8E8A-2D8A73A55BA4}" presName="hierChild5" presStyleCnt="0"/>
      <dgm:spPr/>
    </dgm:pt>
    <dgm:pt modelId="{FA83F2E2-DF04-41F0-B9D4-B926CE4992FD}" type="pres">
      <dgm:prSet presAssocID="{59F3A2B0-7B73-4EE0-AE70-50F622158386}" presName="Name47" presStyleLbl="parChTrans1D2" presStyleIdx="1" presStyleCnt="5"/>
      <dgm:spPr/>
    </dgm:pt>
    <dgm:pt modelId="{1FC20EF2-8FA2-4A1B-A7A2-989DC37EC814}" type="pres">
      <dgm:prSet presAssocID="{13F55492-6DB8-4DF0-B9C4-9E0F2758660F}" presName="hierRoot2" presStyleCnt="0">
        <dgm:presLayoutVars>
          <dgm:hierBranch val="init"/>
        </dgm:presLayoutVars>
      </dgm:prSet>
      <dgm:spPr/>
    </dgm:pt>
    <dgm:pt modelId="{4E6D677D-FC68-40CC-BAE5-7A7CB7342263}" type="pres">
      <dgm:prSet presAssocID="{13F55492-6DB8-4DF0-B9C4-9E0F2758660F}" presName="rootComposite" presStyleCnt="0"/>
      <dgm:spPr/>
    </dgm:pt>
    <dgm:pt modelId="{7BB2A7EB-1A27-44D1-B87D-9F15DAB16BAB}" type="pres">
      <dgm:prSet presAssocID="{13F55492-6DB8-4DF0-B9C4-9E0F2758660F}" presName="rootText" presStyleLbl="node2" presStyleIdx="1" presStyleCnt="5">
        <dgm:presLayoutVars>
          <dgm:chPref val="3"/>
        </dgm:presLayoutVars>
      </dgm:prSet>
      <dgm:spPr>
        <a:prstGeom prst="roundRect">
          <a:avLst/>
        </a:prstGeom>
      </dgm:spPr>
    </dgm:pt>
    <dgm:pt modelId="{B1F767D3-BF53-4182-B7CA-02EF44EBA02F}" type="pres">
      <dgm:prSet presAssocID="{13F55492-6DB8-4DF0-B9C4-9E0F2758660F}" presName="rootConnector" presStyleLbl="node2" presStyleIdx="1" presStyleCnt="5"/>
      <dgm:spPr/>
    </dgm:pt>
    <dgm:pt modelId="{B6F024DC-7ED2-4C3B-81D6-DC7995D833DE}" type="pres">
      <dgm:prSet presAssocID="{13F55492-6DB8-4DF0-B9C4-9E0F2758660F}" presName="hierChild4" presStyleCnt="0"/>
      <dgm:spPr/>
    </dgm:pt>
    <dgm:pt modelId="{D1979F83-B876-4CFC-8456-60059198040D}" type="pres">
      <dgm:prSet presAssocID="{13F55492-6DB8-4DF0-B9C4-9E0F2758660F}" presName="hierChild5" presStyleCnt="0"/>
      <dgm:spPr/>
    </dgm:pt>
    <dgm:pt modelId="{12AE3FBA-4AA2-4DAB-9447-B94061143C47}" type="pres">
      <dgm:prSet presAssocID="{921277F6-0FFF-48D3-B6D7-EB2301C33A96}" presName="Name47" presStyleLbl="parChTrans1D2" presStyleIdx="2" presStyleCnt="5"/>
      <dgm:spPr/>
    </dgm:pt>
    <dgm:pt modelId="{3EADA668-712D-473A-8A83-94A440282947}" type="pres">
      <dgm:prSet presAssocID="{AFB2CD50-DE36-448C-A833-2AE4330F5509}" presName="hierRoot2" presStyleCnt="0">
        <dgm:presLayoutVars>
          <dgm:hierBranch val="init"/>
        </dgm:presLayoutVars>
      </dgm:prSet>
      <dgm:spPr/>
    </dgm:pt>
    <dgm:pt modelId="{9914BD2A-DB7B-477F-9B68-7E0B6EDA67A0}" type="pres">
      <dgm:prSet presAssocID="{AFB2CD50-DE36-448C-A833-2AE4330F5509}" presName="rootComposite" presStyleCnt="0"/>
      <dgm:spPr/>
    </dgm:pt>
    <dgm:pt modelId="{89E336DA-20C6-414F-8C31-D70FD6BCDC7B}" type="pres">
      <dgm:prSet presAssocID="{AFB2CD50-DE36-448C-A833-2AE4330F5509}" presName="rootText" presStyleLbl="node2" presStyleIdx="2" presStyleCnt="5">
        <dgm:presLayoutVars>
          <dgm:chPref val="3"/>
        </dgm:presLayoutVars>
      </dgm:prSet>
      <dgm:spPr>
        <a:prstGeom prst="roundRect">
          <a:avLst/>
        </a:prstGeom>
      </dgm:spPr>
    </dgm:pt>
    <dgm:pt modelId="{E3DD3DE1-5FCF-4FE8-9CEE-17F6BF95EAD1}" type="pres">
      <dgm:prSet presAssocID="{AFB2CD50-DE36-448C-A833-2AE4330F5509}" presName="rootConnector" presStyleLbl="node2" presStyleIdx="2" presStyleCnt="5"/>
      <dgm:spPr/>
    </dgm:pt>
    <dgm:pt modelId="{2F85048C-AD86-4ADC-BD4D-9C0AD0FEF55E}" type="pres">
      <dgm:prSet presAssocID="{AFB2CD50-DE36-448C-A833-2AE4330F5509}" presName="hierChild4" presStyleCnt="0"/>
      <dgm:spPr/>
    </dgm:pt>
    <dgm:pt modelId="{B4E52523-4D17-4E7F-B003-2A494CBB78A3}" type="pres">
      <dgm:prSet presAssocID="{AFB2CD50-DE36-448C-A833-2AE4330F5509}" presName="hierChild5" presStyleCnt="0"/>
      <dgm:spPr/>
    </dgm:pt>
    <dgm:pt modelId="{1F95CB79-0F97-4813-9A0E-D81CBD0355CE}" type="pres">
      <dgm:prSet presAssocID="{73D4625A-FDE3-4EC5-B932-8FA7C4EDD892}" presName="Name47" presStyleLbl="parChTrans1D2" presStyleIdx="3" presStyleCnt="5"/>
      <dgm:spPr/>
    </dgm:pt>
    <dgm:pt modelId="{8AE54AE9-8520-4F3F-89CF-2A9826B3C4C2}" type="pres">
      <dgm:prSet presAssocID="{2A1D8AB7-7CD7-4BF4-BE0C-A72DC2391C6A}" presName="hierRoot2" presStyleCnt="0">
        <dgm:presLayoutVars>
          <dgm:hierBranch val="init"/>
        </dgm:presLayoutVars>
      </dgm:prSet>
      <dgm:spPr/>
    </dgm:pt>
    <dgm:pt modelId="{DD719DC9-BC3B-46B1-8B58-E5E750926C12}" type="pres">
      <dgm:prSet presAssocID="{2A1D8AB7-7CD7-4BF4-BE0C-A72DC2391C6A}" presName="rootComposite" presStyleCnt="0"/>
      <dgm:spPr/>
    </dgm:pt>
    <dgm:pt modelId="{F14B9129-7D48-402B-A181-6C17DD6DA1C6}" type="pres">
      <dgm:prSet presAssocID="{2A1D8AB7-7CD7-4BF4-BE0C-A72DC2391C6A}" presName="rootText" presStyleLbl="node2" presStyleIdx="3" presStyleCnt="5">
        <dgm:presLayoutVars>
          <dgm:chPref val="3"/>
        </dgm:presLayoutVars>
      </dgm:prSet>
      <dgm:spPr>
        <a:prstGeom prst="roundRect">
          <a:avLst/>
        </a:prstGeom>
      </dgm:spPr>
    </dgm:pt>
    <dgm:pt modelId="{5409D91D-1757-4A9C-8755-7E650593C533}" type="pres">
      <dgm:prSet presAssocID="{2A1D8AB7-7CD7-4BF4-BE0C-A72DC2391C6A}" presName="rootConnector" presStyleLbl="node2" presStyleIdx="3" presStyleCnt="5"/>
      <dgm:spPr/>
    </dgm:pt>
    <dgm:pt modelId="{037D9154-B9A3-4072-BF64-1C76158A2A34}" type="pres">
      <dgm:prSet presAssocID="{2A1D8AB7-7CD7-4BF4-BE0C-A72DC2391C6A}" presName="hierChild4" presStyleCnt="0"/>
      <dgm:spPr/>
    </dgm:pt>
    <dgm:pt modelId="{8F585C70-622F-4C78-B423-F77E55664AE8}" type="pres">
      <dgm:prSet presAssocID="{2A1D8AB7-7CD7-4BF4-BE0C-A72DC2391C6A}" presName="hierChild5" presStyleCnt="0"/>
      <dgm:spPr/>
    </dgm:pt>
    <dgm:pt modelId="{234F92A6-517D-41E8-B886-1278855FE419}" type="pres">
      <dgm:prSet presAssocID="{90A97B17-15A9-418F-89E3-EB16835FF8A9}" presName="Name47" presStyleLbl="parChTrans1D2" presStyleIdx="4" presStyleCnt="5"/>
      <dgm:spPr/>
    </dgm:pt>
    <dgm:pt modelId="{3D74D7D1-043D-4EA2-8DF3-E41EAD30302E}" type="pres">
      <dgm:prSet presAssocID="{3F433B65-54D5-49B8-BFE6-B59DC0CA2A45}" presName="hierRoot2" presStyleCnt="0">
        <dgm:presLayoutVars>
          <dgm:hierBranch val="init"/>
        </dgm:presLayoutVars>
      </dgm:prSet>
      <dgm:spPr/>
    </dgm:pt>
    <dgm:pt modelId="{B3B853ED-BC36-4DDB-97D7-E9CBAEC13102}" type="pres">
      <dgm:prSet presAssocID="{3F433B65-54D5-49B8-BFE6-B59DC0CA2A45}" presName="rootComposite" presStyleCnt="0"/>
      <dgm:spPr/>
    </dgm:pt>
    <dgm:pt modelId="{3D3D87F0-C532-4781-8CB8-0253709E1DFF}" type="pres">
      <dgm:prSet presAssocID="{3F433B65-54D5-49B8-BFE6-B59DC0CA2A45}" presName="rootText" presStyleLbl="node2" presStyleIdx="4" presStyleCnt="5" custLinFactNeighborY="3945">
        <dgm:presLayoutVars>
          <dgm:chPref val="3"/>
        </dgm:presLayoutVars>
      </dgm:prSet>
      <dgm:spPr>
        <a:prstGeom prst="roundRect">
          <a:avLst/>
        </a:prstGeom>
      </dgm:spPr>
    </dgm:pt>
    <dgm:pt modelId="{AF0783C0-7E17-48B4-A90B-7119A1133E39}" type="pres">
      <dgm:prSet presAssocID="{3F433B65-54D5-49B8-BFE6-B59DC0CA2A45}" presName="rootConnector" presStyleLbl="node2" presStyleIdx="4" presStyleCnt="5"/>
      <dgm:spPr/>
    </dgm:pt>
    <dgm:pt modelId="{04FD2517-16E6-4A81-A5D7-F11739D1319F}" type="pres">
      <dgm:prSet presAssocID="{3F433B65-54D5-49B8-BFE6-B59DC0CA2A45}" presName="hierChild4" presStyleCnt="0"/>
      <dgm:spPr/>
    </dgm:pt>
    <dgm:pt modelId="{0BCB3DD7-568E-4D00-A211-DA076148EFA9}" type="pres">
      <dgm:prSet presAssocID="{3F433B65-54D5-49B8-BFE6-B59DC0CA2A45}" presName="hierChild5" presStyleCnt="0"/>
      <dgm:spPr/>
    </dgm:pt>
    <dgm:pt modelId="{62E8EA10-7B11-42FD-BE5F-4A3E0BE10BDF}" type="pres">
      <dgm:prSet presAssocID="{D3F4A7D5-683D-4F6B-8060-FC01DBA5A741}" presName="hierChild3" presStyleCnt="0"/>
      <dgm:spPr/>
    </dgm:pt>
  </dgm:ptLst>
  <dgm:cxnLst>
    <dgm:cxn modelId="{5FF13503-048C-45B4-9531-0F53BA462587}" type="presOf" srcId="{3F433B65-54D5-49B8-BFE6-B59DC0CA2A45}" destId="{AF0783C0-7E17-48B4-A90B-7119A1133E39}" srcOrd="1" destOrd="0" presId="urn:microsoft.com/office/officeart/2009/3/layout/HorizontalOrganizationChart"/>
    <dgm:cxn modelId="{1F094214-A202-46E7-8E79-BAD09CD88324}" type="presOf" srcId="{2A1D8AB7-7CD7-4BF4-BE0C-A72DC2391C6A}" destId="{F14B9129-7D48-402B-A181-6C17DD6DA1C6}" srcOrd="0" destOrd="0" presId="urn:microsoft.com/office/officeart/2009/3/layout/HorizontalOrganizationChart"/>
    <dgm:cxn modelId="{33765020-0C8A-4787-8AA9-E19DE016687C}" type="presOf" srcId="{AFB2CD50-DE36-448C-A833-2AE4330F5509}" destId="{89E336DA-20C6-414F-8C31-D70FD6BCDC7B}" srcOrd="0" destOrd="0" presId="urn:microsoft.com/office/officeart/2009/3/layout/HorizontalOrganizationChart"/>
    <dgm:cxn modelId="{79CA2B2F-9DB8-4779-ACEF-9861A8A4B3DD}" srcId="{D3F4A7D5-683D-4F6B-8060-FC01DBA5A741}" destId="{1AA0EC51-15A2-4C09-8E8A-2D8A73A55BA4}" srcOrd="0" destOrd="0" parTransId="{432B71A9-8F64-4681-81DF-2B75236B1AD9}" sibTransId="{72EC1556-80CA-4F2A-AC81-B7E5C1A3F4A7}"/>
    <dgm:cxn modelId="{5376A039-020D-4E86-8653-74866DE24C7E}" type="presOf" srcId="{921277F6-0FFF-48D3-B6D7-EB2301C33A96}" destId="{12AE3FBA-4AA2-4DAB-9447-B94061143C47}" srcOrd="0" destOrd="0" presId="urn:microsoft.com/office/officeart/2009/3/layout/HorizontalOrganizationChart"/>
    <dgm:cxn modelId="{D8BC5F46-C1F2-4D85-B570-BB10942E4DF1}" type="presOf" srcId="{97A5C339-9A7A-48E7-91E9-AF1D1D8C193E}" destId="{7D970598-4A7B-449D-8DAF-C58717E9C16B}" srcOrd="0" destOrd="0" presId="urn:microsoft.com/office/officeart/2009/3/layout/HorizontalOrganizationChart"/>
    <dgm:cxn modelId="{26139549-9B4B-48B8-B754-87820AD1AB7F}" type="presOf" srcId="{D3F4A7D5-683D-4F6B-8060-FC01DBA5A741}" destId="{A3093ACF-716F-4DFE-AE24-DE2C2ABF3796}" srcOrd="1" destOrd="0" presId="urn:microsoft.com/office/officeart/2009/3/layout/HorizontalOrganizationChart"/>
    <dgm:cxn modelId="{0B56964A-EEC5-4487-A97F-6CE2BD155D94}" type="presOf" srcId="{59F3A2B0-7B73-4EE0-AE70-50F622158386}" destId="{FA83F2E2-DF04-41F0-B9D4-B926CE4992FD}" srcOrd="0" destOrd="0" presId="urn:microsoft.com/office/officeart/2009/3/layout/HorizontalOrganizationChart"/>
    <dgm:cxn modelId="{4BC98A7C-2519-4471-98EB-148DBE188F56}" type="presOf" srcId="{D3F4A7D5-683D-4F6B-8060-FC01DBA5A741}" destId="{94B3CD04-F98F-4B35-B7B1-7E1C40A0FA4C}" srcOrd="0" destOrd="0" presId="urn:microsoft.com/office/officeart/2009/3/layout/HorizontalOrganizationChart"/>
    <dgm:cxn modelId="{0F910580-4F00-4CE0-9F9D-F300DF53A65C}" type="presOf" srcId="{13F55492-6DB8-4DF0-B9C4-9E0F2758660F}" destId="{7BB2A7EB-1A27-44D1-B87D-9F15DAB16BAB}" srcOrd="0" destOrd="0" presId="urn:microsoft.com/office/officeart/2009/3/layout/HorizontalOrganizationChart"/>
    <dgm:cxn modelId="{6EFC5A87-FD03-4253-A43C-87375842ECC5}" type="presOf" srcId="{1AA0EC51-15A2-4C09-8E8A-2D8A73A55BA4}" destId="{109EAF05-1F69-4F62-96DE-70689B2D1DCE}" srcOrd="1" destOrd="0" presId="urn:microsoft.com/office/officeart/2009/3/layout/HorizontalOrganizationChart"/>
    <dgm:cxn modelId="{31EFB987-41CD-4A50-A828-9B2E591F3B4B}" type="presOf" srcId="{1AA0EC51-15A2-4C09-8E8A-2D8A73A55BA4}" destId="{F6FA6216-E376-478A-BE10-0672CF3DBED3}" srcOrd="0" destOrd="0" presId="urn:microsoft.com/office/officeart/2009/3/layout/HorizontalOrganizationChart"/>
    <dgm:cxn modelId="{855EAB8A-0AC1-4A0C-86D7-98B08339F204}" srcId="{D3F4A7D5-683D-4F6B-8060-FC01DBA5A741}" destId="{13F55492-6DB8-4DF0-B9C4-9E0F2758660F}" srcOrd="1" destOrd="0" parTransId="{59F3A2B0-7B73-4EE0-AE70-50F622158386}" sibTransId="{7F65BC85-A37D-4B04-BEDD-95CA56AFA60A}"/>
    <dgm:cxn modelId="{E6406590-EFDA-4528-B833-3760E5E10C62}" type="presOf" srcId="{3F433B65-54D5-49B8-BFE6-B59DC0CA2A45}" destId="{3D3D87F0-C532-4781-8CB8-0253709E1DFF}" srcOrd="0" destOrd="0" presId="urn:microsoft.com/office/officeart/2009/3/layout/HorizontalOrganizationChart"/>
    <dgm:cxn modelId="{3D2D5F92-A91D-4AAC-A189-B59A737BC942}" type="presOf" srcId="{AFB2CD50-DE36-448C-A833-2AE4330F5509}" destId="{E3DD3DE1-5FCF-4FE8-9CEE-17F6BF95EAD1}" srcOrd="1" destOrd="0" presId="urn:microsoft.com/office/officeart/2009/3/layout/HorizontalOrganizationChart"/>
    <dgm:cxn modelId="{36AA049A-F3DA-4659-BF6E-DF27DD2AC3EF}" type="presOf" srcId="{90A97B17-15A9-418F-89E3-EB16835FF8A9}" destId="{234F92A6-517D-41E8-B886-1278855FE419}" srcOrd="0" destOrd="0" presId="urn:microsoft.com/office/officeart/2009/3/layout/HorizontalOrganizationChart"/>
    <dgm:cxn modelId="{4710ACAF-E667-4DCE-827D-219CB72C1C78}" srcId="{97A5C339-9A7A-48E7-91E9-AF1D1D8C193E}" destId="{D3F4A7D5-683D-4F6B-8060-FC01DBA5A741}" srcOrd="0" destOrd="0" parTransId="{485F75E4-3F58-4CD8-986A-B622EB11A1D8}" sibTransId="{A2129C23-DAA6-49C4-A73A-503C66D58FB5}"/>
    <dgm:cxn modelId="{9D1FC1B5-41EA-4A43-9F85-1BFE3DCB94C9}" type="presOf" srcId="{432B71A9-8F64-4681-81DF-2B75236B1AD9}" destId="{27B5672D-5A59-4BF8-A2AB-5B031E0A80F8}" srcOrd="0" destOrd="0" presId="urn:microsoft.com/office/officeart/2009/3/layout/HorizontalOrganizationChart"/>
    <dgm:cxn modelId="{D0BF0DBA-AE1E-448D-9727-E54DAD3923A0}" srcId="{D3F4A7D5-683D-4F6B-8060-FC01DBA5A741}" destId="{AFB2CD50-DE36-448C-A833-2AE4330F5509}" srcOrd="2" destOrd="0" parTransId="{921277F6-0FFF-48D3-B6D7-EB2301C33A96}" sibTransId="{18015ECB-3E27-4A9E-A970-33360467A550}"/>
    <dgm:cxn modelId="{231358BA-5FB8-43ED-A14B-434012EFB876}" srcId="{D3F4A7D5-683D-4F6B-8060-FC01DBA5A741}" destId="{3F433B65-54D5-49B8-BFE6-B59DC0CA2A45}" srcOrd="4" destOrd="0" parTransId="{90A97B17-15A9-418F-89E3-EB16835FF8A9}" sibTransId="{3E36054F-DF0A-499D-A348-A6B859861377}"/>
    <dgm:cxn modelId="{11C2CDBF-813F-4CA0-AA33-F14D59529187}" type="presOf" srcId="{73D4625A-FDE3-4EC5-B932-8FA7C4EDD892}" destId="{1F95CB79-0F97-4813-9A0E-D81CBD0355CE}" srcOrd="0" destOrd="0" presId="urn:microsoft.com/office/officeart/2009/3/layout/HorizontalOrganizationChart"/>
    <dgm:cxn modelId="{F020AACF-FF5E-409C-879F-493191011479}" type="presOf" srcId="{13F55492-6DB8-4DF0-B9C4-9E0F2758660F}" destId="{B1F767D3-BF53-4182-B7CA-02EF44EBA02F}" srcOrd="1" destOrd="0" presId="urn:microsoft.com/office/officeart/2009/3/layout/HorizontalOrganizationChart"/>
    <dgm:cxn modelId="{9E009AE0-0705-49E7-A12F-CDE0D73327DC}" srcId="{D3F4A7D5-683D-4F6B-8060-FC01DBA5A741}" destId="{2A1D8AB7-7CD7-4BF4-BE0C-A72DC2391C6A}" srcOrd="3" destOrd="0" parTransId="{73D4625A-FDE3-4EC5-B932-8FA7C4EDD892}" sibTransId="{5A61FD5D-A70D-447A-898F-96831A36D5D4}"/>
    <dgm:cxn modelId="{E1879AF0-72EA-4033-9F04-2451BE5B7776}" type="presOf" srcId="{2A1D8AB7-7CD7-4BF4-BE0C-A72DC2391C6A}" destId="{5409D91D-1757-4A9C-8755-7E650593C533}" srcOrd="1" destOrd="0" presId="urn:microsoft.com/office/officeart/2009/3/layout/HorizontalOrganizationChart"/>
    <dgm:cxn modelId="{420EEE9D-09B3-4844-B5A0-ED47D680DA98}" type="presParOf" srcId="{7D970598-4A7B-449D-8DAF-C58717E9C16B}" destId="{B2F6B32D-367A-45CD-9BFF-52A770791918}" srcOrd="0" destOrd="0" presId="urn:microsoft.com/office/officeart/2009/3/layout/HorizontalOrganizationChart"/>
    <dgm:cxn modelId="{5C7AB9BD-3132-4664-A9C9-99CC93799FF2}" type="presParOf" srcId="{B2F6B32D-367A-45CD-9BFF-52A770791918}" destId="{E06F50B6-E71F-47FE-8169-D4ADC356D238}" srcOrd="0" destOrd="0" presId="urn:microsoft.com/office/officeart/2009/3/layout/HorizontalOrganizationChart"/>
    <dgm:cxn modelId="{1C8F1A6B-F460-43F4-A6A4-36236DB7FC56}" type="presParOf" srcId="{E06F50B6-E71F-47FE-8169-D4ADC356D238}" destId="{94B3CD04-F98F-4B35-B7B1-7E1C40A0FA4C}" srcOrd="0" destOrd="0" presId="urn:microsoft.com/office/officeart/2009/3/layout/HorizontalOrganizationChart"/>
    <dgm:cxn modelId="{4603C723-31DD-4749-8F84-9A6098DD9BA7}" type="presParOf" srcId="{E06F50B6-E71F-47FE-8169-D4ADC356D238}" destId="{A3093ACF-716F-4DFE-AE24-DE2C2ABF3796}" srcOrd="1" destOrd="0" presId="urn:microsoft.com/office/officeart/2009/3/layout/HorizontalOrganizationChart"/>
    <dgm:cxn modelId="{CD27A612-8D76-4DE0-8373-1E6644D0CC8D}" type="presParOf" srcId="{B2F6B32D-367A-45CD-9BFF-52A770791918}" destId="{D9AA15E5-F88B-441B-ABA2-65E24046FAAC}" srcOrd="1" destOrd="0" presId="urn:microsoft.com/office/officeart/2009/3/layout/HorizontalOrganizationChart"/>
    <dgm:cxn modelId="{9A3AE7CA-D402-479A-B4C6-6868A3700AC6}" type="presParOf" srcId="{D9AA15E5-F88B-441B-ABA2-65E24046FAAC}" destId="{27B5672D-5A59-4BF8-A2AB-5B031E0A80F8}" srcOrd="0" destOrd="0" presId="urn:microsoft.com/office/officeart/2009/3/layout/HorizontalOrganizationChart"/>
    <dgm:cxn modelId="{C4EC9CD5-9FB7-42AD-A903-EF1ACD0E30FA}" type="presParOf" srcId="{D9AA15E5-F88B-441B-ABA2-65E24046FAAC}" destId="{D009D4F0-15AC-4EC8-9137-76AEF7B870A2}" srcOrd="1" destOrd="0" presId="urn:microsoft.com/office/officeart/2009/3/layout/HorizontalOrganizationChart"/>
    <dgm:cxn modelId="{8CB11D4F-B28C-4DA9-A707-96E0E5511F5C}" type="presParOf" srcId="{D009D4F0-15AC-4EC8-9137-76AEF7B870A2}" destId="{B7E9DB8B-763E-4C2C-B548-CA0679CAE7AF}" srcOrd="0" destOrd="0" presId="urn:microsoft.com/office/officeart/2009/3/layout/HorizontalOrganizationChart"/>
    <dgm:cxn modelId="{349D1A65-505E-4207-8883-BB2A9F4B6177}" type="presParOf" srcId="{B7E9DB8B-763E-4C2C-B548-CA0679CAE7AF}" destId="{F6FA6216-E376-478A-BE10-0672CF3DBED3}" srcOrd="0" destOrd="0" presId="urn:microsoft.com/office/officeart/2009/3/layout/HorizontalOrganizationChart"/>
    <dgm:cxn modelId="{1EA323BA-2DFD-4403-83A9-FC4F1C15D0FB}" type="presParOf" srcId="{B7E9DB8B-763E-4C2C-B548-CA0679CAE7AF}" destId="{109EAF05-1F69-4F62-96DE-70689B2D1DCE}" srcOrd="1" destOrd="0" presId="urn:microsoft.com/office/officeart/2009/3/layout/HorizontalOrganizationChart"/>
    <dgm:cxn modelId="{CCFD026A-B999-4AC2-B29F-B13CD5800C33}" type="presParOf" srcId="{D009D4F0-15AC-4EC8-9137-76AEF7B870A2}" destId="{9D81B184-990C-48BE-8CE9-8DF9D5ABE381}" srcOrd="1" destOrd="0" presId="urn:microsoft.com/office/officeart/2009/3/layout/HorizontalOrganizationChart"/>
    <dgm:cxn modelId="{A4BB7BF4-097D-4997-BE3F-8FB25E96558F}" type="presParOf" srcId="{D009D4F0-15AC-4EC8-9137-76AEF7B870A2}" destId="{D5A97464-656C-40FF-B91A-7A7737A8111A}" srcOrd="2" destOrd="0" presId="urn:microsoft.com/office/officeart/2009/3/layout/HorizontalOrganizationChart"/>
    <dgm:cxn modelId="{8CBB89A9-0471-4BE6-A169-26A35222A834}" type="presParOf" srcId="{D9AA15E5-F88B-441B-ABA2-65E24046FAAC}" destId="{FA83F2E2-DF04-41F0-B9D4-B926CE4992FD}" srcOrd="2" destOrd="0" presId="urn:microsoft.com/office/officeart/2009/3/layout/HorizontalOrganizationChart"/>
    <dgm:cxn modelId="{592E20B4-50ED-4587-B693-FD0C34FDFA7C}" type="presParOf" srcId="{D9AA15E5-F88B-441B-ABA2-65E24046FAAC}" destId="{1FC20EF2-8FA2-4A1B-A7A2-989DC37EC814}" srcOrd="3" destOrd="0" presId="urn:microsoft.com/office/officeart/2009/3/layout/HorizontalOrganizationChart"/>
    <dgm:cxn modelId="{2F49A1D5-8F01-4C37-B5F7-749799B019C0}" type="presParOf" srcId="{1FC20EF2-8FA2-4A1B-A7A2-989DC37EC814}" destId="{4E6D677D-FC68-40CC-BAE5-7A7CB7342263}" srcOrd="0" destOrd="0" presId="urn:microsoft.com/office/officeart/2009/3/layout/HorizontalOrganizationChart"/>
    <dgm:cxn modelId="{3EBCBB34-077F-4A59-BE82-BA1029CA2551}" type="presParOf" srcId="{4E6D677D-FC68-40CC-BAE5-7A7CB7342263}" destId="{7BB2A7EB-1A27-44D1-B87D-9F15DAB16BAB}" srcOrd="0" destOrd="0" presId="urn:microsoft.com/office/officeart/2009/3/layout/HorizontalOrganizationChart"/>
    <dgm:cxn modelId="{70900BB7-1BC4-450B-AA9D-AFFE8BA23417}" type="presParOf" srcId="{4E6D677D-FC68-40CC-BAE5-7A7CB7342263}" destId="{B1F767D3-BF53-4182-B7CA-02EF44EBA02F}" srcOrd="1" destOrd="0" presId="urn:microsoft.com/office/officeart/2009/3/layout/HorizontalOrganizationChart"/>
    <dgm:cxn modelId="{07852B2A-8791-4A0A-864D-1A1E8E635CDE}" type="presParOf" srcId="{1FC20EF2-8FA2-4A1B-A7A2-989DC37EC814}" destId="{B6F024DC-7ED2-4C3B-81D6-DC7995D833DE}" srcOrd="1" destOrd="0" presId="urn:microsoft.com/office/officeart/2009/3/layout/HorizontalOrganizationChart"/>
    <dgm:cxn modelId="{279C3C68-167D-4852-AF0C-7DDAF8C0CA2A}" type="presParOf" srcId="{1FC20EF2-8FA2-4A1B-A7A2-989DC37EC814}" destId="{D1979F83-B876-4CFC-8456-60059198040D}" srcOrd="2" destOrd="0" presId="urn:microsoft.com/office/officeart/2009/3/layout/HorizontalOrganizationChart"/>
    <dgm:cxn modelId="{24965BD5-BE5D-430C-A2CC-8015043FD556}" type="presParOf" srcId="{D9AA15E5-F88B-441B-ABA2-65E24046FAAC}" destId="{12AE3FBA-4AA2-4DAB-9447-B94061143C47}" srcOrd="4" destOrd="0" presId="urn:microsoft.com/office/officeart/2009/3/layout/HorizontalOrganizationChart"/>
    <dgm:cxn modelId="{9415BFE8-3C9D-4B60-9777-3CF8284F4B09}" type="presParOf" srcId="{D9AA15E5-F88B-441B-ABA2-65E24046FAAC}" destId="{3EADA668-712D-473A-8A83-94A440282947}" srcOrd="5" destOrd="0" presId="urn:microsoft.com/office/officeart/2009/3/layout/HorizontalOrganizationChart"/>
    <dgm:cxn modelId="{5E733865-9CD6-4DDE-9930-7A65EAEE14DA}" type="presParOf" srcId="{3EADA668-712D-473A-8A83-94A440282947}" destId="{9914BD2A-DB7B-477F-9B68-7E0B6EDA67A0}" srcOrd="0" destOrd="0" presId="urn:microsoft.com/office/officeart/2009/3/layout/HorizontalOrganizationChart"/>
    <dgm:cxn modelId="{9934F78F-C518-44F8-BE1C-E42308A79A9D}" type="presParOf" srcId="{9914BD2A-DB7B-477F-9B68-7E0B6EDA67A0}" destId="{89E336DA-20C6-414F-8C31-D70FD6BCDC7B}" srcOrd="0" destOrd="0" presId="urn:microsoft.com/office/officeart/2009/3/layout/HorizontalOrganizationChart"/>
    <dgm:cxn modelId="{14903D34-D814-4484-8BA0-E174153434AE}" type="presParOf" srcId="{9914BD2A-DB7B-477F-9B68-7E0B6EDA67A0}" destId="{E3DD3DE1-5FCF-4FE8-9CEE-17F6BF95EAD1}" srcOrd="1" destOrd="0" presId="urn:microsoft.com/office/officeart/2009/3/layout/HorizontalOrganizationChart"/>
    <dgm:cxn modelId="{996357B8-CA05-4FB5-90BF-2D0B4C4C3909}" type="presParOf" srcId="{3EADA668-712D-473A-8A83-94A440282947}" destId="{2F85048C-AD86-4ADC-BD4D-9C0AD0FEF55E}" srcOrd="1" destOrd="0" presId="urn:microsoft.com/office/officeart/2009/3/layout/HorizontalOrganizationChart"/>
    <dgm:cxn modelId="{859C2C1F-E23D-4259-B0D2-A7744C729D7A}" type="presParOf" srcId="{3EADA668-712D-473A-8A83-94A440282947}" destId="{B4E52523-4D17-4E7F-B003-2A494CBB78A3}" srcOrd="2" destOrd="0" presId="urn:microsoft.com/office/officeart/2009/3/layout/HorizontalOrganizationChart"/>
    <dgm:cxn modelId="{57FC12DB-A6DC-4B2C-A332-917E74918F68}" type="presParOf" srcId="{D9AA15E5-F88B-441B-ABA2-65E24046FAAC}" destId="{1F95CB79-0F97-4813-9A0E-D81CBD0355CE}" srcOrd="6" destOrd="0" presId="urn:microsoft.com/office/officeart/2009/3/layout/HorizontalOrganizationChart"/>
    <dgm:cxn modelId="{D5764EF7-D800-4FBF-A0A6-4636DD4E5A21}" type="presParOf" srcId="{D9AA15E5-F88B-441B-ABA2-65E24046FAAC}" destId="{8AE54AE9-8520-4F3F-89CF-2A9826B3C4C2}" srcOrd="7" destOrd="0" presId="urn:microsoft.com/office/officeart/2009/3/layout/HorizontalOrganizationChart"/>
    <dgm:cxn modelId="{F80502B3-DED3-4EAC-B51A-570F489C1F55}" type="presParOf" srcId="{8AE54AE9-8520-4F3F-89CF-2A9826B3C4C2}" destId="{DD719DC9-BC3B-46B1-8B58-E5E750926C12}" srcOrd="0" destOrd="0" presId="urn:microsoft.com/office/officeart/2009/3/layout/HorizontalOrganizationChart"/>
    <dgm:cxn modelId="{A11A9D77-2366-41C7-A18D-622E9625EED0}" type="presParOf" srcId="{DD719DC9-BC3B-46B1-8B58-E5E750926C12}" destId="{F14B9129-7D48-402B-A181-6C17DD6DA1C6}" srcOrd="0" destOrd="0" presId="urn:microsoft.com/office/officeart/2009/3/layout/HorizontalOrganizationChart"/>
    <dgm:cxn modelId="{CBBB93CC-EBAC-4681-BCDC-6FDA5CD2BD95}" type="presParOf" srcId="{DD719DC9-BC3B-46B1-8B58-E5E750926C12}" destId="{5409D91D-1757-4A9C-8755-7E650593C533}" srcOrd="1" destOrd="0" presId="urn:microsoft.com/office/officeart/2009/3/layout/HorizontalOrganizationChart"/>
    <dgm:cxn modelId="{5497229D-30EE-41B3-B6A4-C702B8A56528}" type="presParOf" srcId="{8AE54AE9-8520-4F3F-89CF-2A9826B3C4C2}" destId="{037D9154-B9A3-4072-BF64-1C76158A2A34}" srcOrd="1" destOrd="0" presId="urn:microsoft.com/office/officeart/2009/3/layout/HorizontalOrganizationChart"/>
    <dgm:cxn modelId="{CF11310B-4E5F-48C9-A728-754FDB5D67A8}" type="presParOf" srcId="{8AE54AE9-8520-4F3F-89CF-2A9826B3C4C2}" destId="{8F585C70-622F-4C78-B423-F77E55664AE8}" srcOrd="2" destOrd="0" presId="urn:microsoft.com/office/officeart/2009/3/layout/HorizontalOrganizationChart"/>
    <dgm:cxn modelId="{F32EF098-27CB-4F89-805A-55C2A9666B84}" type="presParOf" srcId="{D9AA15E5-F88B-441B-ABA2-65E24046FAAC}" destId="{234F92A6-517D-41E8-B886-1278855FE419}" srcOrd="8" destOrd="0" presId="urn:microsoft.com/office/officeart/2009/3/layout/HorizontalOrganizationChart"/>
    <dgm:cxn modelId="{3465A05A-943D-44EB-815F-394FC4FF3B10}" type="presParOf" srcId="{D9AA15E5-F88B-441B-ABA2-65E24046FAAC}" destId="{3D74D7D1-043D-4EA2-8DF3-E41EAD30302E}" srcOrd="9" destOrd="0" presId="urn:microsoft.com/office/officeart/2009/3/layout/HorizontalOrganizationChart"/>
    <dgm:cxn modelId="{76ABE409-1369-4047-8057-C0D8B63F2B41}" type="presParOf" srcId="{3D74D7D1-043D-4EA2-8DF3-E41EAD30302E}" destId="{B3B853ED-BC36-4DDB-97D7-E9CBAEC13102}" srcOrd="0" destOrd="0" presId="urn:microsoft.com/office/officeart/2009/3/layout/HorizontalOrganizationChart"/>
    <dgm:cxn modelId="{A9485C9C-A71C-490D-A9B5-DB515F4AAD79}" type="presParOf" srcId="{B3B853ED-BC36-4DDB-97D7-E9CBAEC13102}" destId="{3D3D87F0-C532-4781-8CB8-0253709E1DFF}" srcOrd="0" destOrd="0" presId="urn:microsoft.com/office/officeart/2009/3/layout/HorizontalOrganizationChart"/>
    <dgm:cxn modelId="{77F38F46-A6CC-4A02-9CB2-0ECE6C94462D}" type="presParOf" srcId="{B3B853ED-BC36-4DDB-97D7-E9CBAEC13102}" destId="{AF0783C0-7E17-48B4-A90B-7119A1133E39}" srcOrd="1" destOrd="0" presId="urn:microsoft.com/office/officeart/2009/3/layout/HorizontalOrganizationChart"/>
    <dgm:cxn modelId="{7681FD30-C98C-42E2-9DD1-37B583FA3C90}" type="presParOf" srcId="{3D74D7D1-043D-4EA2-8DF3-E41EAD30302E}" destId="{04FD2517-16E6-4A81-A5D7-F11739D1319F}" srcOrd="1" destOrd="0" presId="urn:microsoft.com/office/officeart/2009/3/layout/HorizontalOrganizationChart"/>
    <dgm:cxn modelId="{A31F2AB2-EB4F-4A46-B374-58862F8037A7}" type="presParOf" srcId="{3D74D7D1-043D-4EA2-8DF3-E41EAD30302E}" destId="{0BCB3DD7-568E-4D00-A211-DA076148EFA9}" srcOrd="2" destOrd="0" presId="urn:microsoft.com/office/officeart/2009/3/layout/HorizontalOrganizationChart"/>
    <dgm:cxn modelId="{A026A18F-CE9E-4FF8-9862-F3D7CEB86EA2}" type="presParOf" srcId="{B2F6B32D-367A-45CD-9BFF-52A770791918}" destId="{62E8EA10-7B11-42FD-BE5F-4A3E0BE10BDF}" srcOrd="2" destOrd="0" presId="urn:microsoft.com/office/officeart/2009/3/layout/HorizontalOrganizationChar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A5C339-9A7A-48E7-91E9-AF1D1D8C193E}" type="doc">
      <dgm:prSet loTypeId="urn:microsoft.com/office/officeart/2009/3/layout/HorizontalOrganizationChart" loCatId="hierarchy" qsTypeId="urn:microsoft.com/office/officeart/2005/8/quickstyle/3d3" qsCatId="3D" csTypeId="urn:microsoft.com/office/officeart/2005/8/colors/accent2_1" csCatId="accent2" phldr="1"/>
      <dgm:spPr/>
      <dgm:t>
        <a:bodyPr/>
        <a:lstStyle/>
        <a:p>
          <a:endParaRPr lang="en-US"/>
        </a:p>
      </dgm:t>
    </dgm:pt>
    <dgm:pt modelId="{D3F4A7D5-683D-4F6B-8060-FC01DBA5A741}">
      <dgm:prSet phldrT="[Text]" custT="1"/>
      <dgm:spPr/>
      <dgm:t>
        <a:bodyPr/>
        <a:lstStyle/>
        <a:p>
          <a:r>
            <a:rPr lang="en-US" sz="1600" dirty="0"/>
            <a:t>Services and Miscellaneous</a:t>
          </a:r>
        </a:p>
      </dgm:t>
    </dgm:pt>
    <dgm:pt modelId="{485F75E4-3F58-4CD8-986A-B622EB11A1D8}" type="parTrans" cxnId="{4710ACAF-E667-4DCE-827D-219CB72C1C78}">
      <dgm:prSet/>
      <dgm:spPr/>
      <dgm:t>
        <a:bodyPr/>
        <a:lstStyle/>
        <a:p>
          <a:endParaRPr lang="en-US"/>
        </a:p>
      </dgm:t>
    </dgm:pt>
    <dgm:pt modelId="{A2129C23-DAA6-49C4-A73A-503C66D58FB5}" type="sibTrans" cxnId="{4710ACAF-E667-4DCE-827D-219CB72C1C78}">
      <dgm:prSet/>
      <dgm:spPr/>
      <dgm:t>
        <a:bodyPr/>
        <a:lstStyle/>
        <a:p>
          <a:endParaRPr lang="en-US"/>
        </a:p>
      </dgm:t>
    </dgm:pt>
    <dgm:pt modelId="{1AA0EC51-15A2-4C09-8E8A-2D8A73A55BA4}">
      <dgm:prSet phldrT="[Text]" custT="1"/>
      <dgm:spPr>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prstClr val="black">
                  <a:hueOff val="0"/>
                  <a:satOff val="0"/>
                  <a:lumOff val="0"/>
                  <a:alphaOff val="0"/>
                </a:prstClr>
              </a:solidFill>
              <a:latin typeface="Calibri" panose="020F0502020204030204"/>
              <a:ea typeface="+mn-ea"/>
              <a:cs typeface="+mn-cs"/>
            </a:rPr>
            <a:t>Health</a:t>
          </a:r>
        </a:p>
      </dgm:t>
    </dgm:pt>
    <dgm:pt modelId="{432B71A9-8F64-4681-81DF-2B75236B1AD9}" type="parTrans" cxnId="{79CA2B2F-9DB8-4779-ACEF-9861A8A4B3DD}">
      <dgm:prSet/>
      <dgm:spPr/>
      <dgm:t>
        <a:bodyPr/>
        <a:lstStyle/>
        <a:p>
          <a:endParaRPr lang="en-US"/>
        </a:p>
      </dgm:t>
    </dgm:pt>
    <dgm:pt modelId="{72EC1556-80CA-4F2A-AC81-B7E5C1A3F4A7}" type="sibTrans" cxnId="{79CA2B2F-9DB8-4779-ACEF-9861A8A4B3DD}">
      <dgm:prSet/>
      <dgm:spPr/>
      <dgm:t>
        <a:bodyPr/>
        <a:lstStyle/>
        <a:p>
          <a:endParaRPr lang="en-US"/>
        </a:p>
      </dgm:t>
    </dgm:pt>
    <dgm:pt modelId="{38AB5E3C-C8A5-4760-BF93-66BA5D6078F2}">
      <dgm:prSet phldrT="[Text]" custT="1"/>
      <dgm:spPr>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Transport and communication</a:t>
          </a:r>
          <a:endParaRPr lang="en-US" sz="1600" kern="1200" dirty="0">
            <a:solidFill>
              <a:prstClr val="black">
                <a:hueOff val="0"/>
                <a:satOff val="0"/>
                <a:lumOff val="0"/>
                <a:alphaOff val="0"/>
              </a:prstClr>
            </a:solidFill>
            <a:latin typeface="Calibri" panose="020F0502020204030204"/>
            <a:ea typeface="+mn-ea"/>
            <a:cs typeface="+mn-cs"/>
          </a:endParaRPr>
        </a:p>
      </dgm:t>
    </dgm:pt>
    <dgm:pt modelId="{1FE39EF4-ADCB-4576-A1C3-884B2BA761A0}" type="parTrans" cxnId="{179D8156-4211-4C0D-84D2-F4B2B137661A}">
      <dgm:prSet/>
      <dgm:spPr/>
      <dgm:t>
        <a:bodyPr/>
        <a:lstStyle/>
        <a:p>
          <a:endParaRPr lang="en-US"/>
        </a:p>
      </dgm:t>
    </dgm:pt>
    <dgm:pt modelId="{17313B00-17FB-4D8B-BB89-F869246C92C2}" type="sibTrans" cxnId="{179D8156-4211-4C0D-84D2-F4B2B137661A}">
      <dgm:prSet/>
      <dgm:spPr/>
      <dgm:t>
        <a:bodyPr/>
        <a:lstStyle/>
        <a:p>
          <a:endParaRPr lang="en-US"/>
        </a:p>
      </dgm:t>
    </dgm:pt>
    <dgm:pt modelId="{4E0345D0-9CAC-4ABB-BD0E-2FDA24EA0D74}">
      <dgm:prSet phldrT="[Text]" custT="1"/>
      <dgm:spPr>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prstClr val="black">
                  <a:hueOff val="0"/>
                  <a:satOff val="0"/>
                  <a:lumOff val="0"/>
                  <a:alphaOff val="0"/>
                </a:prstClr>
              </a:solidFill>
              <a:latin typeface="Calibri" panose="020F0502020204030204"/>
              <a:ea typeface="+mn-ea"/>
              <a:cs typeface="+mn-cs"/>
            </a:rPr>
            <a:t>Recreation and amusement</a:t>
          </a:r>
        </a:p>
      </dgm:t>
    </dgm:pt>
    <dgm:pt modelId="{BBF92CFB-92D1-4547-B3E9-6E437F2B7351}" type="parTrans" cxnId="{FDACB13F-8C69-4757-BF2C-49863184B7B4}">
      <dgm:prSet/>
      <dgm:spPr/>
      <dgm:t>
        <a:bodyPr/>
        <a:lstStyle/>
        <a:p>
          <a:endParaRPr lang="en-US"/>
        </a:p>
      </dgm:t>
    </dgm:pt>
    <dgm:pt modelId="{2C403484-04B8-441C-8ACF-6A280EF19110}" type="sibTrans" cxnId="{FDACB13F-8C69-4757-BF2C-49863184B7B4}">
      <dgm:prSet/>
      <dgm:spPr/>
      <dgm:t>
        <a:bodyPr/>
        <a:lstStyle/>
        <a:p>
          <a:endParaRPr lang="en-US"/>
        </a:p>
      </dgm:t>
    </dgm:pt>
    <dgm:pt modelId="{ECC7F6E7-BD87-4648-9BD6-785AC02FB252}">
      <dgm:prSet phldrT="[Text]" custT="1"/>
      <dgm:spPr>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Education</a:t>
          </a:r>
          <a:endParaRPr lang="en-US" sz="1600" kern="1200" dirty="0">
            <a:solidFill>
              <a:prstClr val="black">
                <a:hueOff val="0"/>
                <a:satOff val="0"/>
                <a:lumOff val="0"/>
                <a:alphaOff val="0"/>
              </a:prstClr>
            </a:solidFill>
            <a:latin typeface="Calibri" panose="020F0502020204030204"/>
            <a:ea typeface="+mn-ea"/>
            <a:cs typeface="+mn-cs"/>
          </a:endParaRPr>
        </a:p>
      </dgm:t>
    </dgm:pt>
    <dgm:pt modelId="{6F39EB3F-A32E-4B84-8A0B-122365441790}" type="parTrans" cxnId="{A879ACA8-374B-4FEB-A649-9310BEB8BE59}">
      <dgm:prSet/>
      <dgm:spPr/>
      <dgm:t>
        <a:bodyPr/>
        <a:lstStyle/>
        <a:p>
          <a:endParaRPr lang="en-US"/>
        </a:p>
      </dgm:t>
    </dgm:pt>
    <dgm:pt modelId="{759884A6-BE64-4189-AFA0-5FDD04A121B6}" type="sibTrans" cxnId="{A879ACA8-374B-4FEB-A649-9310BEB8BE59}">
      <dgm:prSet/>
      <dgm:spPr/>
      <dgm:t>
        <a:bodyPr/>
        <a:lstStyle/>
        <a:p>
          <a:endParaRPr lang="en-US"/>
        </a:p>
      </dgm:t>
    </dgm:pt>
    <dgm:pt modelId="{4F6F84B9-0D2D-4F82-ACE9-31C32DEE5B97}">
      <dgm:prSet phldrT="[Text]" custT="1"/>
      <dgm:spPr>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Personal care and effects</a:t>
          </a:r>
          <a:endParaRPr lang="en-US" sz="1600" kern="1200" dirty="0">
            <a:solidFill>
              <a:prstClr val="black">
                <a:hueOff val="0"/>
                <a:satOff val="0"/>
                <a:lumOff val="0"/>
                <a:alphaOff val="0"/>
              </a:prstClr>
            </a:solidFill>
            <a:latin typeface="Calibri" panose="020F0502020204030204"/>
            <a:ea typeface="+mn-ea"/>
            <a:cs typeface="+mn-cs"/>
          </a:endParaRPr>
        </a:p>
      </dgm:t>
    </dgm:pt>
    <dgm:pt modelId="{7B533259-529F-4E38-A5C0-323A601F1F9C}" type="parTrans" cxnId="{3B9BD50C-7635-40DA-A59B-312C7D65DE32}">
      <dgm:prSet/>
      <dgm:spPr/>
      <dgm:t>
        <a:bodyPr/>
        <a:lstStyle/>
        <a:p>
          <a:endParaRPr lang="en-US"/>
        </a:p>
      </dgm:t>
    </dgm:pt>
    <dgm:pt modelId="{4B033C5F-234B-45BC-853D-BC5E452AF0BC}" type="sibTrans" cxnId="{3B9BD50C-7635-40DA-A59B-312C7D65DE32}">
      <dgm:prSet/>
      <dgm:spPr/>
      <dgm:t>
        <a:bodyPr/>
        <a:lstStyle/>
        <a:p>
          <a:endParaRPr lang="en-US"/>
        </a:p>
      </dgm:t>
    </dgm:pt>
    <dgm:pt modelId="{434CED0D-7FA1-4B59-AF3B-1F05C199CAA1}">
      <dgm:prSet phldrT="[Text]" custT="1"/>
      <dgm:spPr>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Miscellaneous</a:t>
          </a:r>
          <a:endParaRPr lang="en-US" sz="1600" kern="1200" dirty="0">
            <a:solidFill>
              <a:prstClr val="black">
                <a:hueOff val="0"/>
                <a:satOff val="0"/>
                <a:lumOff val="0"/>
                <a:alphaOff val="0"/>
              </a:prstClr>
            </a:solidFill>
            <a:latin typeface="Calibri" panose="020F0502020204030204"/>
            <a:ea typeface="+mn-ea"/>
            <a:cs typeface="+mn-cs"/>
          </a:endParaRPr>
        </a:p>
      </dgm:t>
    </dgm:pt>
    <dgm:pt modelId="{B6B94762-FCE2-43F9-AC7E-F305D87DF191}" type="parTrans" cxnId="{559D33E8-F942-4AAB-8488-D2299E5508EF}">
      <dgm:prSet/>
      <dgm:spPr/>
      <dgm:t>
        <a:bodyPr/>
        <a:lstStyle/>
        <a:p>
          <a:endParaRPr lang="en-US"/>
        </a:p>
      </dgm:t>
    </dgm:pt>
    <dgm:pt modelId="{CC802045-DE52-4626-97D6-D2443E981B6F}" type="sibTrans" cxnId="{559D33E8-F942-4AAB-8488-D2299E5508EF}">
      <dgm:prSet/>
      <dgm:spPr/>
      <dgm:t>
        <a:bodyPr/>
        <a:lstStyle/>
        <a:p>
          <a:endParaRPr lang="en-US"/>
        </a:p>
      </dgm:t>
    </dgm:pt>
    <dgm:pt modelId="{7D970598-4A7B-449D-8DAF-C58717E9C16B}" type="pres">
      <dgm:prSet presAssocID="{97A5C339-9A7A-48E7-91E9-AF1D1D8C193E}" presName="hierChild1" presStyleCnt="0">
        <dgm:presLayoutVars>
          <dgm:orgChart val="1"/>
          <dgm:chPref val="1"/>
          <dgm:dir/>
          <dgm:animOne val="branch"/>
          <dgm:animLvl val="lvl"/>
          <dgm:resizeHandles/>
        </dgm:presLayoutVars>
      </dgm:prSet>
      <dgm:spPr/>
    </dgm:pt>
    <dgm:pt modelId="{B2F6B32D-367A-45CD-9BFF-52A770791918}" type="pres">
      <dgm:prSet presAssocID="{D3F4A7D5-683D-4F6B-8060-FC01DBA5A741}" presName="hierRoot1" presStyleCnt="0">
        <dgm:presLayoutVars>
          <dgm:hierBranch val="hang"/>
        </dgm:presLayoutVars>
      </dgm:prSet>
      <dgm:spPr/>
    </dgm:pt>
    <dgm:pt modelId="{E06F50B6-E71F-47FE-8169-D4ADC356D238}" type="pres">
      <dgm:prSet presAssocID="{D3F4A7D5-683D-4F6B-8060-FC01DBA5A741}" presName="rootComposite1" presStyleCnt="0"/>
      <dgm:spPr/>
    </dgm:pt>
    <dgm:pt modelId="{94B3CD04-F98F-4B35-B7B1-7E1C40A0FA4C}" type="pres">
      <dgm:prSet presAssocID="{D3F4A7D5-683D-4F6B-8060-FC01DBA5A741}" presName="rootText1" presStyleLbl="node0" presStyleIdx="0" presStyleCnt="1" custScaleX="107156">
        <dgm:presLayoutVars>
          <dgm:chPref val="3"/>
        </dgm:presLayoutVars>
      </dgm:prSet>
      <dgm:spPr>
        <a:prstGeom prst="roundRect">
          <a:avLst/>
        </a:prstGeom>
      </dgm:spPr>
    </dgm:pt>
    <dgm:pt modelId="{A3093ACF-716F-4DFE-AE24-DE2C2ABF3796}" type="pres">
      <dgm:prSet presAssocID="{D3F4A7D5-683D-4F6B-8060-FC01DBA5A741}" presName="rootConnector1" presStyleLbl="node1" presStyleIdx="0" presStyleCnt="0"/>
      <dgm:spPr/>
    </dgm:pt>
    <dgm:pt modelId="{D9AA15E5-F88B-441B-ABA2-65E24046FAAC}" type="pres">
      <dgm:prSet presAssocID="{D3F4A7D5-683D-4F6B-8060-FC01DBA5A741}" presName="hierChild2" presStyleCnt="0"/>
      <dgm:spPr/>
    </dgm:pt>
    <dgm:pt modelId="{27B5672D-5A59-4BF8-A2AB-5B031E0A80F8}" type="pres">
      <dgm:prSet presAssocID="{432B71A9-8F64-4681-81DF-2B75236B1AD9}" presName="Name47" presStyleLbl="parChTrans1D2" presStyleIdx="0" presStyleCnt="6"/>
      <dgm:spPr/>
    </dgm:pt>
    <dgm:pt modelId="{D009D4F0-15AC-4EC8-9137-76AEF7B870A2}" type="pres">
      <dgm:prSet presAssocID="{1AA0EC51-15A2-4C09-8E8A-2D8A73A55BA4}" presName="hierRoot2" presStyleCnt="0">
        <dgm:presLayoutVars>
          <dgm:hierBranch val="init"/>
        </dgm:presLayoutVars>
      </dgm:prSet>
      <dgm:spPr/>
    </dgm:pt>
    <dgm:pt modelId="{B7E9DB8B-763E-4C2C-B548-CA0679CAE7AF}" type="pres">
      <dgm:prSet presAssocID="{1AA0EC51-15A2-4C09-8E8A-2D8A73A55BA4}" presName="rootComposite" presStyleCnt="0"/>
      <dgm:spPr/>
    </dgm:pt>
    <dgm:pt modelId="{F6FA6216-E376-478A-BE10-0672CF3DBED3}" type="pres">
      <dgm:prSet presAssocID="{1AA0EC51-15A2-4C09-8E8A-2D8A73A55BA4}" presName="rootText" presStyleLbl="node2" presStyleIdx="0" presStyleCnt="6">
        <dgm:presLayoutVars>
          <dgm:chPref val="3"/>
        </dgm:presLayoutVars>
      </dgm:prSet>
      <dgm:spPr>
        <a:xfrm>
          <a:off x="3383561" y="500"/>
          <a:ext cx="2553815" cy="778913"/>
        </a:xfrm>
        <a:prstGeom prst="roundRect">
          <a:avLst/>
        </a:prstGeom>
      </dgm:spPr>
    </dgm:pt>
    <dgm:pt modelId="{109EAF05-1F69-4F62-96DE-70689B2D1DCE}" type="pres">
      <dgm:prSet presAssocID="{1AA0EC51-15A2-4C09-8E8A-2D8A73A55BA4}" presName="rootConnector" presStyleLbl="node2" presStyleIdx="0" presStyleCnt="6"/>
      <dgm:spPr/>
    </dgm:pt>
    <dgm:pt modelId="{9D81B184-990C-48BE-8CE9-8DF9D5ABE381}" type="pres">
      <dgm:prSet presAssocID="{1AA0EC51-15A2-4C09-8E8A-2D8A73A55BA4}" presName="hierChild4" presStyleCnt="0"/>
      <dgm:spPr/>
    </dgm:pt>
    <dgm:pt modelId="{D5A97464-656C-40FF-B91A-7A7737A8111A}" type="pres">
      <dgm:prSet presAssocID="{1AA0EC51-15A2-4C09-8E8A-2D8A73A55BA4}" presName="hierChild5" presStyleCnt="0"/>
      <dgm:spPr/>
    </dgm:pt>
    <dgm:pt modelId="{0FC8583D-749C-45F8-B196-8D5A38A7D450}" type="pres">
      <dgm:prSet presAssocID="{1FE39EF4-ADCB-4576-A1C3-884B2BA761A0}" presName="Name47" presStyleLbl="parChTrans1D2" presStyleIdx="1" presStyleCnt="6"/>
      <dgm:spPr/>
    </dgm:pt>
    <dgm:pt modelId="{361BCE6D-421A-43C3-8B10-B0CBF88ACED5}" type="pres">
      <dgm:prSet presAssocID="{38AB5E3C-C8A5-4760-BF93-66BA5D6078F2}" presName="hierRoot2" presStyleCnt="0">
        <dgm:presLayoutVars>
          <dgm:hierBranch val="init"/>
        </dgm:presLayoutVars>
      </dgm:prSet>
      <dgm:spPr/>
    </dgm:pt>
    <dgm:pt modelId="{BD48FCB3-72E5-4BA9-9FDF-251CD981F843}" type="pres">
      <dgm:prSet presAssocID="{38AB5E3C-C8A5-4760-BF93-66BA5D6078F2}" presName="rootComposite" presStyleCnt="0"/>
      <dgm:spPr/>
    </dgm:pt>
    <dgm:pt modelId="{56342EF1-C34D-41F1-83C5-48AF80DA782C}" type="pres">
      <dgm:prSet presAssocID="{38AB5E3C-C8A5-4760-BF93-66BA5D6078F2}" presName="rootText" presStyleLbl="node2" presStyleIdx="1" presStyleCnt="6" custScaleX="108662">
        <dgm:presLayoutVars>
          <dgm:chPref val="3"/>
        </dgm:presLayoutVars>
      </dgm:prSet>
      <dgm:spPr>
        <a:xfrm>
          <a:off x="3383561" y="1098640"/>
          <a:ext cx="2553815" cy="778913"/>
        </a:xfrm>
        <a:prstGeom prst="roundRect">
          <a:avLst/>
        </a:prstGeom>
      </dgm:spPr>
    </dgm:pt>
    <dgm:pt modelId="{7F9012AE-F314-46A1-B00B-AB5FB72A77D4}" type="pres">
      <dgm:prSet presAssocID="{38AB5E3C-C8A5-4760-BF93-66BA5D6078F2}" presName="rootConnector" presStyleLbl="node2" presStyleIdx="1" presStyleCnt="6"/>
      <dgm:spPr/>
    </dgm:pt>
    <dgm:pt modelId="{3F6943EA-7376-408E-9BDC-ADD2FD075254}" type="pres">
      <dgm:prSet presAssocID="{38AB5E3C-C8A5-4760-BF93-66BA5D6078F2}" presName="hierChild4" presStyleCnt="0"/>
      <dgm:spPr/>
    </dgm:pt>
    <dgm:pt modelId="{206FF916-6201-4C23-8037-AEA30F946082}" type="pres">
      <dgm:prSet presAssocID="{38AB5E3C-C8A5-4760-BF93-66BA5D6078F2}" presName="hierChild5" presStyleCnt="0"/>
      <dgm:spPr/>
    </dgm:pt>
    <dgm:pt modelId="{252CBACD-7279-4311-9726-B0F198BA7DCF}" type="pres">
      <dgm:prSet presAssocID="{BBF92CFB-92D1-4547-B3E9-6E437F2B7351}" presName="Name47" presStyleLbl="parChTrans1D2" presStyleIdx="2" presStyleCnt="6"/>
      <dgm:spPr/>
    </dgm:pt>
    <dgm:pt modelId="{EBC26361-E500-482C-BC06-AE4D6E30DA90}" type="pres">
      <dgm:prSet presAssocID="{4E0345D0-9CAC-4ABB-BD0E-2FDA24EA0D74}" presName="hierRoot2" presStyleCnt="0">
        <dgm:presLayoutVars>
          <dgm:hierBranch val="init"/>
        </dgm:presLayoutVars>
      </dgm:prSet>
      <dgm:spPr/>
    </dgm:pt>
    <dgm:pt modelId="{425B4D38-A5B6-4FBC-B458-CF8DC671A1E0}" type="pres">
      <dgm:prSet presAssocID="{4E0345D0-9CAC-4ABB-BD0E-2FDA24EA0D74}" presName="rootComposite" presStyleCnt="0"/>
      <dgm:spPr/>
    </dgm:pt>
    <dgm:pt modelId="{687704CF-42C9-42E7-95E2-6FACF45CD068}" type="pres">
      <dgm:prSet presAssocID="{4E0345D0-9CAC-4ABB-BD0E-2FDA24EA0D74}" presName="rootText" presStyleLbl="node2" presStyleIdx="2" presStyleCnt="6">
        <dgm:presLayoutVars>
          <dgm:chPref val="3"/>
        </dgm:presLayoutVars>
      </dgm:prSet>
      <dgm:spPr>
        <a:xfrm>
          <a:off x="6256604" y="500"/>
          <a:ext cx="2553815" cy="778913"/>
        </a:xfrm>
        <a:prstGeom prst="roundRect">
          <a:avLst/>
        </a:prstGeom>
      </dgm:spPr>
    </dgm:pt>
    <dgm:pt modelId="{59FF2F9F-2B14-4396-A26B-0809B9916636}" type="pres">
      <dgm:prSet presAssocID="{4E0345D0-9CAC-4ABB-BD0E-2FDA24EA0D74}" presName="rootConnector" presStyleLbl="node2" presStyleIdx="2" presStyleCnt="6"/>
      <dgm:spPr/>
    </dgm:pt>
    <dgm:pt modelId="{1C7BF164-6E9A-4726-B362-86099E28C74B}" type="pres">
      <dgm:prSet presAssocID="{4E0345D0-9CAC-4ABB-BD0E-2FDA24EA0D74}" presName="hierChild4" presStyleCnt="0"/>
      <dgm:spPr/>
    </dgm:pt>
    <dgm:pt modelId="{C33BFE48-1DE8-44C3-931B-74586A9B27A8}" type="pres">
      <dgm:prSet presAssocID="{4E0345D0-9CAC-4ABB-BD0E-2FDA24EA0D74}" presName="hierChild5" presStyleCnt="0"/>
      <dgm:spPr/>
    </dgm:pt>
    <dgm:pt modelId="{3DC13EAE-2F78-468D-926D-FB20945ECE7C}" type="pres">
      <dgm:prSet presAssocID="{6F39EB3F-A32E-4B84-8A0B-122365441790}" presName="Name47" presStyleLbl="parChTrans1D2" presStyleIdx="3" presStyleCnt="6"/>
      <dgm:spPr/>
    </dgm:pt>
    <dgm:pt modelId="{17F233B4-B771-41F1-84EE-7B5346A6060F}" type="pres">
      <dgm:prSet presAssocID="{ECC7F6E7-BD87-4648-9BD6-785AC02FB252}" presName="hierRoot2" presStyleCnt="0">
        <dgm:presLayoutVars>
          <dgm:hierBranch val="init"/>
        </dgm:presLayoutVars>
      </dgm:prSet>
      <dgm:spPr/>
    </dgm:pt>
    <dgm:pt modelId="{3EE07EAB-411E-4EFD-8F60-FB7CC66ACF2D}" type="pres">
      <dgm:prSet presAssocID="{ECC7F6E7-BD87-4648-9BD6-785AC02FB252}" presName="rootComposite" presStyleCnt="0"/>
      <dgm:spPr/>
    </dgm:pt>
    <dgm:pt modelId="{83B47DFE-4E50-4E85-ADFC-0903D95BD357}" type="pres">
      <dgm:prSet presAssocID="{ECC7F6E7-BD87-4648-9BD6-785AC02FB252}" presName="rootText" presStyleLbl="node2" presStyleIdx="3" presStyleCnt="6">
        <dgm:presLayoutVars>
          <dgm:chPref val="3"/>
        </dgm:presLayoutVars>
      </dgm:prSet>
      <dgm:spPr>
        <a:xfrm>
          <a:off x="6256604" y="1098640"/>
          <a:ext cx="2553815" cy="778913"/>
        </a:xfrm>
        <a:prstGeom prst="roundRect">
          <a:avLst/>
        </a:prstGeom>
      </dgm:spPr>
    </dgm:pt>
    <dgm:pt modelId="{951CA5FF-05A2-4DFF-B183-97AE9266B529}" type="pres">
      <dgm:prSet presAssocID="{ECC7F6E7-BD87-4648-9BD6-785AC02FB252}" presName="rootConnector" presStyleLbl="node2" presStyleIdx="3" presStyleCnt="6"/>
      <dgm:spPr/>
    </dgm:pt>
    <dgm:pt modelId="{673ED440-8960-4E18-A1CC-5A0C8F934469}" type="pres">
      <dgm:prSet presAssocID="{ECC7F6E7-BD87-4648-9BD6-785AC02FB252}" presName="hierChild4" presStyleCnt="0"/>
      <dgm:spPr/>
    </dgm:pt>
    <dgm:pt modelId="{A4C990F5-1FE1-4679-A906-72C92F90109D}" type="pres">
      <dgm:prSet presAssocID="{ECC7F6E7-BD87-4648-9BD6-785AC02FB252}" presName="hierChild5" presStyleCnt="0"/>
      <dgm:spPr/>
    </dgm:pt>
    <dgm:pt modelId="{2EEF52BF-ACDD-4760-9362-92E700C9433A}" type="pres">
      <dgm:prSet presAssocID="{7B533259-529F-4E38-A5C0-323A601F1F9C}" presName="Name47" presStyleLbl="parChTrans1D2" presStyleIdx="4" presStyleCnt="6"/>
      <dgm:spPr/>
    </dgm:pt>
    <dgm:pt modelId="{75D7BD44-11FF-40D0-94FE-260B6F4088D1}" type="pres">
      <dgm:prSet presAssocID="{4F6F84B9-0D2D-4F82-ACE9-31C32DEE5B97}" presName="hierRoot2" presStyleCnt="0">
        <dgm:presLayoutVars>
          <dgm:hierBranch val="init"/>
        </dgm:presLayoutVars>
      </dgm:prSet>
      <dgm:spPr/>
    </dgm:pt>
    <dgm:pt modelId="{502FC076-BB74-4A6C-ADF5-FD97D28731A1}" type="pres">
      <dgm:prSet presAssocID="{4F6F84B9-0D2D-4F82-ACE9-31C32DEE5B97}" presName="rootComposite" presStyleCnt="0"/>
      <dgm:spPr/>
    </dgm:pt>
    <dgm:pt modelId="{0719CD42-A34E-4182-A215-DC9698024494}" type="pres">
      <dgm:prSet presAssocID="{4F6F84B9-0D2D-4F82-ACE9-31C32DEE5B97}" presName="rootText" presStyleLbl="node2" presStyleIdx="4" presStyleCnt="6">
        <dgm:presLayoutVars>
          <dgm:chPref val="3"/>
        </dgm:presLayoutVars>
      </dgm:prSet>
      <dgm:spPr>
        <a:xfrm>
          <a:off x="9129646" y="500"/>
          <a:ext cx="2553815" cy="778913"/>
        </a:xfrm>
        <a:prstGeom prst="roundRect">
          <a:avLst/>
        </a:prstGeom>
      </dgm:spPr>
    </dgm:pt>
    <dgm:pt modelId="{F7AEE5D4-D746-430B-8E2F-F87C52C2CCB0}" type="pres">
      <dgm:prSet presAssocID="{4F6F84B9-0D2D-4F82-ACE9-31C32DEE5B97}" presName="rootConnector" presStyleLbl="node2" presStyleIdx="4" presStyleCnt="6"/>
      <dgm:spPr/>
    </dgm:pt>
    <dgm:pt modelId="{867E0B37-D791-47A1-B7F4-3156456F9895}" type="pres">
      <dgm:prSet presAssocID="{4F6F84B9-0D2D-4F82-ACE9-31C32DEE5B97}" presName="hierChild4" presStyleCnt="0"/>
      <dgm:spPr/>
    </dgm:pt>
    <dgm:pt modelId="{70BDAD0F-47A1-4207-998F-64ACCFE46F4A}" type="pres">
      <dgm:prSet presAssocID="{4F6F84B9-0D2D-4F82-ACE9-31C32DEE5B97}" presName="hierChild5" presStyleCnt="0"/>
      <dgm:spPr/>
    </dgm:pt>
    <dgm:pt modelId="{14B59DE7-BAC2-425C-9D38-081774E5CED6}" type="pres">
      <dgm:prSet presAssocID="{B6B94762-FCE2-43F9-AC7E-F305D87DF191}" presName="Name47" presStyleLbl="parChTrans1D2" presStyleIdx="5" presStyleCnt="6"/>
      <dgm:spPr/>
    </dgm:pt>
    <dgm:pt modelId="{A6EE3959-DEEC-41DE-96F0-9F60D30E2789}" type="pres">
      <dgm:prSet presAssocID="{434CED0D-7FA1-4B59-AF3B-1F05C199CAA1}" presName="hierRoot2" presStyleCnt="0">
        <dgm:presLayoutVars>
          <dgm:hierBranch val="init"/>
        </dgm:presLayoutVars>
      </dgm:prSet>
      <dgm:spPr/>
    </dgm:pt>
    <dgm:pt modelId="{7FCF30FC-C0EF-4176-8502-CD822C9DD4F8}" type="pres">
      <dgm:prSet presAssocID="{434CED0D-7FA1-4B59-AF3B-1F05C199CAA1}" presName="rootComposite" presStyleCnt="0"/>
      <dgm:spPr/>
    </dgm:pt>
    <dgm:pt modelId="{0E8B8211-FF1C-4F1B-877D-EF72CB1FAE05}" type="pres">
      <dgm:prSet presAssocID="{434CED0D-7FA1-4B59-AF3B-1F05C199CAA1}" presName="rootText" presStyleLbl="node2" presStyleIdx="5" presStyleCnt="6">
        <dgm:presLayoutVars>
          <dgm:chPref val="3"/>
        </dgm:presLayoutVars>
      </dgm:prSet>
      <dgm:spPr>
        <a:xfrm>
          <a:off x="9129646" y="1098640"/>
          <a:ext cx="2553815" cy="778913"/>
        </a:xfrm>
        <a:prstGeom prst="roundRect">
          <a:avLst/>
        </a:prstGeom>
      </dgm:spPr>
    </dgm:pt>
    <dgm:pt modelId="{DCE292B6-F712-4CA0-84B0-E14BA3D85DBA}" type="pres">
      <dgm:prSet presAssocID="{434CED0D-7FA1-4B59-AF3B-1F05C199CAA1}" presName="rootConnector" presStyleLbl="node2" presStyleIdx="5" presStyleCnt="6"/>
      <dgm:spPr/>
    </dgm:pt>
    <dgm:pt modelId="{281FE711-0B20-4B50-B9D8-FBEE3B6807D8}" type="pres">
      <dgm:prSet presAssocID="{434CED0D-7FA1-4B59-AF3B-1F05C199CAA1}" presName="hierChild4" presStyleCnt="0"/>
      <dgm:spPr/>
    </dgm:pt>
    <dgm:pt modelId="{AA6ABF16-1C30-4243-9523-348902BA1EE4}" type="pres">
      <dgm:prSet presAssocID="{434CED0D-7FA1-4B59-AF3B-1F05C199CAA1}" presName="hierChild5" presStyleCnt="0"/>
      <dgm:spPr/>
    </dgm:pt>
    <dgm:pt modelId="{62E8EA10-7B11-42FD-BE5F-4A3E0BE10BDF}" type="pres">
      <dgm:prSet presAssocID="{D3F4A7D5-683D-4F6B-8060-FC01DBA5A741}" presName="hierChild3" presStyleCnt="0"/>
      <dgm:spPr/>
    </dgm:pt>
  </dgm:ptLst>
  <dgm:cxnLst>
    <dgm:cxn modelId="{FADA760C-569D-449A-8147-AFA0B8A2F89E}" type="presOf" srcId="{38AB5E3C-C8A5-4760-BF93-66BA5D6078F2}" destId="{56342EF1-C34D-41F1-83C5-48AF80DA782C}" srcOrd="0" destOrd="0" presId="urn:microsoft.com/office/officeart/2009/3/layout/HorizontalOrganizationChart"/>
    <dgm:cxn modelId="{3B9BD50C-7635-40DA-A59B-312C7D65DE32}" srcId="{D3F4A7D5-683D-4F6B-8060-FC01DBA5A741}" destId="{4F6F84B9-0D2D-4F82-ACE9-31C32DEE5B97}" srcOrd="4" destOrd="0" parTransId="{7B533259-529F-4E38-A5C0-323A601F1F9C}" sibTransId="{4B033C5F-234B-45BC-853D-BC5E452AF0BC}"/>
    <dgm:cxn modelId="{62078412-7365-4E11-BDE2-F3BAF861F7BF}" type="presOf" srcId="{6F39EB3F-A32E-4B84-8A0B-122365441790}" destId="{3DC13EAE-2F78-468D-926D-FB20945ECE7C}" srcOrd="0" destOrd="0" presId="urn:microsoft.com/office/officeart/2009/3/layout/HorizontalOrganizationChart"/>
    <dgm:cxn modelId="{47614B23-D4D9-47AF-BF9D-43E677415838}" type="presOf" srcId="{B6B94762-FCE2-43F9-AC7E-F305D87DF191}" destId="{14B59DE7-BAC2-425C-9D38-081774E5CED6}" srcOrd="0" destOrd="0" presId="urn:microsoft.com/office/officeart/2009/3/layout/HorizontalOrganizationChart"/>
    <dgm:cxn modelId="{E2557827-CEB4-44D7-A9A7-B9FABADBCADE}" type="presOf" srcId="{434CED0D-7FA1-4B59-AF3B-1F05C199CAA1}" destId="{DCE292B6-F712-4CA0-84B0-E14BA3D85DBA}" srcOrd="1" destOrd="0" presId="urn:microsoft.com/office/officeart/2009/3/layout/HorizontalOrganizationChart"/>
    <dgm:cxn modelId="{79CA2B2F-9DB8-4779-ACEF-9861A8A4B3DD}" srcId="{D3F4A7D5-683D-4F6B-8060-FC01DBA5A741}" destId="{1AA0EC51-15A2-4C09-8E8A-2D8A73A55BA4}" srcOrd="0" destOrd="0" parTransId="{432B71A9-8F64-4681-81DF-2B75236B1AD9}" sibTransId="{72EC1556-80CA-4F2A-AC81-B7E5C1A3F4A7}"/>
    <dgm:cxn modelId="{FDACB13F-8C69-4757-BF2C-49863184B7B4}" srcId="{D3F4A7D5-683D-4F6B-8060-FC01DBA5A741}" destId="{4E0345D0-9CAC-4ABB-BD0E-2FDA24EA0D74}" srcOrd="2" destOrd="0" parTransId="{BBF92CFB-92D1-4547-B3E9-6E437F2B7351}" sibTransId="{2C403484-04B8-441C-8ACF-6A280EF19110}"/>
    <dgm:cxn modelId="{1B20815D-7AC7-4E0A-8564-E24B88870356}" type="presOf" srcId="{1FE39EF4-ADCB-4576-A1C3-884B2BA761A0}" destId="{0FC8583D-749C-45F8-B196-8D5A38A7D450}" srcOrd="0" destOrd="0" presId="urn:microsoft.com/office/officeart/2009/3/layout/HorizontalOrganizationChart"/>
    <dgm:cxn modelId="{72181A45-40C5-42AA-A38F-8373F6B3774F}" type="presOf" srcId="{D3F4A7D5-683D-4F6B-8060-FC01DBA5A741}" destId="{94B3CD04-F98F-4B35-B7B1-7E1C40A0FA4C}" srcOrd="0" destOrd="0" presId="urn:microsoft.com/office/officeart/2009/3/layout/HorizontalOrganizationChart"/>
    <dgm:cxn modelId="{D8BC5F46-C1F2-4D85-B570-BB10942E4DF1}" type="presOf" srcId="{97A5C339-9A7A-48E7-91E9-AF1D1D8C193E}" destId="{7D970598-4A7B-449D-8DAF-C58717E9C16B}" srcOrd="0" destOrd="0" presId="urn:microsoft.com/office/officeart/2009/3/layout/HorizontalOrganizationChart"/>
    <dgm:cxn modelId="{179D8156-4211-4C0D-84D2-F4B2B137661A}" srcId="{D3F4A7D5-683D-4F6B-8060-FC01DBA5A741}" destId="{38AB5E3C-C8A5-4760-BF93-66BA5D6078F2}" srcOrd="1" destOrd="0" parTransId="{1FE39EF4-ADCB-4576-A1C3-884B2BA761A0}" sibTransId="{17313B00-17FB-4D8B-BB89-F869246C92C2}"/>
    <dgm:cxn modelId="{E6ED2278-F0D9-4558-96D1-4DF65383EE50}" type="presOf" srcId="{432B71A9-8F64-4681-81DF-2B75236B1AD9}" destId="{27B5672D-5A59-4BF8-A2AB-5B031E0A80F8}" srcOrd="0" destOrd="0" presId="urn:microsoft.com/office/officeart/2009/3/layout/HorizontalOrganizationChart"/>
    <dgm:cxn modelId="{149A657A-0859-498E-8659-AF8C2D7EBE0D}" type="presOf" srcId="{4E0345D0-9CAC-4ABB-BD0E-2FDA24EA0D74}" destId="{687704CF-42C9-42E7-95E2-6FACF45CD068}" srcOrd="0" destOrd="0" presId="urn:microsoft.com/office/officeart/2009/3/layout/HorizontalOrganizationChart"/>
    <dgm:cxn modelId="{1F75AD7C-08F4-40E0-93F0-23BB6FE9573D}" type="presOf" srcId="{38AB5E3C-C8A5-4760-BF93-66BA5D6078F2}" destId="{7F9012AE-F314-46A1-B00B-AB5FB72A77D4}" srcOrd="1" destOrd="0" presId="urn:microsoft.com/office/officeart/2009/3/layout/HorizontalOrganizationChart"/>
    <dgm:cxn modelId="{D7596D87-C305-43F4-9F0F-2D7EA9D03B56}" type="presOf" srcId="{4F6F84B9-0D2D-4F82-ACE9-31C32DEE5B97}" destId="{F7AEE5D4-D746-430B-8E2F-F87C52C2CCB0}" srcOrd="1" destOrd="0" presId="urn:microsoft.com/office/officeart/2009/3/layout/HorizontalOrganizationChart"/>
    <dgm:cxn modelId="{EE332A96-AE70-481D-BBE7-A35B70B3E8F8}" type="presOf" srcId="{1AA0EC51-15A2-4C09-8E8A-2D8A73A55BA4}" destId="{F6FA6216-E376-478A-BE10-0672CF3DBED3}" srcOrd="0" destOrd="0" presId="urn:microsoft.com/office/officeart/2009/3/layout/HorizontalOrganizationChart"/>
    <dgm:cxn modelId="{B1C4A8A0-B03E-4DDA-8136-B55FA6336EDF}" type="presOf" srcId="{BBF92CFB-92D1-4547-B3E9-6E437F2B7351}" destId="{252CBACD-7279-4311-9726-B0F198BA7DCF}" srcOrd="0" destOrd="0" presId="urn:microsoft.com/office/officeart/2009/3/layout/HorizontalOrganizationChart"/>
    <dgm:cxn modelId="{C3A6C3A2-3972-474F-A0DE-D50EA4CD6F2C}" type="presOf" srcId="{ECC7F6E7-BD87-4648-9BD6-785AC02FB252}" destId="{83B47DFE-4E50-4E85-ADFC-0903D95BD357}" srcOrd="0" destOrd="0" presId="urn:microsoft.com/office/officeart/2009/3/layout/HorizontalOrganizationChart"/>
    <dgm:cxn modelId="{C6363AA4-8EE8-4447-BABC-F40AF78E0C23}" type="presOf" srcId="{7B533259-529F-4E38-A5C0-323A601F1F9C}" destId="{2EEF52BF-ACDD-4760-9362-92E700C9433A}" srcOrd="0" destOrd="0" presId="urn:microsoft.com/office/officeart/2009/3/layout/HorizontalOrganizationChart"/>
    <dgm:cxn modelId="{7012FEA4-A957-4347-ADEB-6452D5FD996F}" type="presOf" srcId="{4F6F84B9-0D2D-4F82-ACE9-31C32DEE5B97}" destId="{0719CD42-A34E-4182-A215-DC9698024494}" srcOrd="0" destOrd="0" presId="urn:microsoft.com/office/officeart/2009/3/layout/HorizontalOrganizationChart"/>
    <dgm:cxn modelId="{A879ACA8-374B-4FEB-A649-9310BEB8BE59}" srcId="{D3F4A7D5-683D-4F6B-8060-FC01DBA5A741}" destId="{ECC7F6E7-BD87-4648-9BD6-785AC02FB252}" srcOrd="3" destOrd="0" parTransId="{6F39EB3F-A32E-4B84-8A0B-122365441790}" sibTransId="{759884A6-BE64-4189-AFA0-5FDD04A121B6}"/>
    <dgm:cxn modelId="{4710ACAF-E667-4DCE-827D-219CB72C1C78}" srcId="{97A5C339-9A7A-48E7-91E9-AF1D1D8C193E}" destId="{D3F4A7D5-683D-4F6B-8060-FC01DBA5A741}" srcOrd="0" destOrd="0" parTransId="{485F75E4-3F58-4CD8-986A-B622EB11A1D8}" sibTransId="{A2129C23-DAA6-49C4-A73A-503C66D58FB5}"/>
    <dgm:cxn modelId="{C22272C0-3D3E-4B07-AC71-511B80984203}" type="presOf" srcId="{ECC7F6E7-BD87-4648-9BD6-785AC02FB252}" destId="{951CA5FF-05A2-4DFF-B183-97AE9266B529}" srcOrd="1" destOrd="0" presId="urn:microsoft.com/office/officeart/2009/3/layout/HorizontalOrganizationChart"/>
    <dgm:cxn modelId="{AB117AC0-6262-4C06-BCAC-A1DF59B19646}" type="presOf" srcId="{4E0345D0-9CAC-4ABB-BD0E-2FDA24EA0D74}" destId="{59FF2F9F-2B14-4396-A26B-0809B9916636}" srcOrd="1" destOrd="0" presId="urn:microsoft.com/office/officeart/2009/3/layout/HorizontalOrganizationChart"/>
    <dgm:cxn modelId="{9B450DD2-C651-4784-91D1-05C385C99F92}" type="presOf" srcId="{D3F4A7D5-683D-4F6B-8060-FC01DBA5A741}" destId="{A3093ACF-716F-4DFE-AE24-DE2C2ABF3796}" srcOrd="1" destOrd="0" presId="urn:microsoft.com/office/officeart/2009/3/layout/HorizontalOrganizationChart"/>
    <dgm:cxn modelId="{559D33E8-F942-4AAB-8488-D2299E5508EF}" srcId="{D3F4A7D5-683D-4F6B-8060-FC01DBA5A741}" destId="{434CED0D-7FA1-4B59-AF3B-1F05C199CAA1}" srcOrd="5" destOrd="0" parTransId="{B6B94762-FCE2-43F9-AC7E-F305D87DF191}" sibTransId="{CC802045-DE52-4626-97D6-D2443E981B6F}"/>
    <dgm:cxn modelId="{5B921AFF-20B0-46DC-BBC0-D8B61AFC0900}" type="presOf" srcId="{434CED0D-7FA1-4B59-AF3B-1F05C199CAA1}" destId="{0E8B8211-FF1C-4F1B-877D-EF72CB1FAE05}" srcOrd="0" destOrd="0" presId="urn:microsoft.com/office/officeart/2009/3/layout/HorizontalOrganizationChart"/>
    <dgm:cxn modelId="{5E6567FF-CED4-40C8-80C8-DB788F025A6C}" type="presOf" srcId="{1AA0EC51-15A2-4C09-8E8A-2D8A73A55BA4}" destId="{109EAF05-1F69-4F62-96DE-70689B2D1DCE}" srcOrd="1" destOrd="0" presId="urn:microsoft.com/office/officeart/2009/3/layout/HorizontalOrganizationChart"/>
    <dgm:cxn modelId="{82D7977B-F6FE-423C-9E13-044AA10734B2}" type="presParOf" srcId="{7D970598-4A7B-449D-8DAF-C58717E9C16B}" destId="{B2F6B32D-367A-45CD-9BFF-52A770791918}" srcOrd="0" destOrd="0" presId="urn:microsoft.com/office/officeart/2009/3/layout/HorizontalOrganizationChart"/>
    <dgm:cxn modelId="{6D5B85D7-A9E9-4C5E-9781-6A5F3257E77A}" type="presParOf" srcId="{B2F6B32D-367A-45CD-9BFF-52A770791918}" destId="{E06F50B6-E71F-47FE-8169-D4ADC356D238}" srcOrd="0" destOrd="0" presId="urn:microsoft.com/office/officeart/2009/3/layout/HorizontalOrganizationChart"/>
    <dgm:cxn modelId="{71A4D8DF-C5F7-4280-A05F-479F823E0A72}" type="presParOf" srcId="{E06F50B6-E71F-47FE-8169-D4ADC356D238}" destId="{94B3CD04-F98F-4B35-B7B1-7E1C40A0FA4C}" srcOrd="0" destOrd="0" presId="urn:microsoft.com/office/officeart/2009/3/layout/HorizontalOrganizationChart"/>
    <dgm:cxn modelId="{40B65346-C490-4370-9B8C-2AE4F9B75578}" type="presParOf" srcId="{E06F50B6-E71F-47FE-8169-D4ADC356D238}" destId="{A3093ACF-716F-4DFE-AE24-DE2C2ABF3796}" srcOrd="1" destOrd="0" presId="urn:microsoft.com/office/officeart/2009/3/layout/HorizontalOrganizationChart"/>
    <dgm:cxn modelId="{AD1E2C1D-90BA-41C9-AB8E-20A37A86190B}" type="presParOf" srcId="{B2F6B32D-367A-45CD-9BFF-52A770791918}" destId="{D9AA15E5-F88B-441B-ABA2-65E24046FAAC}" srcOrd="1" destOrd="0" presId="urn:microsoft.com/office/officeart/2009/3/layout/HorizontalOrganizationChart"/>
    <dgm:cxn modelId="{42CBDCB1-6052-48AD-8E7B-CA4EE9C400D3}" type="presParOf" srcId="{D9AA15E5-F88B-441B-ABA2-65E24046FAAC}" destId="{27B5672D-5A59-4BF8-A2AB-5B031E0A80F8}" srcOrd="0" destOrd="0" presId="urn:microsoft.com/office/officeart/2009/3/layout/HorizontalOrganizationChart"/>
    <dgm:cxn modelId="{C25970F4-8950-4F94-9FD0-9E6D22DA0A5E}" type="presParOf" srcId="{D9AA15E5-F88B-441B-ABA2-65E24046FAAC}" destId="{D009D4F0-15AC-4EC8-9137-76AEF7B870A2}" srcOrd="1" destOrd="0" presId="urn:microsoft.com/office/officeart/2009/3/layout/HorizontalOrganizationChart"/>
    <dgm:cxn modelId="{F610E140-77EA-431F-A042-8697DA8EF5EF}" type="presParOf" srcId="{D009D4F0-15AC-4EC8-9137-76AEF7B870A2}" destId="{B7E9DB8B-763E-4C2C-B548-CA0679CAE7AF}" srcOrd="0" destOrd="0" presId="urn:microsoft.com/office/officeart/2009/3/layout/HorizontalOrganizationChart"/>
    <dgm:cxn modelId="{6AC5A63A-0E30-4A6C-B3B4-82E8EF5BCE79}" type="presParOf" srcId="{B7E9DB8B-763E-4C2C-B548-CA0679CAE7AF}" destId="{F6FA6216-E376-478A-BE10-0672CF3DBED3}" srcOrd="0" destOrd="0" presId="urn:microsoft.com/office/officeart/2009/3/layout/HorizontalOrganizationChart"/>
    <dgm:cxn modelId="{8BDE06C6-0B82-4432-A9B1-26085D96DA37}" type="presParOf" srcId="{B7E9DB8B-763E-4C2C-B548-CA0679CAE7AF}" destId="{109EAF05-1F69-4F62-96DE-70689B2D1DCE}" srcOrd="1" destOrd="0" presId="urn:microsoft.com/office/officeart/2009/3/layout/HorizontalOrganizationChart"/>
    <dgm:cxn modelId="{B29D2EBE-63EB-4AC2-8011-E58D3EB15F73}" type="presParOf" srcId="{D009D4F0-15AC-4EC8-9137-76AEF7B870A2}" destId="{9D81B184-990C-48BE-8CE9-8DF9D5ABE381}" srcOrd="1" destOrd="0" presId="urn:microsoft.com/office/officeart/2009/3/layout/HorizontalOrganizationChart"/>
    <dgm:cxn modelId="{04511C46-937B-4295-9047-1BA01C87E3F7}" type="presParOf" srcId="{D009D4F0-15AC-4EC8-9137-76AEF7B870A2}" destId="{D5A97464-656C-40FF-B91A-7A7737A8111A}" srcOrd="2" destOrd="0" presId="urn:microsoft.com/office/officeart/2009/3/layout/HorizontalOrganizationChart"/>
    <dgm:cxn modelId="{979F1555-D036-4A92-AA2F-89643F50F887}" type="presParOf" srcId="{D9AA15E5-F88B-441B-ABA2-65E24046FAAC}" destId="{0FC8583D-749C-45F8-B196-8D5A38A7D450}" srcOrd="2" destOrd="0" presId="urn:microsoft.com/office/officeart/2009/3/layout/HorizontalOrganizationChart"/>
    <dgm:cxn modelId="{FF055ABF-F268-4EF5-A0FB-F077A8DAE4C6}" type="presParOf" srcId="{D9AA15E5-F88B-441B-ABA2-65E24046FAAC}" destId="{361BCE6D-421A-43C3-8B10-B0CBF88ACED5}" srcOrd="3" destOrd="0" presId="urn:microsoft.com/office/officeart/2009/3/layout/HorizontalOrganizationChart"/>
    <dgm:cxn modelId="{39BE35B3-8B8A-4910-9BA2-CB6C69A8F49E}" type="presParOf" srcId="{361BCE6D-421A-43C3-8B10-B0CBF88ACED5}" destId="{BD48FCB3-72E5-4BA9-9FDF-251CD981F843}" srcOrd="0" destOrd="0" presId="urn:microsoft.com/office/officeart/2009/3/layout/HorizontalOrganizationChart"/>
    <dgm:cxn modelId="{2CC15956-C3C0-46D1-A1F6-24A79D803B8C}" type="presParOf" srcId="{BD48FCB3-72E5-4BA9-9FDF-251CD981F843}" destId="{56342EF1-C34D-41F1-83C5-48AF80DA782C}" srcOrd="0" destOrd="0" presId="urn:microsoft.com/office/officeart/2009/3/layout/HorizontalOrganizationChart"/>
    <dgm:cxn modelId="{CCF80CD0-5CE6-414C-99B1-01B895C07617}" type="presParOf" srcId="{BD48FCB3-72E5-4BA9-9FDF-251CD981F843}" destId="{7F9012AE-F314-46A1-B00B-AB5FB72A77D4}" srcOrd="1" destOrd="0" presId="urn:microsoft.com/office/officeart/2009/3/layout/HorizontalOrganizationChart"/>
    <dgm:cxn modelId="{749A2D51-0E19-4C63-8B08-5670CD30EB38}" type="presParOf" srcId="{361BCE6D-421A-43C3-8B10-B0CBF88ACED5}" destId="{3F6943EA-7376-408E-9BDC-ADD2FD075254}" srcOrd="1" destOrd="0" presId="urn:microsoft.com/office/officeart/2009/3/layout/HorizontalOrganizationChart"/>
    <dgm:cxn modelId="{812C3049-FA18-4AD5-82E8-DA267152DAC7}" type="presParOf" srcId="{361BCE6D-421A-43C3-8B10-B0CBF88ACED5}" destId="{206FF916-6201-4C23-8037-AEA30F946082}" srcOrd="2" destOrd="0" presId="urn:microsoft.com/office/officeart/2009/3/layout/HorizontalOrganizationChart"/>
    <dgm:cxn modelId="{9390F924-8ABF-4A1D-99E2-74D30CE5EF01}" type="presParOf" srcId="{D9AA15E5-F88B-441B-ABA2-65E24046FAAC}" destId="{252CBACD-7279-4311-9726-B0F198BA7DCF}" srcOrd="4" destOrd="0" presId="urn:microsoft.com/office/officeart/2009/3/layout/HorizontalOrganizationChart"/>
    <dgm:cxn modelId="{DBBE9083-3B58-4323-8EB9-585770CB0D4E}" type="presParOf" srcId="{D9AA15E5-F88B-441B-ABA2-65E24046FAAC}" destId="{EBC26361-E500-482C-BC06-AE4D6E30DA90}" srcOrd="5" destOrd="0" presId="urn:microsoft.com/office/officeart/2009/3/layout/HorizontalOrganizationChart"/>
    <dgm:cxn modelId="{83C24F0D-42B7-4AB8-97FE-DDA59BA0A366}" type="presParOf" srcId="{EBC26361-E500-482C-BC06-AE4D6E30DA90}" destId="{425B4D38-A5B6-4FBC-B458-CF8DC671A1E0}" srcOrd="0" destOrd="0" presId="urn:microsoft.com/office/officeart/2009/3/layout/HorizontalOrganizationChart"/>
    <dgm:cxn modelId="{CF498558-3402-4A3D-977D-A6B9AF84CAEA}" type="presParOf" srcId="{425B4D38-A5B6-4FBC-B458-CF8DC671A1E0}" destId="{687704CF-42C9-42E7-95E2-6FACF45CD068}" srcOrd="0" destOrd="0" presId="urn:microsoft.com/office/officeart/2009/3/layout/HorizontalOrganizationChart"/>
    <dgm:cxn modelId="{76C8521A-046A-4268-A789-845E5B685206}" type="presParOf" srcId="{425B4D38-A5B6-4FBC-B458-CF8DC671A1E0}" destId="{59FF2F9F-2B14-4396-A26B-0809B9916636}" srcOrd="1" destOrd="0" presId="urn:microsoft.com/office/officeart/2009/3/layout/HorizontalOrganizationChart"/>
    <dgm:cxn modelId="{24CECDEE-D8F1-4227-A589-89E95468F9EA}" type="presParOf" srcId="{EBC26361-E500-482C-BC06-AE4D6E30DA90}" destId="{1C7BF164-6E9A-4726-B362-86099E28C74B}" srcOrd="1" destOrd="0" presId="urn:microsoft.com/office/officeart/2009/3/layout/HorizontalOrganizationChart"/>
    <dgm:cxn modelId="{608B44AE-3830-4437-810F-01CCE2E6E87A}" type="presParOf" srcId="{EBC26361-E500-482C-BC06-AE4D6E30DA90}" destId="{C33BFE48-1DE8-44C3-931B-74586A9B27A8}" srcOrd="2" destOrd="0" presId="urn:microsoft.com/office/officeart/2009/3/layout/HorizontalOrganizationChart"/>
    <dgm:cxn modelId="{E7343FE2-0D4B-499F-96FD-1760E420C167}" type="presParOf" srcId="{D9AA15E5-F88B-441B-ABA2-65E24046FAAC}" destId="{3DC13EAE-2F78-468D-926D-FB20945ECE7C}" srcOrd="6" destOrd="0" presId="urn:microsoft.com/office/officeart/2009/3/layout/HorizontalOrganizationChart"/>
    <dgm:cxn modelId="{79653F95-913E-49F4-8340-E187A0AA96CA}" type="presParOf" srcId="{D9AA15E5-F88B-441B-ABA2-65E24046FAAC}" destId="{17F233B4-B771-41F1-84EE-7B5346A6060F}" srcOrd="7" destOrd="0" presId="urn:microsoft.com/office/officeart/2009/3/layout/HorizontalOrganizationChart"/>
    <dgm:cxn modelId="{DDBAF92C-3A45-4EF4-BEB0-A5234AE5323B}" type="presParOf" srcId="{17F233B4-B771-41F1-84EE-7B5346A6060F}" destId="{3EE07EAB-411E-4EFD-8F60-FB7CC66ACF2D}" srcOrd="0" destOrd="0" presId="urn:microsoft.com/office/officeart/2009/3/layout/HorizontalOrganizationChart"/>
    <dgm:cxn modelId="{AE2C12F0-EA5D-49AE-A2CA-CB842087CDB9}" type="presParOf" srcId="{3EE07EAB-411E-4EFD-8F60-FB7CC66ACF2D}" destId="{83B47DFE-4E50-4E85-ADFC-0903D95BD357}" srcOrd="0" destOrd="0" presId="urn:microsoft.com/office/officeart/2009/3/layout/HorizontalOrganizationChart"/>
    <dgm:cxn modelId="{0930A95B-4D88-4EED-B8C1-C16D4E7E9468}" type="presParOf" srcId="{3EE07EAB-411E-4EFD-8F60-FB7CC66ACF2D}" destId="{951CA5FF-05A2-4DFF-B183-97AE9266B529}" srcOrd="1" destOrd="0" presId="urn:microsoft.com/office/officeart/2009/3/layout/HorizontalOrganizationChart"/>
    <dgm:cxn modelId="{65A4277B-009B-441F-8958-C745F34238FF}" type="presParOf" srcId="{17F233B4-B771-41F1-84EE-7B5346A6060F}" destId="{673ED440-8960-4E18-A1CC-5A0C8F934469}" srcOrd="1" destOrd="0" presId="urn:microsoft.com/office/officeart/2009/3/layout/HorizontalOrganizationChart"/>
    <dgm:cxn modelId="{9892E219-437A-481A-8C1E-34E4DA962B1F}" type="presParOf" srcId="{17F233B4-B771-41F1-84EE-7B5346A6060F}" destId="{A4C990F5-1FE1-4679-A906-72C92F90109D}" srcOrd="2" destOrd="0" presId="urn:microsoft.com/office/officeart/2009/3/layout/HorizontalOrganizationChart"/>
    <dgm:cxn modelId="{ED158FAC-86ED-4BBC-AE38-2BF26B17F2D2}" type="presParOf" srcId="{D9AA15E5-F88B-441B-ABA2-65E24046FAAC}" destId="{2EEF52BF-ACDD-4760-9362-92E700C9433A}" srcOrd="8" destOrd="0" presId="urn:microsoft.com/office/officeart/2009/3/layout/HorizontalOrganizationChart"/>
    <dgm:cxn modelId="{047421D5-D01E-46E6-A7A8-D56A6F8089D0}" type="presParOf" srcId="{D9AA15E5-F88B-441B-ABA2-65E24046FAAC}" destId="{75D7BD44-11FF-40D0-94FE-260B6F4088D1}" srcOrd="9" destOrd="0" presId="urn:microsoft.com/office/officeart/2009/3/layout/HorizontalOrganizationChart"/>
    <dgm:cxn modelId="{C88ADFA6-B301-43C6-99C3-A8EEB48C10EA}" type="presParOf" srcId="{75D7BD44-11FF-40D0-94FE-260B6F4088D1}" destId="{502FC076-BB74-4A6C-ADF5-FD97D28731A1}" srcOrd="0" destOrd="0" presId="urn:microsoft.com/office/officeart/2009/3/layout/HorizontalOrganizationChart"/>
    <dgm:cxn modelId="{40A862C8-A205-421F-AFE1-8B37C9049AC7}" type="presParOf" srcId="{502FC076-BB74-4A6C-ADF5-FD97D28731A1}" destId="{0719CD42-A34E-4182-A215-DC9698024494}" srcOrd="0" destOrd="0" presId="urn:microsoft.com/office/officeart/2009/3/layout/HorizontalOrganizationChart"/>
    <dgm:cxn modelId="{104D2F76-DF02-4346-901D-4D6ACB8FC31D}" type="presParOf" srcId="{502FC076-BB74-4A6C-ADF5-FD97D28731A1}" destId="{F7AEE5D4-D746-430B-8E2F-F87C52C2CCB0}" srcOrd="1" destOrd="0" presId="urn:microsoft.com/office/officeart/2009/3/layout/HorizontalOrganizationChart"/>
    <dgm:cxn modelId="{56765283-1B1E-4A87-B10C-2B54DBA8B573}" type="presParOf" srcId="{75D7BD44-11FF-40D0-94FE-260B6F4088D1}" destId="{867E0B37-D791-47A1-B7F4-3156456F9895}" srcOrd="1" destOrd="0" presId="urn:microsoft.com/office/officeart/2009/3/layout/HorizontalOrganizationChart"/>
    <dgm:cxn modelId="{79DB9DB3-0B57-4C71-ABE8-655FE0A21E67}" type="presParOf" srcId="{75D7BD44-11FF-40D0-94FE-260B6F4088D1}" destId="{70BDAD0F-47A1-4207-998F-64ACCFE46F4A}" srcOrd="2" destOrd="0" presId="urn:microsoft.com/office/officeart/2009/3/layout/HorizontalOrganizationChart"/>
    <dgm:cxn modelId="{0CF04968-DCA4-4798-8D28-830280BCB9A9}" type="presParOf" srcId="{D9AA15E5-F88B-441B-ABA2-65E24046FAAC}" destId="{14B59DE7-BAC2-425C-9D38-081774E5CED6}" srcOrd="10" destOrd="0" presId="urn:microsoft.com/office/officeart/2009/3/layout/HorizontalOrganizationChart"/>
    <dgm:cxn modelId="{48B07E70-B303-45F3-829D-56B82AFD32C1}" type="presParOf" srcId="{D9AA15E5-F88B-441B-ABA2-65E24046FAAC}" destId="{A6EE3959-DEEC-41DE-96F0-9F60D30E2789}" srcOrd="11" destOrd="0" presId="urn:microsoft.com/office/officeart/2009/3/layout/HorizontalOrganizationChart"/>
    <dgm:cxn modelId="{747CD010-EEC8-42EB-B746-161A032B4D1B}" type="presParOf" srcId="{A6EE3959-DEEC-41DE-96F0-9F60D30E2789}" destId="{7FCF30FC-C0EF-4176-8502-CD822C9DD4F8}" srcOrd="0" destOrd="0" presId="urn:microsoft.com/office/officeart/2009/3/layout/HorizontalOrganizationChart"/>
    <dgm:cxn modelId="{B72DCF83-C68F-4F34-909D-81D3B989C7C5}" type="presParOf" srcId="{7FCF30FC-C0EF-4176-8502-CD822C9DD4F8}" destId="{0E8B8211-FF1C-4F1B-877D-EF72CB1FAE05}" srcOrd="0" destOrd="0" presId="urn:microsoft.com/office/officeart/2009/3/layout/HorizontalOrganizationChart"/>
    <dgm:cxn modelId="{BD61EFB8-BB99-4702-B5CB-0A83092197D8}" type="presParOf" srcId="{7FCF30FC-C0EF-4176-8502-CD822C9DD4F8}" destId="{DCE292B6-F712-4CA0-84B0-E14BA3D85DBA}" srcOrd="1" destOrd="0" presId="urn:microsoft.com/office/officeart/2009/3/layout/HorizontalOrganizationChart"/>
    <dgm:cxn modelId="{A727C6F2-E17C-4B0C-8B0B-1B213292DC30}" type="presParOf" srcId="{A6EE3959-DEEC-41DE-96F0-9F60D30E2789}" destId="{281FE711-0B20-4B50-B9D8-FBEE3B6807D8}" srcOrd="1" destOrd="0" presId="urn:microsoft.com/office/officeart/2009/3/layout/HorizontalOrganizationChart"/>
    <dgm:cxn modelId="{43FACB0B-67A9-40A9-9F20-AAD78CF6F22A}" type="presParOf" srcId="{A6EE3959-DEEC-41DE-96F0-9F60D30E2789}" destId="{AA6ABF16-1C30-4243-9523-348902BA1EE4}" srcOrd="2" destOrd="0" presId="urn:microsoft.com/office/officeart/2009/3/layout/HorizontalOrganizationChart"/>
    <dgm:cxn modelId="{CEF36C39-6072-4648-9E4F-E2A5E0FD369E}" type="presParOf" srcId="{B2F6B32D-367A-45CD-9BFF-52A770791918}" destId="{62E8EA10-7B11-42FD-BE5F-4A3E0BE10BDF}"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7A5C339-9A7A-48E7-91E9-AF1D1D8C193E}" type="doc">
      <dgm:prSet loTypeId="urn:microsoft.com/office/officeart/2009/3/layout/HorizontalOrganizationChart" loCatId="hierarchy" qsTypeId="urn:microsoft.com/office/officeart/2005/8/quickstyle/3d3" qsCatId="3D" csTypeId="urn:microsoft.com/office/officeart/2005/8/colors/accent2_1" csCatId="accent2" phldr="1"/>
      <dgm:spPr/>
      <dgm:t>
        <a:bodyPr/>
        <a:lstStyle/>
        <a:p>
          <a:endParaRPr lang="en-US"/>
        </a:p>
      </dgm:t>
    </dgm:pt>
    <dgm:pt modelId="{D3F4A7D5-683D-4F6B-8060-FC01DBA5A741}">
      <dgm:prSet phldrT="[Text]" custT="1"/>
      <dgm:spPr/>
      <dgm:t>
        <a:bodyPr/>
        <a:lstStyle/>
        <a:p>
          <a:r>
            <a:rPr lang="en-US" sz="1600" dirty="0"/>
            <a:t>Clothing and footwear</a:t>
          </a:r>
        </a:p>
      </dgm:t>
    </dgm:pt>
    <dgm:pt modelId="{485F75E4-3F58-4CD8-986A-B622EB11A1D8}" type="parTrans" cxnId="{4710ACAF-E667-4DCE-827D-219CB72C1C78}">
      <dgm:prSet/>
      <dgm:spPr/>
      <dgm:t>
        <a:bodyPr/>
        <a:lstStyle/>
        <a:p>
          <a:endParaRPr lang="en-US"/>
        </a:p>
      </dgm:t>
    </dgm:pt>
    <dgm:pt modelId="{A2129C23-DAA6-49C4-A73A-503C66D58FB5}" type="sibTrans" cxnId="{4710ACAF-E667-4DCE-827D-219CB72C1C78}">
      <dgm:prSet/>
      <dgm:spPr/>
      <dgm:t>
        <a:bodyPr/>
        <a:lstStyle/>
        <a:p>
          <a:endParaRPr lang="en-US"/>
        </a:p>
      </dgm:t>
    </dgm:pt>
    <dgm:pt modelId="{1AA0EC51-15A2-4C09-8E8A-2D8A73A55BA4}">
      <dgm:prSet phldrT="[Text]" custT="1"/>
      <dgm:spPr/>
      <dgm:t>
        <a:bodyPr/>
        <a:lstStyle/>
        <a:p>
          <a:r>
            <a:rPr lang="en-US" sz="1600" dirty="0"/>
            <a:t>Clothing</a:t>
          </a:r>
        </a:p>
      </dgm:t>
    </dgm:pt>
    <dgm:pt modelId="{432B71A9-8F64-4681-81DF-2B75236B1AD9}" type="parTrans" cxnId="{79CA2B2F-9DB8-4779-ACEF-9861A8A4B3DD}">
      <dgm:prSet/>
      <dgm:spPr/>
      <dgm:t>
        <a:bodyPr/>
        <a:lstStyle/>
        <a:p>
          <a:endParaRPr lang="en-US"/>
        </a:p>
      </dgm:t>
    </dgm:pt>
    <dgm:pt modelId="{72EC1556-80CA-4F2A-AC81-B7E5C1A3F4A7}" type="sibTrans" cxnId="{79CA2B2F-9DB8-4779-ACEF-9861A8A4B3DD}">
      <dgm:prSet/>
      <dgm:spPr/>
      <dgm:t>
        <a:bodyPr/>
        <a:lstStyle/>
        <a:p>
          <a:endParaRPr lang="en-US"/>
        </a:p>
      </dgm:t>
    </dgm:pt>
    <dgm:pt modelId="{0E4DE72E-4A0A-44C5-907C-339FA7CB83D2}">
      <dgm:prSet phldrT="[Text]" custT="1"/>
      <dgm:spPr/>
      <dgm:t>
        <a:bodyPr/>
        <a:lstStyle/>
        <a:p>
          <a:r>
            <a:rPr lang="en-US" sz="1600"/>
            <a:t>Footwear</a:t>
          </a:r>
          <a:endParaRPr lang="en-US" sz="1600" dirty="0"/>
        </a:p>
      </dgm:t>
    </dgm:pt>
    <dgm:pt modelId="{7348CCD5-BD02-4C53-89E8-456BC95A4CCE}" type="parTrans" cxnId="{C9CF1D6B-115F-41CD-83C8-180B28B80D07}">
      <dgm:prSet/>
      <dgm:spPr/>
      <dgm:t>
        <a:bodyPr/>
        <a:lstStyle/>
        <a:p>
          <a:endParaRPr lang="en-US"/>
        </a:p>
      </dgm:t>
    </dgm:pt>
    <dgm:pt modelId="{17078832-3185-45CF-BC99-1135E9ABD9D1}" type="sibTrans" cxnId="{C9CF1D6B-115F-41CD-83C8-180B28B80D07}">
      <dgm:prSet/>
      <dgm:spPr/>
      <dgm:t>
        <a:bodyPr/>
        <a:lstStyle/>
        <a:p>
          <a:endParaRPr lang="en-US"/>
        </a:p>
      </dgm:t>
    </dgm:pt>
    <dgm:pt modelId="{CAB85D3C-4699-43CB-AAE3-42DBF9F73455}">
      <dgm:prSet phldrT="[Text]" custT="1"/>
      <dgm:spPr/>
      <dgm:t>
        <a:bodyPr/>
        <a:lstStyle/>
        <a:p>
          <a:r>
            <a:rPr lang="en-US" sz="1600" dirty="0"/>
            <a:t>Clothing and footwear</a:t>
          </a:r>
        </a:p>
      </dgm:t>
    </dgm:pt>
    <dgm:pt modelId="{AC8909C3-6DD7-4ED1-8D83-8E00209F2F9D}" type="parTrans" cxnId="{C2028C54-43F6-43F0-8727-90885622FA35}">
      <dgm:prSet/>
      <dgm:spPr/>
      <dgm:t>
        <a:bodyPr/>
        <a:lstStyle/>
        <a:p>
          <a:endParaRPr lang="en-US"/>
        </a:p>
      </dgm:t>
    </dgm:pt>
    <dgm:pt modelId="{81E0D942-6B34-4197-A2AF-CFDE08AD7725}" type="sibTrans" cxnId="{C2028C54-43F6-43F0-8727-90885622FA35}">
      <dgm:prSet/>
      <dgm:spPr/>
      <dgm:t>
        <a:bodyPr/>
        <a:lstStyle/>
        <a:p>
          <a:endParaRPr lang="en-US"/>
        </a:p>
      </dgm:t>
    </dgm:pt>
    <dgm:pt modelId="{7D970598-4A7B-449D-8DAF-C58717E9C16B}" type="pres">
      <dgm:prSet presAssocID="{97A5C339-9A7A-48E7-91E9-AF1D1D8C193E}" presName="hierChild1" presStyleCnt="0">
        <dgm:presLayoutVars>
          <dgm:orgChart val="1"/>
          <dgm:chPref val="1"/>
          <dgm:dir/>
          <dgm:animOne val="branch"/>
          <dgm:animLvl val="lvl"/>
          <dgm:resizeHandles/>
        </dgm:presLayoutVars>
      </dgm:prSet>
      <dgm:spPr/>
    </dgm:pt>
    <dgm:pt modelId="{B2F6B32D-367A-45CD-9BFF-52A770791918}" type="pres">
      <dgm:prSet presAssocID="{D3F4A7D5-683D-4F6B-8060-FC01DBA5A741}" presName="hierRoot1" presStyleCnt="0">
        <dgm:presLayoutVars>
          <dgm:hierBranch val="hang"/>
        </dgm:presLayoutVars>
      </dgm:prSet>
      <dgm:spPr/>
    </dgm:pt>
    <dgm:pt modelId="{E06F50B6-E71F-47FE-8169-D4ADC356D238}" type="pres">
      <dgm:prSet presAssocID="{D3F4A7D5-683D-4F6B-8060-FC01DBA5A741}" presName="rootComposite1" presStyleCnt="0"/>
      <dgm:spPr/>
    </dgm:pt>
    <dgm:pt modelId="{94B3CD04-F98F-4B35-B7B1-7E1C40A0FA4C}" type="pres">
      <dgm:prSet presAssocID="{D3F4A7D5-683D-4F6B-8060-FC01DBA5A741}" presName="rootText1" presStyleLbl="node0" presStyleIdx="0" presStyleCnt="1" custScaleX="100840" custScaleY="90967">
        <dgm:presLayoutVars>
          <dgm:chPref val="3"/>
        </dgm:presLayoutVars>
      </dgm:prSet>
      <dgm:spPr>
        <a:prstGeom prst="roundRect">
          <a:avLst/>
        </a:prstGeom>
      </dgm:spPr>
    </dgm:pt>
    <dgm:pt modelId="{A3093ACF-716F-4DFE-AE24-DE2C2ABF3796}" type="pres">
      <dgm:prSet presAssocID="{D3F4A7D5-683D-4F6B-8060-FC01DBA5A741}" presName="rootConnector1" presStyleLbl="node1" presStyleIdx="0" presStyleCnt="0"/>
      <dgm:spPr/>
    </dgm:pt>
    <dgm:pt modelId="{D9AA15E5-F88B-441B-ABA2-65E24046FAAC}" type="pres">
      <dgm:prSet presAssocID="{D3F4A7D5-683D-4F6B-8060-FC01DBA5A741}" presName="hierChild2" presStyleCnt="0"/>
      <dgm:spPr/>
    </dgm:pt>
    <dgm:pt modelId="{421B93AE-BE51-45C2-958A-EC2B4B44E449}" type="pres">
      <dgm:prSet presAssocID="{432B71A9-8F64-4681-81DF-2B75236B1AD9}" presName="Name47" presStyleLbl="parChTrans1D2" presStyleIdx="0" presStyleCnt="3"/>
      <dgm:spPr/>
    </dgm:pt>
    <dgm:pt modelId="{D009D4F0-15AC-4EC8-9137-76AEF7B870A2}" type="pres">
      <dgm:prSet presAssocID="{1AA0EC51-15A2-4C09-8E8A-2D8A73A55BA4}" presName="hierRoot2" presStyleCnt="0">
        <dgm:presLayoutVars>
          <dgm:hierBranch val="init"/>
        </dgm:presLayoutVars>
      </dgm:prSet>
      <dgm:spPr/>
    </dgm:pt>
    <dgm:pt modelId="{B7E9DB8B-763E-4C2C-B548-CA0679CAE7AF}" type="pres">
      <dgm:prSet presAssocID="{1AA0EC51-15A2-4C09-8E8A-2D8A73A55BA4}" presName="rootComposite" presStyleCnt="0"/>
      <dgm:spPr/>
    </dgm:pt>
    <dgm:pt modelId="{F6FA6216-E376-478A-BE10-0672CF3DBED3}" type="pres">
      <dgm:prSet presAssocID="{1AA0EC51-15A2-4C09-8E8A-2D8A73A55BA4}" presName="rootText" presStyleLbl="node2" presStyleIdx="0" presStyleCnt="3">
        <dgm:presLayoutVars>
          <dgm:chPref val="3"/>
        </dgm:presLayoutVars>
      </dgm:prSet>
      <dgm:spPr>
        <a:prstGeom prst="roundRect">
          <a:avLst/>
        </a:prstGeom>
      </dgm:spPr>
    </dgm:pt>
    <dgm:pt modelId="{109EAF05-1F69-4F62-96DE-70689B2D1DCE}" type="pres">
      <dgm:prSet presAssocID="{1AA0EC51-15A2-4C09-8E8A-2D8A73A55BA4}" presName="rootConnector" presStyleLbl="node2" presStyleIdx="0" presStyleCnt="3"/>
      <dgm:spPr/>
    </dgm:pt>
    <dgm:pt modelId="{9D81B184-990C-48BE-8CE9-8DF9D5ABE381}" type="pres">
      <dgm:prSet presAssocID="{1AA0EC51-15A2-4C09-8E8A-2D8A73A55BA4}" presName="hierChild4" presStyleCnt="0"/>
      <dgm:spPr/>
    </dgm:pt>
    <dgm:pt modelId="{D5A97464-656C-40FF-B91A-7A7737A8111A}" type="pres">
      <dgm:prSet presAssocID="{1AA0EC51-15A2-4C09-8E8A-2D8A73A55BA4}" presName="hierChild5" presStyleCnt="0"/>
      <dgm:spPr/>
    </dgm:pt>
    <dgm:pt modelId="{975FD257-9BF9-44B6-860B-2947E454996B}" type="pres">
      <dgm:prSet presAssocID="{7348CCD5-BD02-4C53-89E8-456BC95A4CCE}" presName="Name47" presStyleLbl="parChTrans1D2" presStyleIdx="1" presStyleCnt="3"/>
      <dgm:spPr/>
    </dgm:pt>
    <dgm:pt modelId="{B43D21F9-E3B0-4BD3-BE3F-D97E6D3760A6}" type="pres">
      <dgm:prSet presAssocID="{0E4DE72E-4A0A-44C5-907C-339FA7CB83D2}" presName="hierRoot2" presStyleCnt="0">
        <dgm:presLayoutVars>
          <dgm:hierBranch val="init"/>
        </dgm:presLayoutVars>
      </dgm:prSet>
      <dgm:spPr/>
    </dgm:pt>
    <dgm:pt modelId="{6594DCA7-6773-4604-B098-FCDF85F2D8C4}" type="pres">
      <dgm:prSet presAssocID="{0E4DE72E-4A0A-44C5-907C-339FA7CB83D2}" presName="rootComposite" presStyleCnt="0"/>
      <dgm:spPr/>
    </dgm:pt>
    <dgm:pt modelId="{3ADF9D05-278A-49C6-B7E6-DD9F5C5D208B}" type="pres">
      <dgm:prSet presAssocID="{0E4DE72E-4A0A-44C5-907C-339FA7CB83D2}" presName="rootText" presStyleLbl="node2" presStyleIdx="1" presStyleCnt="3">
        <dgm:presLayoutVars>
          <dgm:chPref val="3"/>
        </dgm:presLayoutVars>
      </dgm:prSet>
      <dgm:spPr>
        <a:prstGeom prst="roundRect">
          <a:avLst/>
        </a:prstGeom>
      </dgm:spPr>
    </dgm:pt>
    <dgm:pt modelId="{1E694D8C-26AA-4E2B-AB68-59D34E2884DA}" type="pres">
      <dgm:prSet presAssocID="{0E4DE72E-4A0A-44C5-907C-339FA7CB83D2}" presName="rootConnector" presStyleLbl="node2" presStyleIdx="1" presStyleCnt="3"/>
      <dgm:spPr/>
    </dgm:pt>
    <dgm:pt modelId="{F4B606BE-2AA6-4DAF-BBFD-8884FB50EEB0}" type="pres">
      <dgm:prSet presAssocID="{0E4DE72E-4A0A-44C5-907C-339FA7CB83D2}" presName="hierChild4" presStyleCnt="0"/>
      <dgm:spPr/>
    </dgm:pt>
    <dgm:pt modelId="{3FFFADDB-007F-4767-816D-6CFE7C39D545}" type="pres">
      <dgm:prSet presAssocID="{0E4DE72E-4A0A-44C5-907C-339FA7CB83D2}" presName="hierChild5" presStyleCnt="0"/>
      <dgm:spPr/>
    </dgm:pt>
    <dgm:pt modelId="{2505E759-16E1-4DBD-90AE-12610A620AB8}" type="pres">
      <dgm:prSet presAssocID="{AC8909C3-6DD7-4ED1-8D83-8E00209F2F9D}" presName="Name47" presStyleLbl="parChTrans1D2" presStyleIdx="2" presStyleCnt="3"/>
      <dgm:spPr/>
    </dgm:pt>
    <dgm:pt modelId="{4139E75A-957D-4CE4-9EA6-5F446C45052D}" type="pres">
      <dgm:prSet presAssocID="{CAB85D3C-4699-43CB-AAE3-42DBF9F73455}" presName="hierRoot2" presStyleCnt="0">
        <dgm:presLayoutVars>
          <dgm:hierBranch val="init"/>
        </dgm:presLayoutVars>
      </dgm:prSet>
      <dgm:spPr/>
    </dgm:pt>
    <dgm:pt modelId="{A9C3A93A-158F-4698-839B-FEA95D21D3A4}" type="pres">
      <dgm:prSet presAssocID="{CAB85D3C-4699-43CB-AAE3-42DBF9F73455}" presName="rootComposite" presStyleCnt="0"/>
      <dgm:spPr/>
    </dgm:pt>
    <dgm:pt modelId="{D030AF8A-FB32-4235-88D7-E25A358F5EC4}" type="pres">
      <dgm:prSet presAssocID="{CAB85D3C-4699-43CB-AAE3-42DBF9F73455}" presName="rootText" presStyleLbl="node2" presStyleIdx="2" presStyleCnt="3">
        <dgm:presLayoutVars>
          <dgm:chPref val="3"/>
        </dgm:presLayoutVars>
      </dgm:prSet>
      <dgm:spPr>
        <a:prstGeom prst="roundRect">
          <a:avLst/>
        </a:prstGeom>
      </dgm:spPr>
    </dgm:pt>
    <dgm:pt modelId="{2CB2F0B8-A486-4F1E-94D8-4EE9C920927F}" type="pres">
      <dgm:prSet presAssocID="{CAB85D3C-4699-43CB-AAE3-42DBF9F73455}" presName="rootConnector" presStyleLbl="node2" presStyleIdx="2" presStyleCnt="3"/>
      <dgm:spPr/>
    </dgm:pt>
    <dgm:pt modelId="{77A01D7D-93ED-42AC-9A07-E21D50F5A12C}" type="pres">
      <dgm:prSet presAssocID="{CAB85D3C-4699-43CB-AAE3-42DBF9F73455}" presName="hierChild4" presStyleCnt="0"/>
      <dgm:spPr/>
    </dgm:pt>
    <dgm:pt modelId="{69EBD2DF-E731-4A09-A3F2-3CE9AC4DABAD}" type="pres">
      <dgm:prSet presAssocID="{CAB85D3C-4699-43CB-AAE3-42DBF9F73455}" presName="hierChild5" presStyleCnt="0"/>
      <dgm:spPr/>
    </dgm:pt>
    <dgm:pt modelId="{62E8EA10-7B11-42FD-BE5F-4A3E0BE10BDF}" type="pres">
      <dgm:prSet presAssocID="{D3F4A7D5-683D-4F6B-8060-FC01DBA5A741}" presName="hierChild3" presStyleCnt="0"/>
      <dgm:spPr/>
    </dgm:pt>
  </dgm:ptLst>
  <dgm:cxnLst>
    <dgm:cxn modelId="{79CA2B2F-9DB8-4779-ACEF-9861A8A4B3DD}" srcId="{D3F4A7D5-683D-4F6B-8060-FC01DBA5A741}" destId="{1AA0EC51-15A2-4C09-8E8A-2D8A73A55BA4}" srcOrd="0" destOrd="0" parTransId="{432B71A9-8F64-4681-81DF-2B75236B1AD9}" sibTransId="{72EC1556-80CA-4F2A-AC81-B7E5C1A3F4A7}"/>
    <dgm:cxn modelId="{DF58D635-812A-4006-B6FC-FB84870DAE44}" type="presOf" srcId="{D3F4A7D5-683D-4F6B-8060-FC01DBA5A741}" destId="{94B3CD04-F98F-4B35-B7B1-7E1C40A0FA4C}" srcOrd="0" destOrd="0" presId="urn:microsoft.com/office/officeart/2009/3/layout/HorizontalOrganizationChart"/>
    <dgm:cxn modelId="{81DDBC37-06A9-4382-AB8D-81390E63AC30}" type="presOf" srcId="{432B71A9-8F64-4681-81DF-2B75236B1AD9}" destId="{421B93AE-BE51-45C2-958A-EC2B4B44E449}" srcOrd="0" destOrd="0" presId="urn:microsoft.com/office/officeart/2009/3/layout/HorizontalOrganizationChart"/>
    <dgm:cxn modelId="{3688E240-9AC7-4115-A6D2-5F62F94CE924}" type="presOf" srcId="{CAB85D3C-4699-43CB-AAE3-42DBF9F73455}" destId="{D030AF8A-FB32-4235-88D7-E25A358F5EC4}" srcOrd="0" destOrd="0" presId="urn:microsoft.com/office/officeart/2009/3/layout/HorizontalOrganizationChart"/>
    <dgm:cxn modelId="{3186B563-254B-430F-B329-58FDCEC5BF43}" type="presOf" srcId="{CAB85D3C-4699-43CB-AAE3-42DBF9F73455}" destId="{2CB2F0B8-A486-4F1E-94D8-4EE9C920927F}" srcOrd="1" destOrd="0" presId="urn:microsoft.com/office/officeart/2009/3/layout/HorizontalOrganizationChart"/>
    <dgm:cxn modelId="{D8BC5F46-C1F2-4D85-B570-BB10942E4DF1}" type="presOf" srcId="{97A5C339-9A7A-48E7-91E9-AF1D1D8C193E}" destId="{7D970598-4A7B-449D-8DAF-C58717E9C16B}" srcOrd="0" destOrd="0" presId="urn:microsoft.com/office/officeart/2009/3/layout/HorizontalOrganizationChart"/>
    <dgm:cxn modelId="{C9CF1D6B-115F-41CD-83C8-180B28B80D07}" srcId="{D3F4A7D5-683D-4F6B-8060-FC01DBA5A741}" destId="{0E4DE72E-4A0A-44C5-907C-339FA7CB83D2}" srcOrd="1" destOrd="0" parTransId="{7348CCD5-BD02-4C53-89E8-456BC95A4CCE}" sibTransId="{17078832-3185-45CF-BC99-1135E9ABD9D1}"/>
    <dgm:cxn modelId="{C2028C54-43F6-43F0-8727-90885622FA35}" srcId="{D3F4A7D5-683D-4F6B-8060-FC01DBA5A741}" destId="{CAB85D3C-4699-43CB-AAE3-42DBF9F73455}" srcOrd="2" destOrd="0" parTransId="{AC8909C3-6DD7-4ED1-8D83-8E00209F2F9D}" sibTransId="{81E0D942-6B34-4197-A2AF-CFDE08AD7725}"/>
    <dgm:cxn modelId="{32CD3278-341D-42E4-A2EA-67855393D585}" type="presOf" srcId="{AC8909C3-6DD7-4ED1-8D83-8E00209F2F9D}" destId="{2505E759-16E1-4DBD-90AE-12610A620AB8}" srcOrd="0" destOrd="0" presId="urn:microsoft.com/office/officeart/2009/3/layout/HorizontalOrganizationChart"/>
    <dgm:cxn modelId="{2820BF78-36B7-4D46-A51A-24C05D039B21}" type="presOf" srcId="{0E4DE72E-4A0A-44C5-907C-339FA7CB83D2}" destId="{1E694D8C-26AA-4E2B-AB68-59D34E2884DA}" srcOrd="1" destOrd="0" presId="urn:microsoft.com/office/officeart/2009/3/layout/HorizontalOrganizationChart"/>
    <dgm:cxn modelId="{BE9CEB80-560C-4E9C-9607-034A39B02491}" type="presOf" srcId="{1AA0EC51-15A2-4C09-8E8A-2D8A73A55BA4}" destId="{109EAF05-1F69-4F62-96DE-70689B2D1DCE}" srcOrd="1" destOrd="0" presId="urn:microsoft.com/office/officeart/2009/3/layout/HorizontalOrganizationChart"/>
    <dgm:cxn modelId="{4FD8CC83-A96C-4B74-8F66-034B21632CAF}" type="presOf" srcId="{0E4DE72E-4A0A-44C5-907C-339FA7CB83D2}" destId="{3ADF9D05-278A-49C6-B7E6-DD9F5C5D208B}" srcOrd="0" destOrd="0" presId="urn:microsoft.com/office/officeart/2009/3/layout/HorizontalOrganizationChart"/>
    <dgm:cxn modelId="{3A53C699-2C17-40A6-9857-F2A49A109B25}" type="presOf" srcId="{7348CCD5-BD02-4C53-89E8-456BC95A4CCE}" destId="{975FD257-9BF9-44B6-860B-2947E454996B}" srcOrd="0" destOrd="0" presId="urn:microsoft.com/office/officeart/2009/3/layout/HorizontalOrganizationChart"/>
    <dgm:cxn modelId="{E38154A2-1687-47B4-A177-43D1C4A68436}" type="presOf" srcId="{1AA0EC51-15A2-4C09-8E8A-2D8A73A55BA4}" destId="{F6FA6216-E376-478A-BE10-0672CF3DBED3}" srcOrd="0" destOrd="0" presId="urn:microsoft.com/office/officeart/2009/3/layout/HorizontalOrganizationChart"/>
    <dgm:cxn modelId="{4710ACAF-E667-4DCE-827D-219CB72C1C78}" srcId="{97A5C339-9A7A-48E7-91E9-AF1D1D8C193E}" destId="{D3F4A7D5-683D-4F6B-8060-FC01DBA5A741}" srcOrd="0" destOrd="0" parTransId="{485F75E4-3F58-4CD8-986A-B622EB11A1D8}" sibTransId="{A2129C23-DAA6-49C4-A73A-503C66D58FB5}"/>
    <dgm:cxn modelId="{3DD68BF2-E41F-4317-956F-D9136D37038D}" type="presOf" srcId="{D3F4A7D5-683D-4F6B-8060-FC01DBA5A741}" destId="{A3093ACF-716F-4DFE-AE24-DE2C2ABF3796}" srcOrd="1" destOrd="0" presId="urn:microsoft.com/office/officeart/2009/3/layout/HorizontalOrganizationChart"/>
    <dgm:cxn modelId="{D5D024C4-A8E2-4B31-A8A2-36420D027314}" type="presParOf" srcId="{7D970598-4A7B-449D-8DAF-C58717E9C16B}" destId="{B2F6B32D-367A-45CD-9BFF-52A770791918}" srcOrd="0" destOrd="0" presId="urn:microsoft.com/office/officeart/2009/3/layout/HorizontalOrganizationChart"/>
    <dgm:cxn modelId="{A710608A-4E07-4574-BF61-5902DC904C89}" type="presParOf" srcId="{B2F6B32D-367A-45CD-9BFF-52A770791918}" destId="{E06F50B6-E71F-47FE-8169-D4ADC356D238}" srcOrd="0" destOrd="0" presId="urn:microsoft.com/office/officeart/2009/3/layout/HorizontalOrganizationChart"/>
    <dgm:cxn modelId="{B01E1FFA-7FF2-49A4-8A11-F81E9EC54CB2}" type="presParOf" srcId="{E06F50B6-E71F-47FE-8169-D4ADC356D238}" destId="{94B3CD04-F98F-4B35-B7B1-7E1C40A0FA4C}" srcOrd="0" destOrd="0" presId="urn:microsoft.com/office/officeart/2009/3/layout/HorizontalOrganizationChart"/>
    <dgm:cxn modelId="{5B17F853-E82B-4060-8A3A-6B20034A6E9A}" type="presParOf" srcId="{E06F50B6-E71F-47FE-8169-D4ADC356D238}" destId="{A3093ACF-716F-4DFE-AE24-DE2C2ABF3796}" srcOrd="1" destOrd="0" presId="urn:microsoft.com/office/officeart/2009/3/layout/HorizontalOrganizationChart"/>
    <dgm:cxn modelId="{ACCF948D-91C4-4253-ACED-88E53A51EF76}" type="presParOf" srcId="{B2F6B32D-367A-45CD-9BFF-52A770791918}" destId="{D9AA15E5-F88B-441B-ABA2-65E24046FAAC}" srcOrd="1" destOrd="0" presId="urn:microsoft.com/office/officeart/2009/3/layout/HorizontalOrganizationChart"/>
    <dgm:cxn modelId="{51C590A4-EC4F-42CF-B866-CB78ADFB92F9}" type="presParOf" srcId="{D9AA15E5-F88B-441B-ABA2-65E24046FAAC}" destId="{421B93AE-BE51-45C2-958A-EC2B4B44E449}" srcOrd="0" destOrd="0" presId="urn:microsoft.com/office/officeart/2009/3/layout/HorizontalOrganizationChart"/>
    <dgm:cxn modelId="{0E855470-6E08-4022-8064-F5C07B3ABAB0}" type="presParOf" srcId="{D9AA15E5-F88B-441B-ABA2-65E24046FAAC}" destId="{D009D4F0-15AC-4EC8-9137-76AEF7B870A2}" srcOrd="1" destOrd="0" presId="urn:microsoft.com/office/officeart/2009/3/layout/HorizontalOrganizationChart"/>
    <dgm:cxn modelId="{A15DAC25-60ED-4004-87F0-F4FDBDB73AEA}" type="presParOf" srcId="{D009D4F0-15AC-4EC8-9137-76AEF7B870A2}" destId="{B7E9DB8B-763E-4C2C-B548-CA0679CAE7AF}" srcOrd="0" destOrd="0" presId="urn:microsoft.com/office/officeart/2009/3/layout/HorizontalOrganizationChart"/>
    <dgm:cxn modelId="{E26C7484-80A3-40F7-B9C3-527EF00B769F}" type="presParOf" srcId="{B7E9DB8B-763E-4C2C-B548-CA0679CAE7AF}" destId="{F6FA6216-E376-478A-BE10-0672CF3DBED3}" srcOrd="0" destOrd="0" presId="urn:microsoft.com/office/officeart/2009/3/layout/HorizontalOrganizationChart"/>
    <dgm:cxn modelId="{88DC5908-B42E-424C-9320-54435BF88A78}" type="presParOf" srcId="{B7E9DB8B-763E-4C2C-B548-CA0679CAE7AF}" destId="{109EAF05-1F69-4F62-96DE-70689B2D1DCE}" srcOrd="1" destOrd="0" presId="urn:microsoft.com/office/officeart/2009/3/layout/HorizontalOrganizationChart"/>
    <dgm:cxn modelId="{168940AA-F587-4F14-8F36-3638C2CF3B67}" type="presParOf" srcId="{D009D4F0-15AC-4EC8-9137-76AEF7B870A2}" destId="{9D81B184-990C-48BE-8CE9-8DF9D5ABE381}" srcOrd="1" destOrd="0" presId="urn:microsoft.com/office/officeart/2009/3/layout/HorizontalOrganizationChart"/>
    <dgm:cxn modelId="{9355F045-1EBD-4A89-9275-AF36C8CC29C6}" type="presParOf" srcId="{D009D4F0-15AC-4EC8-9137-76AEF7B870A2}" destId="{D5A97464-656C-40FF-B91A-7A7737A8111A}" srcOrd="2" destOrd="0" presId="urn:microsoft.com/office/officeart/2009/3/layout/HorizontalOrganizationChart"/>
    <dgm:cxn modelId="{1D35BD0B-E8BA-497E-830F-FBFC0D80FA45}" type="presParOf" srcId="{D9AA15E5-F88B-441B-ABA2-65E24046FAAC}" destId="{975FD257-9BF9-44B6-860B-2947E454996B}" srcOrd="2" destOrd="0" presId="urn:microsoft.com/office/officeart/2009/3/layout/HorizontalOrganizationChart"/>
    <dgm:cxn modelId="{9757BF99-F02A-4A5D-A96D-958C77FF4004}" type="presParOf" srcId="{D9AA15E5-F88B-441B-ABA2-65E24046FAAC}" destId="{B43D21F9-E3B0-4BD3-BE3F-D97E6D3760A6}" srcOrd="3" destOrd="0" presId="urn:microsoft.com/office/officeart/2009/3/layout/HorizontalOrganizationChart"/>
    <dgm:cxn modelId="{F95F7065-8A69-4F05-B75D-EF4F7BE73E32}" type="presParOf" srcId="{B43D21F9-E3B0-4BD3-BE3F-D97E6D3760A6}" destId="{6594DCA7-6773-4604-B098-FCDF85F2D8C4}" srcOrd="0" destOrd="0" presId="urn:microsoft.com/office/officeart/2009/3/layout/HorizontalOrganizationChart"/>
    <dgm:cxn modelId="{D386AC13-41E5-47C4-A24E-4F8EDBD6F357}" type="presParOf" srcId="{6594DCA7-6773-4604-B098-FCDF85F2D8C4}" destId="{3ADF9D05-278A-49C6-B7E6-DD9F5C5D208B}" srcOrd="0" destOrd="0" presId="urn:microsoft.com/office/officeart/2009/3/layout/HorizontalOrganizationChart"/>
    <dgm:cxn modelId="{C8D03374-B61F-47D1-AE36-F80A19D85BE2}" type="presParOf" srcId="{6594DCA7-6773-4604-B098-FCDF85F2D8C4}" destId="{1E694D8C-26AA-4E2B-AB68-59D34E2884DA}" srcOrd="1" destOrd="0" presId="urn:microsoft.com/office/officeart/2009/3/layout/HorizontalOrganizationChart"/>
    <dgm:cxn modelId="{61ED315E-31F0-451A-BCDB-EAACE9E3631D}" type="presParOf" srcId="{B43D21F9-E3B0-4BD3-BE3F-D97E6D3760A6}" destId="{F4B606BE-2AA6-4DAF-BBFD-8884FB50EEB0}" srcOrd="1" destOrd="0" presId="urn:microsoft.com/office/officeart/2009/3/layout/HorizontalOrganizationChart"/>
    <dgm:cxn modelId="{7DD2BF12-3D63-42A8-B665-C291A0BF3591}" type="presParOf" srcId="{B43D21F9-E3B0-4BD3-BE3F-D97E6D3760A6}" destId="{3FFFADDB-007F-4767-816D-6CFE7C39D545}" srcOrd="2" destOrd="0" presId="urn:microsoft.com/office/officeart/2009/3/layout/HorizontalOrganizationChart"/>
    <dgm:cxn modelId="{93132B51-5740-4390-A2FF-50B227F6EE08}" type="presParOf" srcId="{D9AA15E5-F88B-441B-ABA2-65E24046FAAC}" destId="{2505E759-16E1-4DBD-90AE-12610A620AB8}" srcOrd="4" destOrd="0" presId="urn:microsoft.com/office/officeart/2009/3/layout/HorizontalOrganizationChart"/>
    <dgm:cxn modelId="{81083D8F-13AF-40F6-85CC-BE072BF331C4}" type="presParOf" srcId="{D9AA15E5-F88B-441B-ABA2-65E24046FAAC}" destId="{4139E75A-957D-4CE4-9EA6-5F446C45052D}" srcOrd="5" destOrd="0" presId="urn:microsoft.com/office/officeart/2009/3/layout/HorizontalOrganizationChart"/>
    <dgm:cxn modelId="{36840D89-BB4B-4D4B-B04E-5C90A272B650}" type="presParOf" srcId="{4139E75A-957D-4CE4-9EA6-5F446C45052D}" destId="{A9C3A93A-158F-4698-839B-FEA95D21D3A4}" srcOrd="0" destOrd="0" presId="urn:microsoft.com/office/officeart/2009/3/layout/HorizontalOrganizationChart"/>
    <dgm:cxn modelId="{6B6E0E10-420C-45CA-B986-6ADD6D2AE326}" type="presParOf" srcId="{A9C3A93A-158F-4698-839B-FEA95D21D3A4}" destId="{D030AF8A-FB32-4235-88D7-E25A358F5EC4}" srcOrd="0" destOrd="0" presId="urn:microsoft.com/office/officeart/2009/3/layout/HorizontalOrganizationChart"/>
    <dgm:cxn modelId="{6A11762B-C84F-44C7-AF48-2CCD5C369651}" type="presParOf" srcId="{A9C3A93A-158F-4698-839B-FEA95D21D3A4}" destId="{2CB2F0B8-A486-4F1E-94D8-4EE9C920927F}" srcOrd="1" destOrd="0" presId="urn:microsoft.com/office/officeart/2009/3/layout/HorizontalOrganizationChart"/>
    <dgm:cxn modelId="{D50B22BB-BE6E-4911-A71D-422BF8616E24}" type="presParOf" srcId="{4139E75A-957D-4CE4-9EA6-5F446C45052D}" destId="{77A01D7D-93ED-42AC-9A07-E21D50F5A12C}" srcOrd="1" destOrd="0" presId="urn:microsoft.com/office/officeart/2009/3/layout/HorizontalOrganizationChart"/>
    <dgm:cxn modelId="{0C443CF0-CE99-46C7-A485-9A20B69DE600}" type="presParOf" srcId="{4139E75A-957D-4CE4-9EA6-5F446C45052D}" destId="{69EBD2DF-E731-4A09-A3F2-3CE9AC4DABAD}" srcOrd="2" destOrd="0" presId="urn:microsoft.com/office/officeart/2009/3/layout/HorizontalOrganizationChart"/>
    <dgm:cxn modelId="{D2F9359C-0BBD-4426-9D75-EDC82C00CF26}" type="presParOf" srcId="{B2F6B32D-367A-45CD-9BFF-52A770791918}" destId="{62E8EA10-7B11-42FD-BE5F-4A3E0BE10BDF}" srcOrd="2" destOrd="0" presId="urn:microsoft.com/office/officeart/2009/3/layout/HorizontalOrganizationChar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7A5C339-9A7A-48E7-91E9-AF1D1D8C193E}" type="doc">
      <dgm:prSet loTypeId="urn:microsoft.com/office/officeart/2009/3/layout/HorizontalOrganizationChart" loCatId="hierarchy" qsTypeId="urn:microsoft.com/office/officeart/2005/8/quickstyle/3d3" qsCatId="3D" csTypeId="urn:microsoft.com/office/officeart/2005/8/colors/accent2_1" csCatId="accent2" phldr="1"/>
      <dgm:spPr/>
      <dgm:t>
        <a:bodyPr/>
        <a:lstStyle/>
        <a:p>
          <a:endParaRPr lang="en-US"/>
        </a:p>
      </dgm:t>
    </dgm:pt>
    <dgm:pt modelId="{D3F4A7D5-683D-4F6B-8060-FC01DBA5A741}">
      <dgm:prSet phldrT="[Text]" custT="1"/>
      <dgm:spPr/>
      <dgm:t>
        <a:bodyPr/>
        <a:lstStyle/>
        <a:p>
          <a:r>
            <a:rPr lang="en-US" sz="1600" dirty="0"/>
            <a:t>Housing and Utilities</a:t>
          </a:r>
        </a:p>
      </dgm:t>
    </dgm:pt>
    <dgm:pt modelId="{485F75E4-3F58-4CD8-986A-B622EB11A1D8}" type="parTrans" cxnId="{4710ACAF-E667-4DCE-827D-219CB72C1C78}">
      <dgm:prSet/>
      <dgm:spPr/>
      <dgm:t>
        <a:bodyPr/>
        <a:lstStyle/>
        <a:p>
          <a:endParaRPr lang="en-US"/>
        </a:p>
      </dgm:t>
    </dgm:pt>
    <dgm:pt modelId="{A2129C23-DAA6-49C4-A73A-503C66D58FB5}" type="sibTrans" cxnId="{4710ACAF-E667-4DCE-827D-219CB72C1C78}">
      <dgm:prSet/>
      <dgm:spPr/>
      <dgm:t>
        <a:bodyPr/>
        <a:lstStyle/>
        <a:p>
          <a:endParaRPr lang="en-US"/>
        </a:p>
      </dgm:t>
    </dgm:pt>
    <dgm:pt modelId="{1AA0EC51-15A2-4C09-8E8A-2D8A73A55BA4}">
      <dgm:prSet phldrT="[Text]" custT="1"/>
      <dgm:spPr/>
      <dgm:t>
        <a:bodyPr/>
        <a:lstStyle/>
        <a:p>
          <a:r>
            <a:rPr lang="en-US" sz="1600" dirty="0"/>
            <a:t>Housing</a:t>
          </a:r>
        </a:p>
      </dgm:t>
    </dgm:pt>
    <dgm:pt modelId="{432B71A9-8F64-4681-81DF-2B75236B1AD9}" type="parTrans" cxnId="{79CA2B2F-9DB8-4779-ACEF-9861A8A4B3DD}">
      <dgm:prSet/>
      <dgm:spPr/>
      <dgm:t>
        <a:bodyPr/>
        <a:lstStyle/>
        <a:p>
          <a:endParaRPr lang="en-US"/>
        </a:p>
      </dgm:t>
    </dgm:pt>
    <dgm:pt modelId="{72EC1556-80CA-4F2A-AC81-B7E5C1A3F4A7}" type="sibTrans" cxnId="{79CA2B2F-9DB8-4779-ACEF-9861A8A4B3DD}">
      <dgm:prSet/>
      <dgm:spPr/>
      <dgm:t>
        <a:bodyPr/>
        <a:lstStyle/>
        <a:p>
          <a:endParaRPr lang="en-US"/>
        </a:p>
      </dgm:t>
    </dgm:pt>
    <dgm:pt modelId="{0E4DE72E-4A0A-44C5-907C-339FA7CB83D2}">
      <dgm:prSet phldrT="[Text]" custT="1"/>
      <dgm:spPr/>
      <dgm:t>
        <a:bodyPr/>
        <a:lstStyle/>
        <a:p>
          <a:r>
            <a:rPr lang="en-US" sz="1600" dirty="0"/>
            <a:t>Fuel and light</a:t>
          </a:r>
        </a:p>
      </dgm:t>
    </dgm:pt>
    <dgm:pt modelId="{7348CCD5-BD02-4C53-89E8-456BC95A4CCE}" type="parTrans" cxnId="{C9CF1D6B-115F-41CD-83C8-180B28B80D07}">
      <dgm:prSet/>
      <dgm:spPr/>
      <dgm:t>
        <a:bodyPr/>
        <a:lstStyle/>
        <a:p>
          <a:endParaRPr lang="en-US"/>
        </a:p>
      </dgm:t>
    </dgm:pt>
    <dgm:pt modelId="{17078832-3185-45CF-BC99-1135E9ABD9D1}" type="sibTrans" cxnId="{C9CF1D6B-115F-41CD-83C8-180B28B80D07}">
      <dgm:prSet/>
      <dgm:spPr/>
      <dgm:t>
        <a:bodyPr/>
        <a:lstStyle/>
        <a:p>
          <a:endParaRPr lang="en-US"/>
        </a:p>
      </dgm:t>
    </dgm:pt>
    <dgm:pt modelId="{CAB85D3C-4699-43CB-AAE3-42DBF9F73455}">
      <dgm:prSet phldrT="[Text]" custT="1"/>
      <dgm:spPr/>
      <dgm:t>
        <a:bodyPr/>
        <a:lstStyle/>
        <a:p>
          <a:r>
            <a:rPr lang="en-US" sz="1600" dirty="0"/>
            <a:t>Household goods and services</a:t>
          </a:r>
        </a:p>
      </dgm:t>
    </dgm:pt>
    <dgm:pt modelId="{AC8909C3-6DD7-4ED1-8D83-8E00209F2F9D}" type="parTrans" cxnId="{C2028C54-43F6-43F0-8727-90885622FA35}">
      <dgm:prSet/>
      <dgm:spPr/>
      <dgm:t>
        <a:bodyPr/>
        <a:lstStyle/>
        <a:p>
          <a:endParaRPr lang="en-US"/>
        </a:p>
      </dgm:t>
    </dgm:pt>
    <dgm:pt modelId="{81E0D942-6B34-4197-A2AF-CFDE08AD7725}" type="sibTrans" cxnId="{C2028C54-43F6-43F0-8727-90885622FA35}">
      <dgm:prSet/>
      <dgm:spPr/>
      <dgm:t>
        <a:bodyPr/>
        <a:lstStyle/>
        <a:p>
          <a:endParaRPr lang="en-US"/>
        </a:p>
      </dgm:t>
    </dgm:pt>
    <dgm:pt modelId="{7D970598-4A7B-449D-8DAF-C58717E9C16B}" type="pres">
      <dgm:prSet presAssocID="{97A5C339-9A7A-48E7-91E9-AF1D1D8C193E}" presName="hierChild1" presStyleCnt="0">
        <dgm:presLayoutVars>
          <dgm:orgChart val="1"/>
          <dgm:chPref val="1"/>
          <dgm:dir/>
          <dgm:animOne val="branch"/>
          <dgm:animLvl val="lvl"/>
          <dgm:resizeHandles/>
        </dgm:presLayoutVars>
      </dgm:prSet>
      <dgm:spPr/>
    </dgm:pt>
    <dgm:pt modelId="{B2F6B32D-367A-45CD-9BFF-52A770791918}" type="pres">
      <dgm:prSet presAssocID="{D3F4A7D5-683D-4F6B-8060-FC01DBA5A741}" presName="hierRoot1" presStyleCnt="0">
        <dgm:presLayoutVars>
          <dgm:hierBranch val="hang"/>
        </dgm:presLayoutVars>
      </dgm:prSet>
      <dgm:spPr/>
    </dgm:pt>
    <dgm:pt modelId="{E06F50B6-E71F-47FE-8169-D4ADC356D238}" type="pres">
      <dgm:prSet presAssocID="{D3F4A7D5-683D-4F6B-8060-FC01DBA5A741}" presName="rootComposite1" presStyleCnt="0"/>
      <dgm:spPr/>
    </dgm:pt>
    <dgm:pt modelId="{94B3CD04-F98F-4B35-B7B1-7E1C40A0FA4C}" type="pres">
      <dgm:prSet presAssocID="{D3F4A7D5-683D-4F6B-8060-FC01DBA5A741}" presName="rootText1" presStyleLbl="node0" presStyleIdx="0" presStyleCnt="1" custScaleX="109176" custScaleY="93932">
        <dgm:presLayoutVars>
          <dgm:chPref val="3"/>
        </dgm:presLayoutVars>
      </dgm:prSet>
      <dgm:spPr>
        <a:prstGeom prst="roundRect">
          <a:avLst/>
        </a:prstGeom>
      </dgm:spPr>
    </dgm:pt>
    <dgm:pt modelId="{A3093ACF-716F-4DFE-AE24-DE2C2ABF3796}" type="pres">
      <dgm:prSet presAssocID="{D3F4A7D5-683D-4F6B-8060-FC01DBA5A741}" presName="rootConnector1" presStyleLbl="node1" presStyleIdx="0" presStyleCnt="0"/>
      <dgm:spPr/>
    </dgm:pt>
    <dgm:pt modelId="{D9AA15E5-F88B-441B-ABA2-65E24046FAAC}" type="pres">
      <dgm:prSet presAssocID="{D3F4A7D5-683D-4F6B-8060-FC01DBA5A741}" presName="hierChild2" presStyleCnt="0"/>
      <dgm:spPr/>
    </dgm:pt>
    <dgm:pt modelId="{421B93AE-BE51-45C2-958A-EC2B4B44E449}" type="pres">
      <dgm:prSet presAssocID="{432B71A9-8F64-4681-81DF-2B75236B1AD9}" presName="Name47" presStyleLbl="parChTrans1D2" presStyleIdx="0" presStyleCnt="3"/>
      <dgm:spPr/>
    </dgm:pt>
    <dgm:pt modelId="{D009D4F0-15AC-4EC8-9137-76AEF7B870A2}" type="pres">
      <dgm:prSet presAssocID="{1AA0EC51-15A2-4C09-8E8A-2D8A73A55BA4}" presName="hierRoot2" presStyleCnt="0">
        <dgm:presLayoutVars>
          <dgm:hierBranch val="init"/>
        </dgm:presLayoutVars>
      </dgm:prSet>
      <dgm:spPr/>
    </dgm:pt>
    <dgm:pt modelId="{B7E9DB8B-763E-4C2C-B548-CA0679CAE7AF}" type="pres">
      <dgm:prSet presAssocID="{1AA0EC51-15A2-4C09-8E8A-2D8A73A55BA4}" presName="rootComposite" presStyleCnt="0"/>
      <dgm:spPr/>
    </dgm:pt>
    <dgm:pt modelId="{F6FA6216-E376-478A-BE10-0672CF3DBED3}" type="pres">
      <dgm:prSet presAssocID="{1AA0EC51-15A2-4C09-8E8A-2D8A73A55BA4}" presName="rootText" presStyleLbl="node2" presStyleIdx="0" presStyleCnt="3">
        <dgm:presLayoutVars>
          <dgm:chPref val="3"/>
        </dgm:presLayoutVars>
      </dgm:prSet>
      <dgm:spPr>
        <a:prstGeom prst="roundRect">
          <a:avLst/>
        </a:prstGeom>
      </dgm:spPr>
    </dgm:pt>
    <dgm:pt modelId="{109EAF05-1F69-4F62-96DE-70689B2D1DCE}" type="pres">
      <dgm:prSet presAssocID="{1AA0EC51-15A2-4C09-8E8A-2D8A73A55BA4}" presName="rootConnector" presStyleLbl="node2" presStyleIdx="0" presStyleCnt="3"/>
      <dgm:spPr/>
    </dgm:pt>
    <dgm:pt modelId="{9D81B184-990C-48BE-8CE9-8DF9D5ABE381}" type="pres">
      <dgm:prSet presAssocID="{1AA0EC51-15A2-4C09-8E8A-2D8A73A55BA4}" presName="hierChild4" presStyleCnt="0"/>
      <dgm:spPr/>
    </dgm:pt>
    <dgm:pt modelId="{D5A97464-656C-40FF-B91A-7A7737A8111A}" type="pres">
      <dgm:prSet presAssocID="{1AA0EC51-15A2-4C09-8E8A-2D8A73A55BA4}" presName="hierChild5" presStyleCnt="0"/>
      <dgm:spPr/>
    </dgm:pt>
    <dgm:pt modelId="{975FD257-9BF9-44B6-860B-2947E454996B}" type="pres">
      <dgm:prSet presAssocID="{7348CCD5-BD02-4C53-89E8-456BC95A4CCE}" presName="Name47" presStyleLbl="parChTrans1D2" presStyleIdx="1" presStyleCnt="3"/>
      <dgm:spPr/>
    </dgm:pt>
    <dgm:pt modelId="{B43D21F9-E3B0-4BD3-BE3F-D97E6D3760A6}" type="pres">
      <dgm:prSet presAssocID="{0E4DE72E-4A0A-44C5-907C-339FA7CB83D2}" presName="hierRoot2" presStyleCnt="0">
        <dgm:presLayoutVars>
          <dgm:hierBranch val="init"/>
        </dgm:presLayoutVars>
      </dgm:prSet>
      <dgm:spPr/>
    </dgm:pt>
    <dgm:pt modelId="{6594DCA7-6773-4604-B098-FCDF85F2D8C4}" type="pres">
      <dgm:prSet presAssocID="{0E4DE72E-4A0A-44C5-907C-339FA7CB83D2}" presName="rootComposite" presStyleCnt="0"/>
      <dgm:spPr/>
    </dgm:pt>
    <dgm:pt modelId="{3ADF9D05-278A-49C6-B7E6-DD9F5C5D208B}" type="pres">
      <dgm:prSet presAssocID="{0E4DE72E-4A0A-44C5-907C-339FA7CB83D2}" presName="rootText" presStyleLbl="node2" presStyleIdx="1" presStyleCnt="3">
        <dgm:presLayoutVars>
          <dgm:chPref val="3"/>
        </dgm:presLayoutVars>
      </dgm:prSet>
      <dgm:spPr>
        <a:prstGeom prst="roundRect">
          <a:avLst/>
        </a:prstGeom>
      </dgm:spPr>
    </dgm:pt>
    <dgm:pt modelId="{1E694D8C-26AA-4E2B-AB68-59D34E2884DA}" type="pres">
      <dgm:prSet presAssocID="{0E4DE72E-4A0A-44C5-907C-339FA7CB83D2}" presName="rootConnector" presStyleLbl="node2" presStyleIdx="1" presStyleCnt="3"/>
      <dgm:spPr/>
    </dgm:pt>
    <dgm:pt modelId="{F4B606BE-2AA6-4DAF-BBFD-8884FB50EEB0}" type="pres">
      <dgm:prSet presAssocID="{0E4DE72E-4A0A-44C5-907C-339FA7CB83D2}" presName="hierChild4" presStyleCnt="0"/>
      <dgm:spPr/>
    </dgm:pt>
    <dgm:pt modelId="{3FFFADDB-007F-4767-816D-6CFE7C39D545}" type="pres">
      <dgm:prSet presAssocID="{0E4DE72E-4A0A-44C5-907C-339FA7CB83D2}" presName="hierChild5" presStyleCnt="0"/>
      <dgm:spPr/>
    </dgm:pt>
    <dgm:pt modelId="{2505E759-16E1-4DBD-90AE-12610A620AB8}" type="pres">
      <dgm:prSet presAssocID="{AC8909C3-6DD7-4ED1-8D83-8E00209F2F9D}" presName="Name47" presStyleLbl="parChTrans1D2" presStyleIdx="2" presStyleCnt="3"/>
      <dgm:spPr/>
    </dgm:pt>
    <dgm:pt modelId="{4139E75A-957D-4CE4-9EA6-5F446C45052D}" type="pres">
      <dgm:prSet presAssocID="{CAB85D3C-4699-43CB-AAE3-42DBF9F73455}" presName="hierRoot2" presStyleCnt="0">
        <dgm:presLayoutVars>
          <dgm:hierBranch val="init"/>
        </dgm:presLayoutVars>
      </dgm:prSet>
      <dgm:spPr/>
    </dgm:pt>
    <dgm:pt modelId="{A9C3A93A-158F-4698-839B-FEA95D21D3A4}" type="pres">
      <dgm:prSet presAssocID="{CAB85D3C-4699-43CB-AAE3-42DBF9F73455}" presName="rootComposite" presStyleCnt="0"/>
      <dgm:spPr/>
    </dgm:pt>
    <dgm:pt modelId="{D030AF8A-FB32-4235-88D7-E25A358F5EC4}" type="pres">
      <dgm:prSet presAssocID="{CAB85D3C-4699-43CB-AAE3-42DBF9F73455}" presName="rootText" presStyleLbl="node2" presStyleIdx="2" presStyleCnt="3" custScaleX="113329">
        <dgm:presLayoutVars>
          <dgm:chPref val="3"/>
        </dgm:presLayoutVars>
      </dgm:prSet>
      <dgm:spPr>
        <a:prstGeom prst="roundRect">
          <a:avLst/>
        </a:prstGeom>
      </dgm:spPr>
    </dgm:pt>
    <dgm:pt modelId="{2CB2F0B8-A486-4F1E-94D8-4EE9C920927F}" type="pres">
      <dgm:prSet presAssocID="{CAB85D3C-4699-43CB-AAE3-42DBF9F73455}" presName="rootConnector" presStyleLbl="node2" presStyleIdx="2" presStyleCnt="3"/>
      <dgm:spPr/>
    </dgm:pt>
    <dgm:pt modelId="{77A01D7D-93ED-42AC-9A07-E21D50F5A12C}" type="pres">
      <dgm:prSet presAssocID="{CAB85D3C-4699-43CB-AAE3-42DBF9F73455}" presName="hierChild4" presStyleCnt="0"/>
      <dgm:spPr/>
    </dgm:pt>
    <dgm:pt modelId="{69EBD2DF-E731-4A09-A3F2-3CE9AC4DABAD}" type="pres">
      <dgm:prSet presAssocID="{CAB85D3C-4699-43CB-AAE3-42DBF9F73455}" presName="hierChild5" presStyleCnt="0"/>
      <dgm:spPr/>
    </dgm:pt>
    <dgm:pt modelId="{62E8EA10-7B11-42FD-BE5F-4A3E0BE10BDF}" type="pres">
      <dgm:prSet presAssocID="{D3F4A7D5-683D-4F6B-8060-FC01DBA5A741}" presName="hierChild3" presStyleCnt="0"/>
      <dgm:spPr/>
    </dgm:pt>
  </dgm:ptLst>
  <dgm:cxnLst>
    <dgm:cxn modelId="{903FD50B-8B4A-4F7B-9CBD-94E19A225019}" type="presOf" srcId="{1AA0EC51-15A2-4C09-8E8A-2D8A73A55BA4}" destId="{F6FA6216-E376-478A-BE10-0672CF3DBED3}" srcOrd="0" destOrd="0" presId="urn:microsoft.com/office/officeart/2009/3/layout/HorizontalOrganizationChart"/>
    <dgm:cxn modelId="{79CA2B2F-9DB8-4779-ACEF-9861A8A4B3DD}" srcId="{D3F4A7D5-683D-4F6B-8060-FC01DBA5A741}" destId="{1AA0EC51-15A2-4C09-8E8A-2D8A73A55BA4}" srcOrd="0" destOrd="0" parTransId="{432B71A9-8F64-4681-81DF-2B75236B1AD9}" sibTransId="{72EC1556-80CA-4F2A-AC81-B7E5C1A3F4A7}"/>
    <dgm:cxn modelId="{DF58D635-812A-4006-B6FC-FB84870DAE44}" type="presOf" srcId="{D3F4A7D5-683D-4F6B-8060-FC01DBA5A741}" destId="{94B3CD04-F98F-4B35-B7B1-7E1C40A0FA4C}" srcOrd="0" destOrd="0" presId="urn:microsoft.com/office/officeart/2009/3/layout/HorizontalOrganizationChart"/>
    <dgm:cxn modelId="{81DDBC37-06A9-4382-AB8D-81390E63AC30}" type="presOf" srcId="{432B71A9-8F64-4681-81DF-2B75236B1AD9}" destId="{421B93AE-BE51-45C2-958A-EC2B4B44E449}" srcOrd="0" destOrd="0" presId="urn:microsoft.com/office/officeart/2009/3/layout/HorizontalOrganizationChart"/>
    <dgm:cxn modelId="{3688E240-9AC7-4115-A6D2-5F62F94CE924}" type="presOf" srcId="{CAB85D3C-4699-43CB-AAE3-42DBF9F73455}" destId="{D030AF8A-FB32-4235-88D7-E25A358F5EC4}" srcOrd="0" destOrd="0" presId="urn:microsoft.com/office/officeart/2009/3/layout/HorizontalOrganizationChart"/>
    <dgm:cxn modelId="{3186B563-254B-430F-B329-58FDCEC5BF43}" type="presOf" srcId="{CAB85D3C-4699-43CB-AAE3-42DBF9F73455}" destId="{2CB2F0B8-A486-4F1E-94D8-4EE9C920927F}" srcOrd="1" destOrd="0" presId="urn:microsoft.com/office/officeart/2009/3/layout/HorizontalOrganizationChart"/>
    <dgm:cxn modelId="{D8BC5F46-C1F2-4D85-B570-BB10942E4DF1}" type="presOf" srcId="{97A5C339-9A7A-48E7-91E9-AF1D1D8C193E}" destId="{7D970598-4A7B-449D-8DAF-C58717E9C16B}" srcOrd="0" destOrd="0" presId="urn:microsoft.com/office/officeart/2009/3/layout/HorizontalOrganizationChart"/>
    <dgm:cxn modelId="{C9CF1D6B-115F-41CD-83C8-180B28B80D07}" srcId="{D3F4A7D5-683D-4F6B-8060-FC01DBA5A741}" destId="{0E4DE72E-4A0A-44C5-907C-339FA7CB83D2}" srcOrd="1" destOrd="0" parTransId="{7348CCD5-BD02-4C53-89E8-456BC95A4CCE}" sibTransId="{17078832-3185-45CF-BC99-1135E9ABD9D1}"/>
    <dgm:cxn modelId="{C2028C54-43F6-43F0-8727-90885622FA35}" srcId="{D3F4A7D5-683D-4F6B-8060-FC01DBA5A741}" destId="{CAB85D3C-4699-43CB-AAE3-42DBF9F73455}" srcOrd="2" destOrd="0" parTransId="{AC8909C3-6DD7-4ED1-8D83-8E00209F2F9D}" sibTransId="{81E0D942-6B34-4197-A2AF-CFDE08AD7725}"/>
    <dgm:cxn modelId="{32CD3278-341D-42E4-A2EA-67855393D585}" type="presOf" srcId="{AC8909C3-6DD7-4ED1-8D83-8E00209F2F9D}" destId="{2505E759-16E1-4DBD-90AE-12610A620AB8}" srcOrd="0" destOrd="0" presId="urn:microsoft.com/office/officeart/2009/3/layout/HorizontalOrganizationChart"/>
    <dgm:cxn modelId="{2820BF78-36B7-4D46-A51A-24C05D039B21}" type="presOf" srcId="{0E4DE72E-4A0A-44C5-907C-339FA7CB83D2}" destId="{1E694D8C-26AA-4E2B-AB68-59D34E2884DA}" srcOrd="1" destOrd="0" presId="urn:microsoft.com/office/officeart/2009/3/layout/HorizontalOrganizationChart"/>
    <dgm:cxn modelId="{4FD8CC83-A96C-4B74-8F66-034B21632CAF}" type="presOf" srcId="{0E4DE72E-4A0A-44C5-907C-339FA7CB83D2}" destId="{3ADF9D05-278A-49C6-B7E6-DD9F5C5D208B}" srcOrd="0" destOrd="0" presId="urn:microsoft.com/office/officeart/2009/3/layout/HorizontalOrganizationChart"/>
    <dgm:cxn modelId="{3A53C699-2C17-40A6-9857-F2A49A109B25}" type="presOf" srcId="{7348CCD5-BD02-4C53-89E8-456BC95A4CCE}" destId="{975FD257-9BF9-44B6-860B-2947E454996B}" srcOrd="0" destOrd="0" presId="urn:microsoft.com/office/officeart/2009/3/layout/HorizontalOrganizationChart"/>
    <dgm:cxn modelId="{4710ACAF-E667-4DCE-827D-219CB72C1C78}" srcId="{97A5C339-9A7A-48E7-91E9-AF1D1D8C193E}" destId="{D3F4A7D5-683D-4F6B-8060-FC01DBA5A741}" srcOrd="0" destOrd="0" parTransId="{485F75E4-3F58-4CD8-986A-B622EB11A1D8}" sibTransId="{A2129C23-DAA6-49C4-A73A-503C66D58FB5}"/>
    <dgm:cxn modelId="{C8155FF1-05F1-4F92-90D3-EC1A6B0FBBE0}" type="presOf" srcId="{1AA0EC51-15A2-4C09-8E8A-2D8A73A55BA4}" destId="{109EAF05-1F69-4F62-96DE-70689B2D1DCE}" srcOrd="1" destOrd="0" presId="urn:microsoft.com/office/officeart/2009/3/layout/HorizontalOrganizationChart"/>
    <dgm:cxn modelId="{3DD68BF2-E41F-4317-956F-D9136D37038D}" type="presOf" srcId="{D3F4A7D5-683D-4F6B-8060-FC01DBA5A741}" destId="{A3093ACF-716F-4DFE-AE24-DE2C2ABF3796}" srcOrd="1" destOrd="0" presId="urn:microsoft.com/office/officeart/2009/3/layout/HorizontalOrganizationChart"/>
    <dgm:cxn modelId="{D5D024C4-A8E2-4B31-A8A2-36420D027314}" type="presParOf" srcId="{7D970598-4A7B-449D-8DAF-C58717E9C16B}" destId="{B2F6B32D-367A-45CD-9BFF-52A770791918}" srcOrd="0" destOrd="0" presId="urn:microsoft.com/office/officeart/2009/3/layout/HorizontalOrganizationChart"/>
    <dgm:cxn modelId="{A710608A-4E07-4574-BF61-5902DC904C89}" type="presParOf" srcId="{B2F6B32D-367A-45CD-9BFF-52A770791918}" destId="{E06F50B6-E71F-47FE-8169-D4ADC356D238}" srcOrd="0" destOrd="0" presId="urn:microsoft.com/office/officeart/2009/3/layout/HorizontalOrganizationChart"/>
    <dgm:cxn modelId="{B01E1FFA-7FF2-49A4-8A11-F81E9EC54CB2}" type="presParOf" srcId="{E06F50B6-E71F-47FE-8169-D4ADC356D238}" destId="{94B3CD04-F98F-4B35-B7B1-7E1C40A0FA4C}" srcOrd="0" destOrd="0" presId="urn:microsoft.com/office/officeart/2009/3/layout/HorizontalOrganizationChart"/>
    <dgm:cxn modelId="{5B17F853-E82B-4060-8A3A-6B20034A6E9A}" type="presParOf" srcId="{E06F50B6-E71F-47FE-8169-D4ADC356D238}" destId="{A3093ACF-716F-4DFE-AE24-DE2C2ABF3796}" srcOrd="1" destOrd="0" presId="urn:microsoft.com/office/officeart/2009/3/layout/HorizontalOrganizationChart"/>
    <dgm:cxn modelId="{ACCF948D-91C4-4253-ACED-88E53A51EF76}" type="presParOf" srcId="{B2F6B32D-367A-45CD-9BFF-52A770791918}" destId="{D9AA15E5-F88B-441B-ABA2-65E24046FAAC}" srcOrd="1" destOrd="0" presId="urn:microsoft.com/office/officeart/2009/3/layout/HorizontalOrganizationChart"/>
    <dgm:cxn modelId="{51C590A4-EC4F-42CF-B866-CB78ADFB92F9}" type="presParOf" srcId="{D9AA15E5-F88B-441B-ABA2-65E24046FAAC}" destId="{421B93AE-BE51-45C2-958A-EC2B4B44E449}" srcOrd="0" destOrd="0" presId="urn:microsoft.com/office/officeart/2009/3/layout/HorizontalOrganizationChart"/>
    <dgm:cxn modelId="{0E855470-6E08-4022-8064-F5C07B3ABAB0}" type="presParOf" srcId="{D9AA15E5-F88B-441B-ABA2-65E24046FAAC}" destId="{D009D4F0-15AC-4EC8-9137-76AEF7B870A2}" srcOrd="1" destOrd="0" presId="urn:microsoft.com/office/officeart/2009/3/layout/HorizontalOrganizationChart"/>
    <dgm:cxn modelId="{A15DAC25-60ED-4004-87F0-F4FDBDB73AEA}" type="presParOf" srcId="{D009D4F0-15AC-4EC8-9137-76AEF7B870A2}" destId="{B7E9DB8B-763E-4C2C-B548-CA0679CAE7AF}" srcOrd="0" destOrd="0" presId="urn:microsoft.com/office/officeart/2009/3/layout/HorizontalOrganizationChart"/>
    <dgm:cxn modelId="{16F1C9A5-9245-4005-875F-69A94CA8173D}" type="presParOf" srcId="{B7E9DB8B-763E-4C2C-B548-CA0679CAE7AF}" destId="{F6FA6216-E376-478A-BE10-0672CF3DBED3}" srcOrd="0" destOrd="0" presId="urn:microsoft.com/office/officeart/2009/3/layout/HorizontalOrganizationChart"/>
    <dgm:cxn modelId="{796F434B-ABCD-41FD-9261-4F1A641CF8E4}" type="presParOf" srcId="{B7E9DB8B-763E-4C2C-B548-CA0679CAE7AF}" destId="{109EAF05-1F69-4F62-96DE-70689B2D1DCE}" srcOrd="1" destOrd="0" presId="urn:microsoft.com/office/officeart/2009/3/layout/HorizontalOrganizationChart"/>
    <dgm:cxn modelId="{168940AA-F587-4F14-8F36-3638C2CF3B67}" type="presParOf" srcId="{D009D4F0-15AC-4EC8-9137-76AEF7B870A2}" destId="{9D81B184-990C-48BE-8CE9-8DF9D5ABE381}" srcOrd="1" destOrd="0" presId="urn:microsoft.com/office/officeart/2009/3/layout/HorizontalOrganizationChart"/>
    <dgm:cxn modelId="{9355F045-1EBD-4A89-9275-AF36C8CC29C6}" type="presParOf" srcId="{D009D4F0-15AC-4EC8-9137-76AEF7B870A2}" destId="{D5A97464-656C-40FF-B91A-7A7737A8111A}" srcOrd="2" destOrd="0" presId="urn:microsoft.com/office/officeart/2009/3/layout/HorizontalOrganizationChart"/>
    <dgm:cxn modelId="{1D35BD0B-E8BA-497E-830F-FBFC0D80FA45}" type="presParOf" srcId="{D9AA15E5-F88B-441B-ABA2-65E24046FAAC}" destId="{975FD257-9BF9-44B6-860B-2947E454996B}" srcOrd="2" destOrd="0" presId="urn:microsoft.com/office/officeart/2009/3/layout/HorizontalOrganizationChart"/>
    <dgm:cxn modelId="{9757BF99-F02A-4A5D-A96D-958C77FF4004}" type="presParOf" srcId="{D9AA15E5-F88B-441B-ABA2-65E24046FAAC}" destId="{B43D21F9-E3B0-4BD3-BE3F-D97E6D3760A6}" srcOrd="3" destOrd="0" presId="urn:microsoft.com/office/officeart/2009/3/layout/HorizontalOrganizationChart"/>
    <dgm:cxn modelId="{F95F7065-8A69-4F05-B75D-EF4F7BE73E32}" type="presParOf" srcId="{B43D21F9-E3B0-4BD3-BE3F-D97E6D3760A6}" destId="{6594DCA7-6773-4604-B098-FCDF85F2D8C4}" srcOrd="0" destOrd="0" presId="urn:microsoft.com/office/officeart/2009/3/layout/HorizontalOrganizationChart"/>
    <dgm:cxn modelId="{D386AC13-41E5-47C4-A24E-4F8EDBD6F357}" type="presParOf" srcId="{6594DCA7-6773-4604-B098-FCDF85F2D8C4}" destId="{3ADF9D05-278A-49C6-B7E6-DD9F5C5D208B}" srcOrd="0" destOrd="0" presId="urn:microsoft.com/office/officeart/2009/3/layout/HorizontalOrganizationChart"/>
    <dgm:cxn modelId="{C8D03374-B61F-47D1-AE36-F80A19D85BE2}" type="presParOf" srcId="{6594DCA7-6773-4604-B098-FCDF85F2D8C4}" destId="{1E694D8C-26AA-4E2B-AB68-59D34E2884DA}" srcOrd="1" destOrd="0" presId="urn:microsoft.com/office/officeart/2009/3/layout/HorizontalOrganizationChart"/>
    <dgm:cxn modelId="{61ED315E-31F0-451A-BCDB-EAACE9E3631D}" type="presParOf" srcId="{B43D21F9-E3B0-4BD3-BE3F-D97E6D3760A6}" destId="{F4B606BE-2AA6-4DAF-BBFD-8884FB50EEB0}" srcOrd="1" destOrd="0" presId="urn:microsoft.com/office/officeart/2009/3/layout/HorizontalOrganizationChart"/>
    <dgm:cxn modelId="{7DD2BF12-3D63-42A8-B665-C291A0BF3591}" type="presParOf" srcId="{B43D21F9-E3B0-4BD3-BE3F-D97E6D3760A6}" destId="{3FFFADDB-007F-4767-816D-6CFE7C39D545}" srcOrd="2" destOrd="0" presId="urn:microsoft.com/office/officeart/2009/3/layout/HorizontalOrganizationChart"/>
    <dgm:cxn modelId="{93132B51-5740-4390-A2FF-50B227F6EE08}" type="presParOf" srcId="{D9AA15E5-F88B-441B-ABA2-65E24046FAAC}" destId="{2505E759-16E1-4DBD-90AE-12610A620AB8}" srcOrd="4" destOrd="0" presId="urn:microsoft.com/office/officeart/2009/3/layout/HorizontalOrganizationChart"/>
    <dgm:cxn modelId="{81083D8F-13AF-40F6-85CC-BE072BF331C4}" type="presParOf" srcId="{D9AA15E5-F88B-441B-ABA2-65E24046FAAC}" destId="{4139E75A-957D-4CE4-9EA6-5F446C45052D}" srcOrd="5" destOrd="0" presId="urn:microsoft.com/office/officeart/2009/3/layout/HorizontalOrganizationChart"/>
    <dgm:cxn modelId="{36840D89-BB4B-4D4B-B04E-5C90A272B650}" type="presParOf" srcId="{4139E75A-957D-4CE4-9EA6-5F446C45052D}" destId="{A9C3A93A-158F-4698-839B-FEA95D21D3A4}" srcOrd="0" destOrd="0" presId="urn:microsoft.com/office/officeart/2009/3/layout/HorizontalOrganizationChart"/>
    <dgm:cxn modelId="{6B6E0E10-420C-45CA-B986-6ADD6D2AE326}" type="presParOf" srcId="{A9C3A93A-158F-4698-839B-FEA95D21D3A4}" destId="{D030AF8A-FB32-4235-88D7-E25A358F5EC4}" srcOrd="0" destOrd="0" presId="urn:microsoft.com/office/officeart/2009/3/layout/HorizontalOrganizationChart"/>
    <dgm:cxn modelId="{6A11762B-C84F-44C7-AF48-2CCD5C369651}" type="presParOf" srcId="{A9C3A93A-158F-4698-839B-FEA95D21D3A4}" destId="{2CB2F0B8-A486-4F1E-94D8-4EE9C920927F}" srcOrd="1" destOrd="0" presId="urn:microsoft.com/office/officeart/2009/3/layout/HorizontalOrganizationChart"/>
    <dgm:cxn modelId="{D50B22BB-BE6E-4911-A71D-422BF8616E24}" type="presParOf" srcId="{4139E75A-957D-4CE4-9EA6-5F446C45052D}" destId="{77A01D7D-93ED-42AC-9A07-E21D50F5A12C}" srcOrd="1" destOrd="0" presId="urn:microsoft.com/office/officeart/2009/3/layout/HorizontalOrganizationChart"/>
    <dgm:cxn modelId="{0C443CF0-CE99-46C7-A485-9A20B69DE600}" type="presParOf" srcId="{4139E75A-957D-4CE4-9EA6-5F446C45052D}" destId="{69EBD2DF-E731-4A09-A3F2-3CE9AC4DABAD}" srcOrd="2" destOrd="0" presId="urn:microsoft.com/office/officeart/2009/3/layout/HorizontalOrganizationChart"/>
    <dgm:cxn modelId="{D2F9359C-0BBD-4426-9D75-EDC82C00CF26}" type="presParOf" srcId="{B2F6B32D-367A-45CD-9BFF-52A770791918}" destId="{62E8EA10-7B11-42FD-BE5F-4A3E0BE10BDF}" srcOrd="2" destOrd="0" presId="urn:microsoft.com/office/officeart/2009/3/layout/HorizontalOrganizationChar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CA3A9-A800-4EB6-8F25-AD3827A9E4EC}">
      <dsp:nvSpPr>
        <dsp:cNvPr id="0" name=""/>
        <dsp:cNvSpPr/>
      </dsp:nvSpPr>
      <dsp:spPr>
        <a:xfrm>
          <a:off x="1845250" y="831686"/>
          <a:ext cx="8930810" cy="107341"/>
        </a:xfrm>
        <a:custGeom>
          <a:avLst/>
          <a:gdLst/>
          <a:ahLst/>
          <a:cxnLst/>
          <a:rect l="0" t="0" r="0" b="0"/>
          <a:pathLst>
            <a:path>
              <a:moveTo>
                <a:pt x="0" y="107341"/>
              </a:moveTo>
              <a:lnTo>
                <a:pt x="8930810" y="107341"/>
              </a:lnTo>
              <a:lnTo>
                <a:pt x="8930810"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0B1F88A-DB33-4FBF-A868-156F094DA0AC}">
      <dsp:nvSpPr>
        <dsp:cNvPr id="0" name=""/>
        <dsp:cNvSpPr/>
      </dsp:nvSpPr>
      <dsp:spPr>
        <a:xfrm>
          <a:off x="1845250" y="939027"/>
          <a:ext cx="6998663" cy="107341"/>
        </a:xfrm>
        <a:custGeom>
          <a:avLst/>
          <a:gdLst/>
          <a:ahLst/>
          <a:cxnLst/>
          <a:rect l="0" t="0" r="0" b="0"/>
          <a:pathLst>
            <a:path>
              <a:moveTo>
                <a:pt x="0" y="0"/>
              </a:moveTo>
              <a:lnTo>
                <a:pt x="6998663" y="0"/>
              </a:lnTo>
              <a:lnTo>
                <a:pt x="6998663" y="107341"/>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8C967708-047E-4F59-A1AB-68296299236B}">
      <dsp:nvSpPr>
        <dsp:cNvPr id="0" name=""/>
        <dsp:cNvSpPr/>
      </dsp:nvSpPr>
      <dsp:spPr>
        <a:xfrm>
          <a:off x="1845250" y="831686"/>
          <a:ext cx="6998663" cy="107341"/>
        </a:xfrm>
        <a:custGeom>
          <a:avLst/>
          <a:gdLst/>
          <a:ahLst/>
          <a:cxnLst/>
          <a:rect l="0" t="0" r="0" b="0"/>
          <a:pathLst>
            <a:path>
              <a:moveTo>
                <a:pt x="0" y="107341"/>
              </a:moveTo>
              <a:lnTo>
                <a:pt x="6998663" y="107341"/>
              </a:lnTo>
              <a:lnTo>
                <a:pt x="6998663"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DECA28D-AFCE-44D3-AE9C-95FA3B1DC7D5}">
      <dsp:nvSpPr>
        <dsp:cNvPr id="0" name=""/>
        <dsp:cNvSpPr/>
      </dsp:nvSpPr>
      <dsp:spPr>
        <a:xfrm>
          <a:off x="1845250" y="939027"/>
          <a:ext cx="5066517" cy="107341"/>
        </a:xfrm>
        <a:custGeom>
          <a:avLst/>
          <a:gdLst/>
          <a:ahLst/>
          <a:cxnLst/>
          <a:rect l="0" t="0" r="0" b="0"/>
          <a:pathLst>
            <a:path>
              <a:moveTo>
                <a:pt x="0" y="0"/>
              </a:moveTo>
              <a:lnTo>
                <a:pt x="5066517" y="0"/>
              </a:lnTo>
              <a:lnTo>
                <a:pt x="5066517" y="107341"/>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12C2FF3-669F-494A-833F-BE038008E7D7}">
      <dsp:nvSpPr>
        <dsp:cNvPr id="0" name=""/>
        <dsp:cNvSpPr/>
      </dsp:nvSpPr>
      <dsp:spPr>
        <a:xfrm>
          <a:off x="1845250" y="831686"/>
          <a:ext cx="5066517" cy="107341"/>
        </a:xfrm>
        <a:custGeom>
          <a:avLst/>
          <a:gdLst/>
          <a:ahLst/>
          <a:cxnLst/>
          <a:rect l="0" t="0" r="0" b="0"/>
          <a:pathLst>
            <a:path>
              <a:moveTo>
                <a:pt x="0" y="107341"/>
              </a:moveTo>
              <a:lnTo>
                <a:pt x="5066517" y="107341"/>
              </a:lnTo>
              <a:lnTo>
                <a:pt x="5066517"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3916A45-CE33-4509-95FC-327AFB34D806}">
      <dsp:nvSpPr>
        <dsp:cNvPr id="0" name=""/>
        <dsp:cNvSpPr/>
      </dsp:nvSpPr>
      <dsp:spPr>
        <a:xfrm>
          <a:off x="1845250" y="939027"/>
          <a:ext cx="3134370" cy="107341"/>
        </a:xfrm>
        <a:custGeom>
          <a:avLst/>
          <a:gdLst/>
          <a:ahLst/>
          <a:cxnLst/>
          <a:rect l="0" t="0" r="0" b="0"/>
          <a:pathLst>
            <a:path>
              <a:moveTo>
                <a:pt x="0" y="0"/>
              </a:moveTo>
              <a:lnTo>
                <a:pt x="3134370" y="0"/>
              </a:lnTo>
              <a:lnTo>
                <a:pt x="3134370" y="107341"/>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F59564C-F994-4F3F-87AD-575898603BC6}">
      <dsp:nvSpPr>
        <dsp:cNvPr id="0" name=""/>
        <dsp:cNvSpPr/>
      </dsp:nvSpPr>
      <dsp:spPr>
        <a:xfrm>
          <a:off x="1845250" y="831686"/>
          <a:ext cx="3134370" cy="107341"/>
        </a:xfrm>
        <a:custGeom>
          <a:avLst/>
          <a:gdLst/>
          <a:ahLst/>
          <a:cxnLst/>
          <a:rect l="0" t="0" r="0" b="0"/>
          <a:pathLst>
            <a:path>
              <a:moveTo>
                <a:pt x="0" y="107341"/>
              </a:moveTo>
              <a:lnTo>
                <a:pt x="3134370" y="107341"/>
              </a:lnTo>
              <a:lnTo>
                <a:pt x="3134370"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628D6B9-4128-4A8C-BB6C-7D3D57EBFCE7}">
      <dsp:nvSpPr>
        <dsp:cNvPr id="0" name=""/>
        <dsp:cNvSpPr/>
      </dsp:nvSpPr>
      <dsp:spPr>
        <a:xfrm>
          <a:off x="1845250" y="939027"/>
          <a:ext cx="1202224" cy="107341"/>
        </a:xfrm>
        <a:custGeom>
          <a:avLst/>
          <a:gdLst/>
          <a:ahLst/>
          <a:cxnLst/>
          <a:rect l="0" t="0" r="0" b="0"/>
          <a:pathLst>
            <a:path>
              <a:moveTo>
                <a:pt x="0" y="0"/>
              </a:moveTo>
              <a:lnTo>
                <a:pt x="1202224" y="0"/>
              </a:lnTo>
              <a:lnTo>
                <a:pt x="1202224" y="107341"/>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7B5672D-5A59-4BF8-A2AB-5B031E0A80F8}">
      <dsp:nvSpPr>
        <dsp:cNvPr id="0" name=""/>
        <dsp:cNvSpPr/>
      </dsp:nvSpPr>
      <dsp:spPr>
        <a:xfrm>
          <a:off x="1845250" y="831686"/>
          <a:ext cx="1202224" cy="107341"/>
        </a:xfrm>
        <a:custGeom>
          <a:avLst/>
          <a:gdLst/>
          <a:ahLst/>
          <a:cxnLst/>
          <a:rect l="0" t="0" r="0" b="0"/>
          <a:pathLst>
            <a:path>
              <a:moveTo>
                <a:pt x="0" y="107341"/>
              </a:moveTo>
              <a:lnTo>
                <a:pt x="1202224" y="107341"/>
              </a:lnTo>
              <a:lnTo>
                <a:pt x="1202224"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4B3CD04-F98F-4B35-B7B1-7E1C40A0FA4C}">
      <dsp:nvSpPr>
        <dsp:cNvPr id="0" name=""/>
        <dsp:cNvSpPr/>
      </dsp:nvSpPr>
      <dsp:spPr>
        <a:xfrm>
          <a:off x="4885" y="677114"/>
          <a:ext cx="1840365"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Basic Food Items</a:t>
          </a:r>
        </a:p>
      </dsp:txBody>
      <dsp:txXfrm>
        <a:off x="30456" y="702685"/>
        <a:ext cx="1789223" cy="472684"/>
      </dsp:txXfrm>
    </dsp:sp>
    <dsp:sp modelId="{F6FA6216-E376-478A-BE10-0672CF3DBED3}">
      <dsp:nvSpPr>
        <dsp:cNvPr id="0" name=""/>
        <dsp:cNvSpPr/>
      </dsp:nvSpPr>
      <dsp:spPr>
        <a:xfrm>
          <a:off x="2188743" y="307859"/>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Cereals and products</a:t>
          </a:r>
        </a:p>
      </dsp:txBody>
      <dsp:txXfrm>
        <a:off x="2214314" y="333430"/>
        <a:ext cx="1666321" cy="472684"/>
      </dsp:txXfrm>
    </dsp:sp>
    <dsp:sp modelId="{F04277DD-8156-44A8-81B8-18688F1059B8}">
      <dsp:nvSpPr>
        <dsp:cNvPr id="0" name=""/>
        <dsp:cNvSpPr/>
      </dsp:nvSpPr>
      <dsp:spPr>
        <a:xfrm>
          <a:off x="2188743" y="1046368"/>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Meat and fish</a:t>
          </a:r>
        </a:p>
      </dsp:txBody>
      <dsp:txXfrm>
        <a:off x="2214314" y="1071939"/>
        <a:ext cx="1666321" cy="472684"/>
      </dsp:txXfrm>
    </dsp:sp>
    <dsp:sp modelId="{AD1AD31F-5D21-446E-AF0F-074046E4D67E}">
      <dsp:nvSpPr>
        <dsp:cNvPr id="0" name=""/>
        <dsp:cNvSpPr/>
      </dsp:nvSpPr>
      <dsp:spPr>
        <a:xfrm>
          <a:off x="4120889" y="307859"/>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Egg</a:t>
          </a:r>
        </a:p>
      </dsp:txBody>
      <dsp:txXfrm>
        <a:off x="4146460" y="333430"/>
        <a:ext cx="1666321" cy="472684"/>
      </dsp:txXfrm>
    </dsp:sp>
    <dsp:sp modelId="{A84B4A3B-7F92-4BB3-975C-FD5CA7C99306}">
      <dsp:nvSpPr>
        <dsp:cNvPr id="0" name=""/>
        <dsp:cNvSpPr/>
      </dsp:nvSpPr>
      <dsp:spPr>
        <a:xfrm>
          <a:off x="4120889" y="1046368"/>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Milk and products</a:t>
          </a:r>
          <a:endParaRPr lang="en-US" sz="1600" kern="1200" dirty="0"/>
        </a:p>
      </dsp:txBody>
      <dsp:txXfrm>
        <a:off x="4146460" y="1071939"/>
        <a:ext cx="1666321" cy="472684"/>
      </dsp:txXfrm>
    </dsp:sp>
    <dsp:sp modelId="{01DF2238-5112-45F6-B337-B00FA2E896D2}">
      <dsp:nvSpPr>
        <dsp:cNvPr id="0" name=""/>
        <dsp:cNvSpPr/>
      </dsp:nvSpPr>
      <dsp:spPr>
        <a:xfrm>
          <a:off x="6053036" y="307859"/>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Oils and fats</a:t>
          </a:r>
          <a:endParaRPr lang="en-US" sz="1600" kern="1200" dirty="0"/>
        </a:p>
      </dsp:txBody>
      <dsp:txXfrm>
        <a:off x="6078607" y="333430"/>
        <a:ext cx="1666321" cy="472684"/>
      </dsp:txXfrm>
    </dsp:sp>
    <dsp:sp modelId="{02416A66-498C-4CBA-8B93-1CCC291712C1}">
      <dsp:nvSpPr>
        <dsp:cNvPr id="0" name=""/>
        <dsp:cNvSpPr/>
      </dsp:nvSpPr>
      <dsp:spPr>
        <a:xfrm>
          <a:off x="6053036" y="1046368"/>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Fruits</a:t>
          </a:r>
        </a:p>
      </dsp:txBody>
      <dsp:txXfrm>
        <a:off x="6078607" y="1071939"/>
        <a:ext cx="1666321" cy="472684"/>
      </dsp:txXfrm>
    </dsp:sp>
    <dsp:sp modelId="{58F2BFAA-FFF4-4B54-BF1E-3D039ADD43C4}">
      <dsp:nvSpPr>
        <dsp:cNvPr id="0" name=""/>
        <dsp:cNvSpPr/>
      </dsp:nvSpPr>
      <dsp:spPr>
        <a:xfrm>
          <a:off x="7985182" y="307859"/>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Vegetables</a:t>
          </a:r>
          <a:endParaRPr lang="en-US" sz="1600" kern="1200" dirty="0"/>
        </a:p>
      </dsp:txBody>
      <dsp:txXfrm>
        <a:off x="8010753" y="333430"/>
        <a:ext cx="1666321" cy="472684"/>
      </dsp:txXfrm>
    </dsp:sp>
    <dsp:sp modelId="{F5E30269-4859-40F0-BB3F-DF0C666AFD36}">
      <dsp:nvSpPr>
        <dsp:cNvPr id="0" name=""/>
        <dsp:cNvSpPr/>
      </dsp:nvSpPr>
      <dsp:spPr>
        <a:xfrm>
          <a:off x="7985182" y="1046368"/>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Pulses and products</a:t>
          </a:r>
          <a:endParaRPr lang="en-US" sz="1600" kern="1200" dirty="0"/>
        </a:p>
      </dsp:txBody>
      <dsp:txXfrm>
        <a:off x="8010753" y="1071939"/>
        <a:ext cx="1666321" cy="472684"/>
      </dsp:txXfrm>
    </dsp:sp>
    <dsp:sp modelId="{C9D4F81F-3A64-47BB-BB46-B9264B12F83C}">
      <dsp:nvSpPr>
        <dsp:cNvPr id="0" name=""/>
        <dsp:cNvSpPr/>
      </dsp:nvSpPr>
      <dsp:spPr>
        <a:xfrm>
          <a:off x="9917329" y="307859"/>
          <a:ext cx="1717463" cy="52382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Spices</a:t>
          </a:r>
          <a:endParaRPr lang="en-US" sz="1600" kern="1200" dirty="0"/>
        </a:p>
      </dsp:txBody>
      <dsp:txXfrm>
        <a:off x="9942900" y="333430"/>
        <a:ext cx="1666321" cy="472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F92A6-517D-41E8-B886-1278855FE419}">
      <dsp:nvSpPr>
        <dsp:cNvPr id="0" name=""/>
        <dsp:cNvSpPr/>
      </dsp:nvSpPr>
      <dsp:spPr>
        <a:xfrm>
          <a:off x="2769799" y="810086"/>
          <a:ext cx="7536982" cy="128940"/>
        </a:xfrm>
        <a:custGeom>
          <a:avLst/>
          <a:gdLst/>
          <a:ahLst/>
          <a:cxnLst/>
          <a:rect l="0" t="0" r="0" b="0"/>
          <a:pathLst>
            <a:path>
              <a:moveTo>
                <a:pt x="0" y="128940"/>
              </a:moveTo>
              <a:lnTo>
                <a:pt x="7536982" y="128940"/>
              </a:lnTo>
              <a:lnTo>
                <a:pt x="7536982"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F95CB79-0F97-4813-9A0E-D81CBD0355CE}">
      <dsp:nvSpPr>
        <dsp:cNvPr id="0" name=""/>
        <dsp:cNvSpPr/>
      </dsp:nvSpPr>
      <dsp:spPr>
        <a:xfrm>
          <a:off x="2769799" y="939027"/>
          <a:ext cx="4662709" cy="159681"/>
        </a:xfrm>
        <a:custGeom>
          <a:avLst/>
          <a:gdLst/>
          <a:ahLst/>
          <a:cxnLst/>
          <a:rect l="0" t="0" r="0" b="0"/>
          <a:pathLst>
            <a:path>
              <a:moveTo>
                <a:pt x="0" y="0"/>
              </a:moveTo>
              <a:lnTo>
                <a:pt x="4662709" y="0"/>
              </a:lnTo>
              <a:lnTo>
                <a:pt x="4662709" y="159681"/>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2AE3FBA-4AA2-4DAB-9447-B94061143C47}">
      <dsp:nvSpPr>
        <dsp:cNvPr id="0" name=""/>
        <dsp:cNvSpPr/>
      </dsp:nvSpPr>
      <dsp:spPr>
        <a:xfrm>
          <a:off x="2769799" y="779345"/>
          <a:ext cx="4662709" cy="159681"/>
        </a:xfrm>
        <a:custGeom>
          <a:avLst/>
          <a:gdLst/>
          <a:ahLst/>
          <a:cxnLst/>
          <a:rect l="0" t="0" r="0" b="0"/>
          <a:pathLst>
            <a:path>
              <a:moveTo>
                <a:pt x="0" y="159681"/>
              </a:moveTo>
              <a:lnTo>
                <a:pt x="4662709" y="159681"/>
              </a:lnTo>
              <a:lnTo>
                <a:pt x="4662709"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A83F2E2-DF04-41F0-B9D4-B926CE4992FD}">
      <dsp:nvSpPr>
        <dsp:cNvPr id="0" name=""/>
        <dsp:cNvSpPr/>
      </dsp:nvSpPr>
      <dsp:spPr>
        <a:xfrm>
          <a:off x="2769799" y="939027"/>
          <a:ext cx="1788436" cy="159681"/>
        </a:xfrm>
        <a:custGeom>
          <a:avLst/>
          <a:gdLst/>
          <a:ahLst/>
          <a:cxnLst/>
          <a:rect l="0" t="0" r="0" b="0"/>
          <a:pathLst>
            <a:path>
              <a:moveTo>
                <a:pt x="0" y="0"/>
              </a:moveTo>
              <a:lnTo>
                <a:pt x="1788436" y="0"/>
              </a:lnTo>
              <a:lnTo>
                <a:pt x="1788436" y="159681"/>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7B5672D-5A59-4BF8-A2AB-5B031E0A80F8}">
      <dsp:nvSpPr>
        <dsp:cNvPr id="0" name=""/>
        <dsp:cNvSpPr/>
      </dsp:nvSpPr>
      <dsp:spPr>
        <a:xfrm>
          <a:off x="2769799" y="779345"/>
          <a:ext cx="1788436" cy="159681"/>
        </a:xfrm>
        <a:custGeom>
          <a:avLst/>
          <a:gdLst/>
          <a:ahLst/>
          <a:cxnLst/>
          <a:rect l="0" t="0" r="0" b="0"/>
          <a:pathLst>
            <a:path>
              <a:moveTo>
                <a:pt x="0" y="159681"/>
              </a:moveTo>
              <a:lnTo>
                <a:pt x="1788436" y="159681"/>
              </a:lnTo>
              <a:lnTo>
                <a:pt x="1788436"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4B3CD04-F98F-4B35-B7B1-7E1C40A0FA4C}">
      <dsp:nvSpPr>
        <dsp:cNvPr id="0" name=""/>
        <dsp:cNvSpPr/>
      </dsp:nvSpPr>
      <dsp:spPr>
        <a:xfrm>
          <a:off x="174087" y="549403"/>
          <a:ext cx="2595711" cy="779247"/>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Other Food and Intoxicants</a:t>
          </a:r>
        </a:p>
      </dsp:txBody>
      <dsp:txXfrm>
        <a:off x="212127" y="587443"/>
        <a:ext cx="2519631" cy="703167"/>
      </dsp:txXfrm>
    </dsp:sp>
    <dsp:sp modelId="{F6FA6216-E376-478A-BE10-0672CF3DBED3}">
      <dsp:nvSpPr>
        <dsp:cNvPr id="0" name=""/>
        <dsp:cNvSpPr/>
      </dsp:nvSpPr>
      <dsp:spPr>
        <a:xfrm>
          <a:off x="3280781" y="98"/>
          <a:ext cx="2554909" cy="779247"/>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Sugar and Confectionery</a:t>
          </a:r>
        </a:p>
      </dsp:txBody>
      <dsp:txXfrm>
        <a:off x="3318821" y="38138"/>
        <a:ext cx="2478829" cy="703167"/>
      </dsp:txXfrm>
    </dsp:sp>
    <dsp:sp modelId="{7BB2A7EB-1A27-44D1-B87D-9F15DAB16BAB}">
      <dsp:nvSpPr>
        <dsp:cNvPr id="0" name=""/>
        <dsp:cNvSpPr/>
      </dsp:nvSpPr>
      <dsp:spPr>
        <a:xfrm>
          <a:off x="3280781" y="1098709"/>
          <a:ext cx="2554909" cy="779247"/>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Non-alcoholic beverages</a:t>
          </a:r>
        </a:p>
      </dsp:txBody>
      <dsp:txXfrm>
        <a:off x="3318821" y="1136749"/>
        <a:ext cx="2478829" cy="703167"/>
      </dsp:txXfrm>
    </dsp:sp>
    <dsp:sp modelId="{89E336DA-20C6-414F-8C31-D70FD6BCDC7B}">
      <dsp:nvSpPr>
        <dsp:cNvPr id="0" name=""/>
        <dsp:cNvSpPr/>
      </dsp:nvSpPr>
      <dsp:spPr>
        <a:xfrm>
          <a:off x="6155054" y="98"/>
          <a:ext cx="2554909" cy="779247"/>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Prepared meals, snacks, sweets, etc.</a:t>
          </a:r>
        </a:p>
      </dsp:txBody>
      <dsp:txXfrm>
        <a:off x="6193094" y="38138"/>
        <a:ext cx="2478829" cy="703167"/>
      </dsp:txXfrm>
    </dsp:sp>
    <dsp:sp modelId="{F14B9129-7D48-402B-A181-6C17DD6DA1C6}">
      <dsp:nvSpPr>
        <dsp:cNvPr id="0" name=""/>
        <dsp:cNvSpPr/>
      </dsp:nvSpPr>
      <dsp:spPr>
        <a:xfrm>
          <a:off x="6155054" y="1098709"/>
          <a:ext cx="2554909" cy="779247"/>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Food and beverages</a:t>
          </a:r>
        </a:p>
      </dsp:txBody>
      <dsp:txXfrm>
        <a:off x="6193094" y="1136749"/>
        <a:ext cx="2478829" cy="703167"/>
      </dsp:txXfrm>
    </dsp:sp>
    <dsp:sp modelId="{3D3D87F0-C532-4781-8CB8-0253709E1DFF}">
      <dsp:nvSpPr>
        <dsp:cNvPr id="0" name=""/>
        <dsp:cNvSpPr/>
      </dsp:nvSpPr>
      <dsp:spPr>
        <a:xfrm>
          <a:off x="9029327" y="30839"/>
          <a:ext cx="2554909" cy="779247"/>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Pan, tobacco, and intoxicants</a:t>
          </a:r>
        </a:p>
      </dsp:txBody>
      <dsp:txXfrm>
        <a:off x="9067367" y="68879"/>
        <a:ext cx="2478829" cy="7031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59DE7-BAC2-425C-9D38-081774E5CED6}">
      <dsp:nvSpPr>
        <dsp:cNvPr id="0" name=""/>
        <dsp:cNvSpPr/>
      </dsp:nvSpPr>
      <dsp:spPr>
        <a:xfrm>
          <a:off x="2762192" y="939027"/>
          <a:ext cx="7754967" cy="159613"/>
        </a:xfrm>
        <a:custGeom>
          <a:avLst/>
          <a:gdLst/>
          <a:ahLst/>
          <a:cxnLst/>
          <a:rect l="0" t="0" r="0" b="0"/>
          <a:pathLst>
            <a:path>
              <a:moveTo>
                <a:pt x="0" y="0"/>
              </a:moveTo>
              <a:lnTo>
                <a:pt x="7754967" y="0"/>
              </a:lnTo>
              <a:lnTo>
                <a:pt x="7754967" y="159613"/>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EEF52BF-ACDD-4760-9362-92E700C9433A}">
      <dsp:nvSpPr>
        <dsp:cNvPr id="0" name=""/>
        <dsp:cNvSpPr/>
      </dsp:nvSpPr>
      <dsp:spPr>
        <a:xfrm>
          <a:off x="2762192" y="779414"/>
          <a:ext cx="7754967" cy="159613"/>
        </a:xfrm>
        <a:custGeom>
          <a:avLst/>
          <a:gdLst/>
          <a:ahLst/>
          <a:cxnLst/>
          <a:rect l="0" t="0" r="0" b="0"/>
          <a:pathLst>
            <a:path>
              <a:moveTo>
                <a:pt x="0" y="159613"/>
              </a:moveTo>
              <a:lnTo>
                <a:pt x="7754967" y="159613"/>
              </a:lnTo>
              <a:lnTo>
                <a:pt x="7754967"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DC13EAE-2F78-468D-926D-FB20945ECE7C}">
      <dsp:nvSpPr>
        <dsp:cNvPr id="0" name=""/>
        <dsp:cNvSpPr/>
      </dsp:nvSpPr>
      <dsp:spPr>
        <a:xfrm>
          <a:off x="2762192" y="939027"/>
          <a:ext cx="4881925" cy="159613"/>
        </a:xfrm>
        <a:custGeom>
          <a:avLst/>
          <a:gdLst/>
          <a:ahLst/>
          <a:cxnLst/>
          <a:rect l="0" t="0" r="0" b="0"/>
          <a:pathLst>
            <a:path>
              <a:moveTo>
                <a:pt x="0" y="0"/>
              </a:moveTo>
              <a:lnTo>
                <a:pt x="4881925" y="0"/>
              </a:lnTo>
              <a:lnTo>
                <a:pt x="4881925" y="159613"/>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52CBACD-7279-4311-9726-B0F198BA7DCF}">
      <dsp:nvSpPr>
        <dsp:cNvPr id="0" name=""/>
        <dsp:cNvSpPr/>
      </dsp:nvSpPr>
      <dsp:spPr>
        <a:xfrm>
          <a:off x="2762192" y="779414"/>
          <a:ext cx="4881925" cy="159613"/>
        </a:xfrm>
        <a:custGeom>
          <a:avLst/>
          <a:gdLst/>
          <a:ahLst/>
          <a:cxnLst/>
          <a:rect l="0" t="0" r="0" b="0"/>
          <a:pathLst>
            <a:path>
              <a:moveTo>
                <a:pt x="0" y="159613"/>
              </a:moveTo>
              <a:lnTo>
                <a:pt x="4881925" y="159613"/>
              </a:lnTo>
              <a:lnTo>
                <a:pt x="4881925"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FC8583D-749C-45F8-B196-8D5A38A7D450}">
      <dsp:nvSpPr>
        <dsp:cNvPr id="0" name=""/>
        <dsp:cNvSpPr/>
      </dsp:nvSpPr>
      <dsp:spPr>
        <a:xfrm>
          <a:off x="2762192" y="939027"/>
          <a:ext cx="1898276" cy="159613"/>
        </a:xfrm>
        <a:custGeom>
          <a:avLst/>
          <a:gdLst/>
          <a:ahLst/>
          <a:cxnLst/>
          <a:rect l="0" t="0" r="0" b="0"/>
          <a:pathLst>
            <a:path>
              <a:moveTo>
                <a:pt x="0" y="0"/>
              </a:moveTo>
              <a:lnTo>
                <a:pt x="1898276" y="0"/>
              </a:lnTo>
              <a:lnTo>
                <a:pt x="1898276" y="159613"/>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7B5672D-5A59-4BF8-A2AB-5B031E0A80F8}">
      <dsp:nvSpPr>
        <dsp:cNvPr id="0" name=""/>
        <dsp:cNvSpPr/>
      </dsp:nvSpPr>
      <dsp:spPr>
        <a:xfrm>
          <a:off x="2762192" y="779414"/>
          <a:ext cx="1787671" cy="159613"/>
        </a:xfrm>
        <a:custGeom>
          <a:avLst/>
          <a:gdLst/>
          <a:ahLst/>
          <a:cxnLst/>
          <a:rect l="0" t="0" r="0" b="0"/>
          <a:pathLst>
            <a:path>
              <a:moveTo>
                <a:pt x="0" y="159613"/>
              </a:moveTo>
              <a:lnTo>
                <a:pt x="1787671" y="159613"/>
              </a:lnTo>
              <a:lnTo>
                <a:pt x="1787671"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4B3CD04-F98F-4B35-B7B1-7E1C40A0FA4C}">
      <dsp:nvSpPr>
        <dsp:cNvPr id="0" name=""/>
        <dsp:cNvSpPr/>
      </dsp:nvSpPr>
      <dsp:spPr>
        <a:xfrm>
          <a:off x="25625" y="549570"/>
          <a:ext cx="2736566" cy="778913"/>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Services and Miscellaneous</a:t>
          </a:r>
        </a:p>
      </dsp:txBody>
      <dsp:txXfrm>
        <a:off x="63648" y="587593"/>
        <a:ext cx="2660520" cy="702867"/>
      </dsp:txXfrm>
    </dsp:sp>
    <dsp:sp modelId="{F6FA6216-E376-478A-BE10-0672CF3DBED3}">
      <dsp:nvSpPr>
        <dsp:cNvPr id="0" name=""/>
        <dsp:cNvSpPr/>
      </dsp:nvSpPr>
      <dsp:spPr>
        <a:xfrm>
          <a:off x="3272955" y="500"/>
          <a:ext cx="2553815" cy="778913"/>
        </a:xfrm>
        <a:prstGeom prst="roundRect">
          <a:avLst/>
        </a:prstGeom>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black">
                  <a:hueOff val="0"/>
                  <a:satOff val="0"/>
                  <a:lumOff val="0"/>
                  <a:alphaOff val="0"/>
                </a:prstClr>
              </a:solidFill>
              <a:latin typeface="Calibri" panose="020F0502020204030204"/>
              <a:ea typeface="+mn-ea"/>
              <a:cs typeface="+mn-cs"/>
            </a:rPr>
            <a:t>Health</a:t>
          </a:r>
        </a:p>
      </dsp:txBody>
      <dsp:txXfrm>
        <a:off x="3310978" y="38523"/>
        <a:ext cx="2477769" cy="702867"/>
      </dsp:txXfrm>
    </dsp:sp>
    <dsp:sp modelId="{56342EF1-C34D-41F1-83C5-48AF80DA782C}">
      <dsp:nvSpPr>
        <dsp:cNvPr id="0" name=""/>
        <dsp:cNvSpPr/>
      </dsp:nvSpPr>
      <dsp:spPr>
        <a:xfrm>
          <a:off x="3272955" y="1098640"/>
          <a:ext cx="2775027" cy="778913"/>
        </a:xfrm>
        <a:prstGeom prst="roundRect">
          <a:avLst/>
        </a:prstGeom>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Transport and communication</a:t>
          </a:r>
          <a:endParaRPr lang="en-US" sz="1600" kern="1200" dirty="0">
            <a:solidFill>
              <a:prstClr val="black">
                <a:hueOff val="0"/>
                <a:satOff val="0"/>
                <a:lumOff val="0"/>
                <a:alphaOff val="0"/>
              </a:prstClr>
            </a:solidFill>
            <a:latin typeface="Calibri" panose="020F0502020204030204"/>
            <a:ea typeface="+mn-ea"/>
            <a:cs typeface="+mn-cs"/>
          </a:endParaRPr>
        </a:p>
      </dsp:txBody>
      <dsp:txXfrm>
        <a:off x="3310978" y="1136663"/>
        <a:ext cx="2698981" cy="702867"/>
      </dsp:txXfrm>
    </dsp:sp>
    <dsp:sp modelId="{687704CF-42C9-42E7-95E2-6FACF45CD068}">
      <dsp:nvSpPr>
        <dsp:cNvPr id="0" name=""/>
        <dsp:cNvSpPr/>
      </dsp:nvSpPr>
      <dsp:spPr>
        <a:xfrm>
          <a:off x="6367209" y="500"/>
          <a:ext cx="2553815" cy="778913"/>
        </a:xfrm>
        <a:prstGeom prst="roundRect">
          <a:avLst/>
        </a:prstGeom>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black">
                  <a:hueOff val="0"/>
                  <a:satOff val="0"/>
                  <a:lumOff val="0"/>
                  <a:alphaOff val="0"/>
                </a:prstClr>
              </a:solidFill>
              <a:latin typeface="Calibri" panose="020F0502020204030204"/>
              <a:ea typeface="+mn-ea"/>
              <a:cs typeface="+mn-cs"/>
            </a:rPr>
            <a:t>Recreation and amusement</a:t>
          </a:r>
        </a:p>
      </dsp:txBody>
      <dsp:txXfrm>
        <a:off x="6405232" y="38523"/>
        <a:ext cx="2477769" cy="702867"/>
      </dsp:txXfrm>
    </dsp:sp>
    <dsp:sp modelId="{83B47DFE-4E50-4E85-ADFC-0903D95BD357}">
      <dsp:nvSpPr>
        <dsp:cNvPr id="0" name=""/>
        <dsp:cNvSpPr/>
      </dsp:nvSpPr>
      <dsp:spPr>
        <a:xfrm>
          <a:off x="6367209" y="1098640"/>
          <a:ext cx="2553815" cy="778913"/>
        </a:xfrm>
        <a:prstGeom prst="roundRect">
          <a:avLst/>
        </a:prstGeom>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Education</a:t>
          </a:r>
          <a:endParaRPr lang="en-US" sz="1600" kern="1200" dirty="0">
            <a:solidFill>
              <a:prstClr val="black">
                <a:hueOff val="0"/>
                <a:satOff val="0"/>
                <a:lumOff val="0"/>
                <a:alphaOff val="0"/>
              </a:prstClr>
            </a:solidFill>
            <a:latin typeface="Calibri" panose="020F0502020204030204"/>
            <a:ea typeface="+mn-ea"/>
            <a:cs typeface="+mn-cs"/>
          </a:endParaRPr>
        </a:p>
      </dsp:txBody>
      <dsp:txXfrm>
        <a:off x="6405232" y="1136663"/>
        <a:ext cx="2477769" cy="702867"/>
      </dsp:txXfrm>
    </dsp:sp>
    <dsp:sp modelId="{0719CD42-A34E-4182-A215-DC9698024494}">
      <dsp:nvSpPr>
        <dsp:cNvPr id="0" name=""/>
        <dsp:cNvSpPr/>
      </dsp:nvSpPr>
      <dsp:spPr>
        <a:xfrm>
          <a:off x="9240252" y="500"/>
          <a:ext cx="2553815" cy="778913"/>
        </a:xfrm>
        <a:prstGeom prst="roundRect">
          <a:avLst/>
        </a:prstGeom>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Personal care and effects</a:t>
          </a:r>
          <a:endParaRPr lang="en-US" sz="1600" kern="1200" dirty="0">
            <a:solidFill>
              <a:prstClr val="black">
                <a:hueOff val="0"/>
                <a:satOff val="0"/>
                <a:lumOff val="0"/>
                <a:alphaOff val="0"/>
              </a:prstClr>
            </a:solidFill>
            <a:latin typeface="Calibri" panose="020F0502020204030204"/>
            <a:ea typeface="+mn-ea"/>
            <a:cs typeface="+mn-cs"/>
          </a:endParaRPr>
        </a:p>
      </dsp:txBody>
      <dsp:txXfrm>
        <a:off x="9278275" y="38523"/>
        <a:ext cx="2477769" cy="702867"/>
      </dsp:txXfrm>
    </dsp:sp>
    <dsp:sp modelId="{0E8B8211-FF1C-4F1B-877D-EF72CB1FAE05}">
      <dsp:nvSpPr>
        <dsp:cNvPr id="0" name=""/>
        <dsp:cNvSpPr/>
      </dsp:nvSpPr>
      <dsp:spPr>
        <a:xfrm>
          <a:off x="9240252" y="1098640"/>
          <a:ext cx="2553815" cy="778913"/>
        </a:xfrm>
        <a:prstGeom prst="roundRect">
          <a:avLst/>
        </a:prstGeom>
        <a:solidFill>
          <a:prstClr val="white">
            <a:hueOff val="0"/>
            <a:satOff val="0"/>
            <a:lumOff val="0"/>
            <a:alphaOff val="0"/>
          </a:prst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solidFill>
                <a:prstClr val="black">
                  <a:hueOff val="0"/>
                  <a:satOff val="0"/>
                  <a:lumOff val="0"/>
                  <a:alphaOff val="0"/>
                </a:prstClr>
              </a:solidFill>
              <a:latin typeface="Calibri" panose="020F0502020204030204"/>
              <a:ea typeface="+mn-ea"/>
              <a:cs typeface="+mn-cs"/>
            </a:rPr>
            <a:t>Miscellaneous</a:t>
          </a:r>
          <a:endParaRPr lang="en-US" sz="1600" kern="1200" dirty="0">
            <a:solidFill>
              <a:prstClr val="black">
                <a:hueOff val="0"/>
                <a:satOff val="0"/>
                <a:lumOff val="0"/>
                <a:alphaOff val="0"/>
              </a:prstClr>
            </a:solidFill>
            <a:latin typeface="Calibri" panose="020F0502020204030204"/>
            <a:ea typeface="+mn-ea"/>
            <a:cs typeface="+mn-cs"/>
          </a:endParaRPr>
        </a:p>
      </dsp:txBody>
      <dsp:txXfrm>
        <a:off x="9278275" y="1136663"/>
        <a:ext cx="2477769" cy="7028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05E759-16E1-4DBD-90AE-12610A620AB8}">
      <dsp:nvSpPr>
        <dsp:cNvPr id="0" name=""/>
        <dsp:cNvSpPr/>
      </dsp:nvSpPr>
      <dsp:spPr>
        <a:xfrm>
          <a:off x="1661591" y="1400730"/>
          <a:ext cx="3007042" cy="102980"/>
        </a:xfrm>
        <a:custGeom>
          <a:avLst/>
          <a:gdLst/>
          <a:ahLst/>
          <a:cxnLst/>
          <a:rect l="0" t="0" r="0" b="0"/>
          <a:pathLst>
            <a:path>
              <a:moveTo>
                <a:pt x="0" y="102980"/>
              </a:moveTo>
              <a:lnTo>
                <a:pt x="3007042" y="102980"/>
              </a:lnTo>
              <a:lnTo>
                <a:pt x="3007042"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75FD257-9BF9-44B6-860B-2947E454996B}">
      <dsp:nvSpPr>
        <dsp:cNvPr id="0" name=""/>
        <dsp:cNvSpPr/>
      </dsp:nvSpPr>
      <dsp:spPr>
        <a:xfrm>
          <a:off x="1661591" y="1503711"/>
          <a:ext cx="1153386" cy="102980"/>
        </a:xfrm>
        <a:custGeom>
          <a:avLst/>
          <a:gdLst/>
          <a:ahLst/>
          <a:cxnLst/>
          <a:rect l="0" t="0" r="0" b="0"/>
          <a:pathLst>
            <a:path>
              <a:moveTo>
                <a:pt x="0" y="0"/>
              </a:moveTo>
              <a:lnTo>
                <a:pt x="1153386" y="0"/>
              </a:lnTo>
              <a:lnTo>
                <a:pt x="1153386" y="10298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21B93AE-BE51-45C2-958A-EC2B4B44E449}">
      <dsp:nvSpPr>
        <dsp:cNvPr id="0" name=""/>
        <dsp:cNvSpPr/>
      </dsp:nvSpPr>
      <dsp:spPr>
        <a:xfrm>
          <a:off x="1661591" y="1400730"/>
          <a:ext cx="1153386" cy="102980"/>
        </a:xfrm>
        <a:custGeom>
          <a:avLst/>
          <a:gdLst/>
          <a:ahLst/>
          <a:cxnLst/>
          <a:rect l="0" t="0" r="0" b="0"/>
          <a:pathLst>
            <a:path>
              <a:moveTo>
                <a:pt x="0" y="102980"/>
              </a:moveTo>
              <a:lnTo>
                <a:pt x="1153386" y="102980"/>
              </a:lnTo>
              <a:lnTo>
                <a:pt x="1153386"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4B3CD04-F98F-4B35-B7B1-7E1C40A0FA4C}">
      <dsp:nvSpPr>
        <dsp:cNvPr id="0" name=""/>
        <dsp:cNvSpPr/>
      </dsp:nvSpPr>
      <dsp:spPr>
        <a:xfrm>
          <a:off x="56" y="1275135"/>
          <a:ext cx="1661534" cy="457151"/>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Clothing and footwear</a:t>
          </a:r>
        </a:p>
      </dsp:txBody>
      <dsp:txXfrm>
        <a:off x="22372" y="1297451"/>
        <a:ext cx="1616902" cy="412519"/>
      </dsp:txXfrm>
    </dsp:sp>
    <dsp:sp modelId="{F6FA6216-E376-478A-BE10-0672CF3DBED3}">
      <dsp:nvSpPr>
        <dsp:cNvPr id="0" name=""/>
        <dsp:cNvSpPr/>
      </dsp:nvSpPr>
      <dsp:spPr>
        <a:xfrm>
          <a:off x="1991130" y="898183"/>
          <a:ext cx="1647694" cy="50254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Clothing</a:t>
          </a:r>
        </a:p>
      </dsp:txBody>
      <dsp:txXfrm>
        <a:off x="2015662" y="922715"/>
        <a:ext cx="1598630" cy="453482"/>
      </dsp:txXfrm>
    </dsp:sp>
    <dsp:sp modelId="{3ADF9D05-278A-49C6-B7E6-DD9F5C5D208B}">
      <dsp:nvSpPr>
        <dsp:cNvPr id="0" name=""/>
        <dsp:cNvSpPr/>
      </dsp:nvSpPr>
      <dsp:spPr>
        <a:xfrm>
          <a:off x="1991130" y="1606692"/>
          <a:ext cx="1647694" cy="50254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Footwear</a:t>
          </a:r>
          <a:endParaRPr lang="en-US" sz="1600" kern="1200" dirty="0"/>
        </a:p>
      </dsp:txBody>
      <dsp:txXfrm>
        <a:off x="2015662" y="1631224"/>
        <a:ext cx="1598630" cy="453482"/>
      </dsp:txXfrm>
    </dsp:sp>
    <dsp:sp modelId="{D030AF8A-FB32-4235-88D7-E25A358F5EC4}">
      <dsp:nvSpPr>
        <dsp:cNvPr id="0" name=""/>
        <dsp:cNvSpPr/>
      </dsp:nvSpPr>
      <dsp:spPr>
        <a:xfrm>
          <a:off x="3844786" y="898183"/>
          <a:ext cx="1647694" cy="502546"/>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Clothing and footwear</a:t>
          </a:r>
        </a:p>
      </dsp:txBody>
      <dsp:txXfrm>
        <a:off x="3869318" y="922715"/>
        <a:ext cx="1598630" cy="4534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05E759-16E1-4DBD-90AE-12610A620AB8}">
      <dsp:nvSpPr>
        <dsp:cNvPr id="0" name=""/>
        <dsp:cNvSpPr/>
      </dsp:nvSpPr>
      <dsp:spPr>
        <a:xfrm>
          <a:off x="1852743" y="1397652"/>
          <a:ext cx="3210002" cy="106058"/>
        </a:xfrm>
        <a:custGeom>
          <a:avLst/>
          <a:gdLst/>
          <a:ahLst/>
          <a:cxnLst/>
          <a:rect l="0" t="0" r="0" b="0"/>
          <a:pathLst>
            <a:path>
              <a:moveTo>
                <a:pt x="0" y="106058"/>
              </a:moveTo>
              <a:lnTo>
                <a:pt x="3210002" y="106058"/>
              </a:lnTo>
              <a:lnTo>
                <a:pt x="3210002"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75FD257-9BF9-44B6-860B-2947E454996B}">
      <dsp:nvSpPr>
        <dsp:cNvPr id="0" name=""/>
        <dsp:cNvSpPr/>
      </dsp:nvSpPr>
      <dsp:spPr>
        <a:xfrm>
          <a:off x="1852743" y="1503711"/>
          <a:ext cx="1187856" cy="106058"/>
        </a:xfrm>
        <a:custGeom>
          <a:avLst/>
          <a:gdLst/>
          <a:ahLst/>
          <a:cxnLst/>
          <a:rect l="0" t="0" r="0" b="0"/>
          <a:pathLst>
            <a:path>
              <a:moveTo>
                <a:pt x="0" y="0"/>
              </a:moveTo>
              <a:lnTo>
                <a:pt x="1187856" y="0"/>
              </a:lnTo>
              <a:lnTo>
                <a:pt x="1187856" y="106058"/>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21B93AE-BE51-45C2-958A-EC2B4B44E449}">
      <dsp:nvSpPr>
        <dsp:cNvPr id="0" name=""/>
        <dsp:cNvSpPr/>
      </dsp:nvSpPr>
      <dsp:spPr>
        <a:xfrm>
          <a:off x="1852743" y="1397652"/>
          <a:ext cx="1187856" cy="106058"/>
        </a:xfrm>
        <a:custGeom>
          <a:avLst/>
          <a:gdLst/>
          <a:ahLst/>
          <a:cxnLst/>
          <a:rect l="0" t="0" r="0" b="0"/>
          <a:pathLst>
            <a:path>
              <a:moveTo>
                <a:pt x="0" y="106058"/>
              </a:moveTo>
              <a:lnTo>
                <a:pt x="1187856" y="106058"/>
              </a:lnTo>
              <a:lnTo>
                <a:pt x="1187856" y="0"/>
              </a:lnTo>
            </a:path>
          </a:pathLst>
        </a:custGeom>
        <a:noFill/>
        <a:ln w="12700" cap="flat" cmpd="sng" algn="ctr">
          <a:solidFill>
            <a:schemeClr val="accent2">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4B3CD04-F98F-4B35-B7B1-7E1C40A0FA4C}">
      <dsp:nvSpPr>
        <dsp:cNvPr id="0" name=""/>
        <dsp:cNvSpPr/>
      </dsp:nvSpPr>
      <dsp:spPr>
        <a:xfrm>
          <a:off x="95" y="1260631"/>
          <a:ext cx="1852648" cy="486159"/>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Housing and Utilities</a:t>
          </a:r>
        </a:p>
      </dsp:txBody>
      <dsp:txXfrm>
        <a:off x="23827" y="1284363"/>
        <a:ext cx="1805184" cy="438695"/>
      </dsp:txXfrm>
    </dsp:sp>
    <dsp:sp modelId="{F6FA6216-E376-478A-BE10-0672CF3DBED3}">
      <dsp:nvSpPr>
        <dsp:cNvPr id="0" name=""/>
        <dsp:cNvSpPr/>
      </dsp:nvSpPr>
      <dsp:spPr>
        <a:xfrm>
          <a:off x="2192131" y="880086"/>
          <a:ext cx="1696937" cy="517565"/>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Housing</a:t>
          </a:r>
        </a:p>
      </dsp:txBody>
      <dsp:txXfrm>
        <a:off x="2217396" y="905351"/>
        <a:ext cx="1646407" cy="467035"/>
      </dsp:txXfrm>
    </dsp:sp>
    <dsp:sp modelId="{3ADF9D05-278A-49C6-B7E6-DD9F5C5D208B}">
      <dsp:nvSpPr>
        <dsp:cNvPr id="0" name=""/>
        <dsp:cNvSpPr/>
      </dsp:nvSpPr>
      <dsp:spPr>
        <a:xfrm>
          <a:off x="2192131" y="1609769"/>
          <a:ext cx="1696937" cy="517565"/>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Fuel and light</a:t>
          </a:r>
        </a:p>
      </dsp:txBody>
      <dsp:txXfrm>
        <a:off x="2217396" y="1635034"/>
        <a:ext cx="1646407" cy="467035"/>
      </dsp:txXfrm>
    </dsp:sp>
    <dsp:sp modelId="{D030AF8A-FB32-4235-88D7-E25A358F5EC4}">
      <dsp:nvSpPr>
        <dsp:cNvPr id="0" name=""/>
        <dsp:cNvSpPr/>
      </dsp:nvSpPr>
      <dsp:spPr>
        <a:xfrm>
          <a:off x="4101185" y="880086"/>
          <a:ext cx="1923122" cy="517565"/>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Household goods and services</a:t>
          </a:r>
        </a:p>
      </dsp:txBody>
      <dsp:txXfrm>
        <a:off x="4126450" y="905351"/>
        <a:ext cx="1872592" cy="467035"/>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0.47138</cdr:x>
      <cdr:y>0.17932</cdr:y>
    </cdr:from>
    <cdr:to>
      <cdr:x>0.51301</cdr:x>
      <cdr:y>0.17932</cdr:y>
    </cdr:to>
    <cdr:cxnSp macro="">
      <cdr:nvCxnSpPr>
        <cdr:cNvPr id="5" name="Straight Arrow Connector 4">
          <a:extLst xmlns:a="http://schemas.openxmlformats.org/drawingml/2006/main">
            <a:ext uri="{FF2B5EF4-FFF2-40B4-BE49-F238E27FC236}">
              <a16:creationId xmlns:a16="http://schemas.microsoft.com/office/drawing/2014/main" id="{D093EC93-9D86-FB8D-C042-62CAB023AAF9}"/>
            </a:ext>
          </a:extLst>
        </cdr:cNvPr>
        <cdr:cNvCxnSpPr/>
      </cdr:nvCxnSpPr>
      <cdr:spPr>
        <a:xfrm xmlns:a="http://schemas.openxmlformats.org/drawingml/2006/main" flipH="1">
          <a:off x="5560049" y="735193"/>
          <a:ext cx="490953" cy="0"/>
        </a:xfrm>
        <a:prstGeom xmlns:a="http://schemas.openxmlformats.org/drawingml/2006/main" prst="straightConnector1">
          <a:avLst/>
        </a:prstGeom>
        <a:ln xmlns:a="http://schemas.openxmlformats.org/drawingml/2006/main" w="28575">
          <a:tailEnd type="triangle"/>
        </a:ln>
      </cdr:spPr>
      <cdr: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0.10105</cdr:x>
      <cdr:y>0.53426</cdr:y>
    </cdr:from>
    <cdr:to>
      <cdr:x>0.13123</cdr:x>
      <cdr:y>0.7554</cdr:y>
    </cdr:to>
    <cdr:sp macro="" textlink="">
      <cdr:nvSpPr>
        <cdr:cNvPr id="2" name="Rectangle 1">
          <a:extLst xmlns:a="http://schemas.openxmlformats.org/drawingml/2006/main">
            <a:ext uri="{FF2B5EF4-FFF2-40B4-BE49-F238E27FC236}">
              <a16:creationId xmlns:a16="http://schemas.microsoft.com/office/drawing/2014/main" id="{EAC206B1-BF40-0D12-48F6-79C6761795DF}"/>
            </a:ext>
          </a:extLst>
        </cdr:cNvPr>
        <cdr:cNvSpPr/>
      </cdr:nvSpPr>
      <cdr:spPr>
        <a:xfrm xmlns:a="http://schemas.openxmlformats.org/drawingml/2006/main">
          <a:off x="1186129" y="2935552"/>
          <a:ext cx="354238" cy="1215109"/>
        </a:xfrm>
        <a:prstGeom xmlns:a="http://schemas.openxmlformats.org/drawingml/2006/main" prst="rect">
          <a:avLst/>
        </a:prstGeom>
        <a:noFill xmlns:a="http://schemas.openxmlformats.org/drawingml/2006/main"/>
        <a:ln xmlns:a="http://schemas.openxmlformats.org/drawingml/2006/main" w="28575" cap="flat" cmpd="sng" algn="ctr">
          <a:solidFill>
            <a:srgbClr val="FF0000"/>
          </a:solidFill>
          <a:prstDash val="solid"/>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accent2"/>
        </a:fontRef>
      </cdr:style>
      <cdr:txBody>
        <a:bodyPr xmlns:a="http://schemas.openxmlformats.org/drawingml/2006/main" rot="0" spcFirstLastPara="0" vert="horz" wrap="square" lIns="91440" tIns="45720" rIns="91440" bIns="45720" numCol="1" spcCol="0" rtlCol="0" fromWordArt="0" anchor="t" anchorCtr="0" forceAA="0" compatLnSpc="1">
          <a:prstTxWarp prst="textNoShape">
            <a:avLst/>
          </a:prstTxWarp>
          <a:noAutofit/>
        </a:bodyPr>
        <a:lstStyle xmlns:a="http://schemas.openxmlformats.org/drawingml/2006/main">
          <a:lvl1pPr marL="0" indent="0">
            <a:defRPr sz="1100">
              <a:solidFill>
                <a:schemeClr val="accent2"/>
              </a:solidFill>
              <a:latin typeface="+mn-lt"/>
              <a:ea typeface="+mn-ea"/>
              <a:cs typeface="+mn-cs"/>
            </a:defRPr>
          </a:lvl1pPr>
          <a:lvl2pPr marL="457200" indent="0">
            <a:defRPr sz="1100">
              <a:solidFill>
                <a:schemeClr val="accent2"/>
              </a:solidFill>
              <a:latin typeface="+mn-lt"/>
              <a:ea typeface="+mn-ea"/>
              <a:cs typeface="+mn-cs"/>
            </a:defRPr>
          </a:lvl2pPr>
          <a:lvl3pPr marL="914400" indent="0">
            <a:defRPr sz="1100">
              <a:solidFill>
                <a:schemeClr val="accent2"/>
              </a:solidFill>
              <a:latin typeface="+mn-lt"/>
              <a:ea typeface="+mn-ea"/>
              <a:cs typeface="+mn-cs"/>
            </a:defRPr>
          </a:lvl3pPr>
          <a:lvl4pPr marL="1371600" indent="0">
            <a:defRPr sz="1100">
              <a:solidFill>
                <a:schemeClr val="accent2"/>
              </a:solidFill>
              <a:latin typeface="+mn-lt"/>
              <a:ea typeface="+mn-ea"/>
              <a:cs typeface="+mn-cs"/>
            </a:defRPr>
          </a:lvl4pPr>
          <a:lvl5pPr marL="1828800" indent="0">
            <a:defRPr sz="1100">
              <a:solidFill>
                <a:schemeClr val="accent2"/>
              </a:solidFill>
              <a:latin typeface="+mn-lt"/>
              <a:ea typeface="+mn-ea"/>
              <a:cs typeface="+mn-cs"/>
            </a:defRPr>
          </a:lvl5pPr>
          <a:lvl6pPr marL="2286000" indent="0">
            <a:defRPr sz="1100">
              <a:solidFill>
                <a:schemeClr val="accent2"/>
              </a:solidFill>
              <a:latin typeface="+mn-lt"/>
              <a:ea typeface="+mn-ea"/>
              <a:cs typeface="+mn-cs"/>
            </a:defRPr>
          </a:lvl6pPr>
          <a:lvl7pPr marL="2743200" indent="0">
            <a:defRPr sz="1100">
              <a:solidFill>
                <a:schemeClr val="accent2"/>
              </a:solidFill>
              <a:latin typeface="+mn-lt"/>
              <a:ea typeface="+mn-ea"/>
              <a:cs typeface="+mn-cs"/>
            </a:defRPr>
          </a:lvl7pPr>
          <a:lvl8pPr marL="3200400" indent="0">
            <a:defRPr sz="1100">
              <a:solidFill>
                <a:schemeClr val="accent2"/>
              </a:solidFill>
              <a:latin typeface="+mn-lt"/>
              <a:ea typeface="+mn-ea"/>
              <a:cs typeface="+mn-cs"/>
            </a:defRPr>
          </a:lvl8pPr>
          <a:lvl9pPr marL="3657600" indent="0">
            <a:defRPr sz="1100">
              <a:solidFill>
                <a:schemeClr val="accent2"/>
              </a:solidFill>
              <a:latin typeface="+mn-lt"/>
              <a:ea typeface="+mn-ea"/>
              <a:cs typeface="+mn-cs"/>
            </a:defRPr>
          </a:lvl9pPr>
        </a:lstStyle>
        <a:p xmlns:a="http://schemas.openxmlformats.org/drawingml/2006/main">
          <a:pPr algn="l"/>
          <a:endParaRPr lang="en-IN" sz="1100"/>
        </a:p>
      </cdr:txBody>
    </cdr:sp>
  </cdr:relSizeAnchor>
  <cdr:relSizeAnchor xmlns:cdr="http://schemas.openxmlformats.org/drawingml/2006/chartDrawing">
    <cdr:from>
      <cdr:x>0.20518</cdr:x>
      <cdr:y>0.53084</cdr:y>
    </cdr:from>
    <cdr:to>
      <cdr:x>0.23536</cdr:x>
      <cdr:y>0.71817</cdr:y>
    </cdr:to>
    <cdr:sp macro="" textlink="">
      <cdr:nvSpPr>
        <cdr:cNvPr id="3" name="Rectangle 2">
          <a:extLst xmlns:a="http://schemas.openxmlformats.org/drawingml/2006/main">
            <a:ext uri="{FF2B5EF4-FFF2-40B4-BE49-F238E27FC236}">
              <a16:creationId xmlns:a16="http://schemas.microsoft.com/office/drawing/2014/main" id="{C1343163-D182-0B19-9A7E-83F7EC40B525}"/>
            </a:ext>
          </a:extLst>
        </cdr:cNvPr>
        <cdr:cNvSpPr/>
      </cdr:nvSpPr>
      <cdr:spPr>
        <a:xfrm xmlns:a="http://schemas.openxmlformats.org/drawingml/2006/main">
          <a:off x="2408391" y="2916768"/>
          <a:ext cx="354238" cy="1029298"/>
        </a:xfrm>
        <a:prstGeom xmlns:a="http://schemas.openxmlformats.org/drawingml/2006/main" prst="rect">
          <a:avLst/>
        </a:prstGeom>
        <a:noFill xmlns:a="http://schemas.openxmlformats.org/drawingml/2006/main"/>
        <a:ln xmlns:a="http://schemas.openxmlformats.org/drawingml/2006/main" w="28575" cap="flat" cmpd="sng" algn="ctr">
          <a:solidFill>
            <a:srgbClr val="FF0000"/>
          </a:solidFill>
          <a:prstDash val="solid"/>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accent2"/>
        </a:fontRef>
      </cdr:style>
      <cdr:txBody>
        <a:bodyPr xmlns:a="http://schemas.openxmlformats.org/drawingml/2006/main" rot="0" spcFirstLastPara="0" vert="horz" wrap="square" lIns="91440" tIns="45720" rIns="91440" bIns="45720" numCol="1" spcCol="0" rtlCol="0" fromWordArt="0" anchor="t" anchorCtr="0" forceAA="0" compatLnSpc="1">
          <a:prstTxWarp prst="textNoShape">
            <a:avLst/>
          </a:prstTxWarp>
          <a:noAutofit/>
        </a:bodyPr>
        <a:lstStyle xmlns:a="http://schemas.openxmlformats.org/drawingml/2006/main">
          <a:lvl1pPr marL="0" indent="0">
            <a:defRPr sz="1100">
              <a:solidFill>
                <a:schemeClr val="accent2"/>
              </a:solidFill>
              <a:latin typeface="+mn-lt"/>
              <a:ea typeface="+mn-ea"/>
              <a:cs typeface="+mn-cs"/>
            </a:defRPr>
          </a:lvl1pPr>
          <a:lvl2pPr marL="457200" indent="0">
            <a:defRPr sz="1100">
              <a:solidFill>
                <a:schemeClr val="accent2"/>
              </a:solidFill>
              <a:latin typeface="+mn-lt"/>
              <a:ea typeface="+mn-ea"/>
              <a:cs typeface="+mn-cs"/>
            </a:defRPr>
          </a:lvl2pPr>
          <a:lvl3pPr marL="914400" indent="0">
            <a:defRPr sz="1100">
              <a:solidFill>
                <a:schemeClr val="accent2"/>
              </a:solidFill>
              <a:latin typeface="+mn-lt"/>
              <a:ea typeface="+mn-ea"/>
              <a:cs typeface="+mn-cs"/>
            </a:defRPr>
          </a:lvl3pPr>
          <a:lvl4pPr marL="1371600" indent="0">
            <a:defRPr sz="1100">
              <a:solidFill>
                <a:schemeClr val="accent2"/>
              </a:solidFill>
              <a:latin typeface="+mn-lt"/>
              <a:ea typeface="+mn-ea"/>
              <a:cs typeface="+mn-cs"/>
            </a:defRPr>
          </a:lvl4pPr>
          <a:lvl5pPr marL="1828800" indent="0">
            <a:defRPr sz="1100">
              <a:solidFill>
                <a:schemeClr val="accent2"/>
              </a:solidFill>
              <a:latin typeface="+mn-lt"/>
              <a:ea typeface="+mn-ea"/>
              <a:cs typeface="+mn-cs"/>
            </a:defRPr>
          </a:lvl5pPr>
          <a:lvl6pPr marL="2286000" indent="0">
            <a:defRPr sz="1100">
              <a:solidFill>
                <a:schemeClr val="accent2"/>
              </a:solidFill>
              <a:latin typeface="+mn-lt"/>
              <a:ea typeface="+mn-ea"/>
              <a:cs typeface="+mn-cs"/>
            </a:defRPr>
          </a:lvl6pPr>
          <a:lvl7pPr marL="2743200" indent="0">
            <a:defRPr sz="1100">
              <a:solidFill>
                <a:schemeClr val="accent2"/>
              </a:solidFill>
              <a:latin typeface="+mn-lt"/>
              <a:ea typeface="+mn-ea"/>
              <a:cs typeface="+mn-cs"/>
            </a:defRPr>
          </a:lvl7pPr>
          <a:lvl8pPr marL="3200400" indent="0">
            <a:defRPr sz="1100">
              <a:solidFill>
                <a:schemeClr val="accent2"/>
              </a:solidFill>
              <a:latin typeface="+mn-lt"/>
              <a:ea typeface="+mn-ea"/>
              <a:cs typeface="+mn-cs"/>
            </a:defRPr>
          </a:lvl8pPr>
          <a:lvl9pPr marL="3657600" indent="0">
            <a:defRPr sz="1100">
              <a:solidFill>
                <a:schemeClr val="accent2"/>
              </a:solidFill>
              <a:latin typeface="+mn-lt"/>
              <a:ea typeface="+mn-ea"/>
              <a:cs typeface="+mn-cs"/>
            </a:defRPr>
          </a:lvl9pPr>
        </a:lstStyle>
        <a:p xmlns:a="http://schemas.openxmlformats.org/drawingml/2006/main">
          <a:pPr algn="l"/>
          <a:endParaRPr lang="en-IN" sz="1100"/>
        </a:p>
      </cdr:txBody>
    </cdr:sp>
  </cdr:relSizeAnchor>
  <cdr:relSizeAnchor xmlns:cdr="http://schemas.openxmlformats.org/drawingml/2006/chartDrawing">
    <cdr:from>
      <cdr:x>0.34341</cdr:x>
      <cdr:y>0.53084</cdr:y>
    </cdr:from>
    <cdr:to>
      <cdr:x>0.37225</cdr:x>
      <cdr:y>0.64302</cdr:y>
    </cdr:to>
    <cdr:sp macro="" textlink="">
      <cdr:nvSpPr>
        <cdr:cNvPr id="4" name="Rectangle 3">
          <a:extLst xmlns:a="http://schemas.openxmlformats.org/drawingml/2006/main">
            <a:ext uri="{FF2B5EF4-FFF2-40B4-BE49-F238E27FC236}">
              <a16:creationId xmlns:a16="http://schemas.microsoft.com/office/drawing/2014/main" id="{11413F8D-5AD0-53AB-ABC7-36D926474D98}"/>
            </a:ext>
          </a:extLst>
        </cdr:cNvPr>
        <cdr:cNvSpPr/>
      </cdr:nvSpPr>
      <cdr:spPr>
        <a:xfrm xmlns:a="http://schemas.openxmlformats.org/drawingml/2006/main">
          <a:off x="4030928" y="2916768"/>
          <a:ext cx="338555" cy="616419"/>
        </a:xfrm>
        <a:prstGeom xmlns:a="http://schemas.openxmlformats.org/drawingml/2006/main" prst="rect">
          <a:avLst/>
        </a:prstGeom>
        <a:noFill xmlns:a="http://schemas.openxmlformats.org/drawingml/2006/main"/>
        <a:ln xmlns:a="http://schemas.openxmlformats.org/drawingml/2006/main" w="28575" cap="flat" cmpd="sng" algn="ctr">
          <a:solidFill>
            <a:srgbClr val="FF0000"/>
          </a:solidFill>
          <a:prstDash val="solid"/>
          <a:round/>
          <a:headEnd type="none" w="med" len="med"/>
          <a:tailEnd type="none"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accent2"/>
        </a:fontRef>
      </cdr:style>
      <cdr:txBody>
        <a:bodyPr xmlns:a="http://schemas.openxmlformats.org/drawingml/2006/main" rot="0" spcFirstLastPara="0" vert="horz" wrap="square" lIns="91440" tIns="45720" rIns="91440" bIns="45720" numCol="1" spcCol="0" rtlCol="0" fromWordArt="0" anchor="t" anchorCtr="0" forceAA="0" compatLnSpc="1">
          <a:prstTxWarp prst="textNoShape">
            <a:avLst/>
          </a:prstTxWarp>
          <a:noAutofit/>
        </a:bodyPr>
        <a:lstStyle xmlns:a="http://schemas.openxmlformats.org/drawingml/2006/main">
          <a:lvl1pPr marL="0" indent="0">
            <a:defRPr sz="1100">
              <a:solidFill>
                <a:schemeClr val="accent2"/>
              </a:solidFill>
              <a:latin typeface="+mn-lt"/>
              <a:ea typeface="+mn-ea"/>
              <a:cs typeface="+mn-cs"/>
            </a:defRPr>
          </a:lvl1pPr>
          <a:lvl2pPr marL="457200" indent="0">
            <a:defRPr sz="1100">
              <a:solidFill>
                <a:schemeClr val="accent2"/>
              </a:solidFill>
              <a:latin typeface="+mn-lt"/>
              <a:ea typeface="+mn-ea"/>
              <a:cs typeface="+mn-cs"/>
            </a:defRPr>
          </a:lvl2pPr>
          <a:lvl3pPr marL="914400" indent="0">
            <a:defRPr sz="1100">
              <a:solidFill>
                <a:schemeClr val="accent2"/>
              </a:solidFill>
              <a:latin typeface="+mn-lt"/>
              <a:ea typeface="+mn-ea"/>
              <a:cs typeface="+mn-cs"/>
            </a:defRPr>
          </a:lvl3pPr>
          <a:lvl4pPr marL="1371600" indent="0">
            <a:defRPr sz="1100">
              <a:solidFill>
                <a:schemeClr val="accent2"/>
              </a:solidFill>
              <a:latin typeface="+mn-lt"/>
              <a:ea typeface="+mn-ea"/>
              <a:cs typeface="+mn-cs"/>
            </a:defRPr>
          </a:lvl4pPr>
          <a:lvl5pPr marL="1828800" indent="0">
            <a:defRPr sz="1100">
              <a:solidFill>
                <a:schemeClr val="accent2"/>
              </a:solidFill>
              <a:latin typeface="+mn-lt"/>
              <a:ea typeface="+mn-ea"/>
              <a:cs typeface="+mn-cs"/>
            </a:defRPr>
          </a:lvl5pPr>
          <a:lvl6pPr marL="2286000" indent="0">
            <a:defRPr sz="1100">
              <a:solidFill>
                <a:schemeClr val="accent2"/>
              </a:solidFill>
              <a:latin typeface="+mn-lt"/>
              <a:ea typeface="+mn-ea"/>
              <a:cs typeface="+mn-cs"/>
            </a:defRPr>
          </a:lvl6pPr>
          <a:lvl7pPr marL="2743200" indent="0">
            <a:defRPr sz="1100">
              <a:solidFill>
                <a:schemeClr val="accent2"/>
              </a:solidFill>
              <a:latin typeface="+mn-lt"/>
              <a:ea typeface="+mn-ea"/>
              <a:cs typeface="+mn-cs"/>
            </a:defRPr>
          </a:lvl7pPr>
          <a:lvl8pPr marL="3200400" indent="0">
            <a:defRPr sz="1100">
              <a:solidFill>
                <a:schemeClr val="accent2"/>
              </a:solidFill>
              <a:latin typeface="+mn-lt"/>
              <a:ea typeface="+mn-ea"/>
              <a:cs typeface="+mn-cs"/>
            </a:defRPr>
          </a:lvl8pPr>
          <a:lvl9pPr marL="3657600" indent="0">
            <a:defRPr sz="1100">
              <a:solidFill>
                <a:schemeClr val="accent2"/>
              </a:solidFill>
              <a:latin typeface="+mn-lt"/>
              <a:ea typeface="+mn-ea"/>
              <a:cs typeface="+mn-cs"/>
            </a:defRPr>
          </a:lvl9pPr>
        </a:lstStyle>
        <a:p xmlns:a="http://schemas.openxmlformats.org/drawingml/2006/main">
          <a:pPr algn="l"/>
          <a:endParaRPr lang="en-IN" sz="11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5AA0A2-9DA3-47D7-8177-3C34135EBD27}"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E070EF-F5E9-4DD1-BA49-ED8582F08B80}" type="slidenum">
              <a:rPr lang="en-US" smtClean="0"/>
              <a:t>‹#›</a:t>
            </a:fld>
            <a:endParaRPr lang="en-US"/>
          </a:p>
        </p:txBody>
      </p:sp>
    </p:spTree>
    <p:extLst>
      <p:ext uri="{BB962C8B-B14F-4D97-AF65-F5344CB8AC3E}">
        <p14:creationId xmlns:p14="http://schemas.microsoft.com/office/powerpoint/2010/main" val="761152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E070EF-F5E9-4DD1-BA49-ED8582F08B80}" type="slidenum">
              <a:rPr lang="en-US" smtClean="0"/>
              <a:t>11</a:t>
            </a:fld>
            <a:endParaRPr lang="en-US"/>
          </a:p>
        </p:txBody>
      </p:sp>
    </p:spTree>
    <p:extLst>
      <p:ext uri="{BB962C8B-B14F-4D97-AF65-F5344CB8AC3E}">
        <p14:creationId xmlns:p14="http://schemas.microsoft.com/office/powerpoint/2010/main" val="3758715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E070EF-F5E9-4DD1-BA49-ED8582F08B80}" type="slidenum">
              <a:rPr lang="en-US" smtClean="0"/>
              <a:t>16</a:t>
            </a:fld>
            <a:endParaRPr lang="en-US"/>
          </a:p>
        </p:txBody>
      </p:sp>
    </p:spTree>
    <p:extLst>
      <p:ext uri="{BB962C8B-B14F-4D97-AF65-F5344CB8AC3E}">
        <p14:creationId xmlns:p14="http://schemas.microsoft.com/office/powerpoint/2010/main" val="1563300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4689F-280B-648C-BD6D-AC8BB4C85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AF75C-3095-C041-FA46-FCF14F9C6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74F9C-9DD6-DDAC-E7CF-1D762C76B2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68252-FF5B-F20C-D2F3-B83861E8435C}"/>
              </a:ext>
            </a:extLst>
          </p:cNvPr>
          <p:cNvSpPr>
            <a:spLocks noGrp="1"/>
          </p:cNvSpPr>
          <p:nvPr>
            <p:ph type="sldNum" sz="quarter" idx="5"/>
          </p:nvPr>
        </p:nvSpPr>
        <p:spPr/>
        <p:txBody>
          <a:bodyPr/>
          <a:lstStyle/>
          <a:p>
            <a:fld id="{64E070EF-F5E9-4DD1-BA49-ED8582F08B80}" type="slidenum">
              <a:rPr lang="en-US" smtClean="0"/>
              <a:t>17</a:t>
            </a:fld>
            <a:endParaRPr lang="en-US"/>
          </a:p>
        </p:txBody>
      </p:sp>
    </p:spTree>
    <p:extLst>
      <p:ext uri="{BB962C8B-B14F-4D97-AF65-F5344CB8AC3E}">
        <p14:creationId xmlns:p14="http://schemas.microsoft.com/office/powerpoint/2010/main" val="1735539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0E9F4-6762-25A4-1A82-1972DF32F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22198-7375-CFD6-4A28-C483C6764E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86836-6569-27DE-A4D1-B9001868B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5D304C-0258-0DCE-048D-3860B89ADB77}"/>
              </a:ext>
            </a:extLst>
          </p:cNvPr>
          <p:cNvSpPr>
            <a:spLocks noGrp="1"/>
          </p:cNvSpPr>
          <p:nvPr>
            <p:ph type="sldNum" sz="quarter" idx="5"/>
          </p:nvPr>
        </p:nvSpPr>
        <p:spPr/>
        <p:txBody>
          <a:bodyPr/>
          <a:lstStyle/>
          <a:p>
            <a:fld id="{64E070EF-F5E9-4DD1-BA49-ED8582F08B80}" type="slidenum">
              <a:rPr lang="en-US" smtClean="0"/>
              <a:t>18</a:t>
            </a:fld>
            <a:endParaRPr lang="en-US"/>
          </a:p>
        </p:txBody>
      </p:sp>
    </p:spTree>
    <p:extLst>
      <p:ext uri="{BB962C8B-B14F-4D97-AF65-F5344CB8AC3E}">
        <p14:creationId xmlns:p14="http://schemas.microsoft.com/office/powerpoint/2010/main" val="1647570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DAF2C-AF46-D45C-329D-90F68C673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33B9A-162F-0A12-0119-704055490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945B8-F9BE-12ED-4C59-20E412C9B8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3C50BA-5667-C9D6-3E66-80ED8E4BAE4F}"/>
              </a:ext>
            </a:extLst>
          </p:cNvPr>
          <p:cNvSpPr>
            <a:spLocks noGrp="1"/>
          </p:cNvSpPr>
          <p:nvPr>
            <p:ph type="sldNum" sz="quarter" idx="5"/>
          </p:nvPr>
        </p:nvSpPr>
        <p:spPr/>
        <p:txBody>
          <a:bodyPr/>
          <a:lstStyle/>
          <a:p>
            <a:fld id="{64E070EF-F5E9-4DD1-BA49-ED8582F08B80}" type="slidenum">
              <a:rPr lang="en-US" smtClean="0"/>
              <a:t>19</a:t>
            </a:fld>
            <a:endParaRPr lang="en-US"/>
          </a:p>
        </p:txBody>
      </p:sp>
    </p:spTree>
    <p:extLst>
      <p:ext uri="{BB962C8B-B14F-4D97-AF65-F5344CB8AC3E}">
        <p14:creationId xmlns:p14="http://schemas.microsoft.com/office/powerpoint/2010/main" val="307622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5EC1B-8193-52EB-704C-CE6BAFC6E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C12FF-05E5-3EBE-A948-F954EECF8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C3564-C9DF-98AA-69B1-47C9F19A50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48A6D2-9705-56F8-A6B9-2CA0C7042634}"/>
              </a:ext>
            </a:extLst>
          </p:cNvPr>
          <p:cNvSpPr>
            <a:spLocks noGrp="1"/>
          </p:cNvSpPr>
          <p:nvPr>
            <p:ph type="sldNum" sz="quarter" idx="5"/>
          </p:nvPr>
        </p:nvSpPr>
        <p:spPr/>
        <p:txBody>
          <a:bodyPr/>
          <a:lstStyle/>
          <a:p>
            <a:fld id="{64E070EF-F5E9-4DD1-BA49-ED8582F08B80}" type="slidenum">
              <a:rPr lang="en-US" smtClean="0"/>
              <a:t>20</a:t>
            </a:fld>
            <a:endParaRPr lang="en-US"/>
          </a:p>
        </p:txBody>
      </p:sp>
    </p:spTree>
    <p:extLst>
      <p:ext uri="{BB962C8B-B14F-4D97-AF65-F5344CB8AC3E}">
        <p14:creationId xmlns:p14="http://schemas.microsoft.com/office/powerpoint/2010/main" val="4232294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7A2F6-EDFE-9113-602C-CABBB82AF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18CA1-4A06-8765-8114-98E7E4795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999EC-E602-116D-76CA-E6AF3CFF8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79F76C-D3F9-7578-7DDA-D72F56F0DC9B}"/>
              </a:ext>
            </a:extLst>
          </p:cNvPr>
          <p:cNvSpPr>
            <a:spLocks noGrp="1"/>
          </p:cNvSpPr>
          <p:nvPr>
            <p:ph type="sldNum" sz="quarter" idx="5"/>
          </p:nvPr>
        </p:nvSpPr>
        <p:spPr/>
        <p:txBody>
          <a:bodyPr/>
          <a:lstStyle/>
          <a:p>
            <a:fld id="{64E070EF-F5E9-4DD1-BA49-ED8582F08B80}" type="slidenum">
              <a:rPr lang="en-US" smtClean="0"/>
              <a:t>21</a:t>
            </a:fld>
            <a:endParaRPr lang="en-US"/>
          </a:p>
        </p:txBody>
      </p:sp>
    </p:spTree>
    <p:extLst>
      <p:ext uri="{BB962C8B-B14F-4D97-AF65-F5344CB8AC3E}">
        <p14:creationId xmlns:p14="http://schemas.microsoft.com/office/powerpoint/2010/main" val="2379274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EEE34-5AEB-9937-3739-CCD1E2780B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C87B0D-3C8B-92BE-9E53-D8CC54F0F3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763F2C-05C0-28E1-EEC7-7983BFA396E2}"/>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5" name="Footer Placeholder 4">
            <a:extLst>
              <a:ext uri="{FF2B5EF4-FFF2-40B4-BE49-F238E27FC236}">
                <a16:creationId xmlns:a16="http://schemas.microsoft.com/office/drawing/2014/main" id="{8D52A8BD-703C-9969-7B7C-FB7C575930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8367B-64FC-DC27-1E59-E830FF7785D5}"/>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1725042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B9772-2F2C-1254-8ECD-7EAACC5E79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5E93B0-0D36-4299-D9B4-AC1419C25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FA21F3-DE11-21EE-7EF6-D89E12CDCAFC}"/>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5" name="Footer Placeholder 4">
            <a:extLst>
              <a:ext uri="{FF2B5EF4-FFF2-40B4-BE49-F238E27FC236}">
                <a16:creationId xmlns:a16="http://schemas.microsoft.com/office/drawing/2014/main" id="{BF8D8737-D561-A946-172E-E41902133F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EA9418-3B30-FF74-49C0-E862F43A56B9}"/>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1650735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3586E-7462-F3FE-AF66-46F214364D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9AE12B-211D-D8E4-5ECF-8C5D9B237D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B94A90-5BDD-518A-842B-A58E8634C33B}"/>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5" name="Footer Placeholder 4">
            <a:extLst>
              <a:ext uri="{FF2B5EF4-FFF2-40B4-BE49-F238E27FC236}">
                <a16:creationId xmlns:a16="http://schemas.microsoft.com/office/drawing/2014/main" id="{B387A2D1-3B21-8950-A48B-5703B6339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001457-A744-CBFF-6A3B-74351EFEDD3D}"/>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872610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6CD74-E747-9749-7094-92A5FD201D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5A4205-DC95-70EB-CCDA-17FAE69739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DBDBC8-FA86-E0A6-0ED1-E897F23389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EBA9DB-1196-E2E7-99CE-0F8F835E98A3}"/>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6" name="Footer Placeholder 5">
            <a:extLst>
              <a:ext uri="{FF2B5EF4-FFF2-40B4-BE49-F238E27FC236}">
                <a16:creationId xmlns:a16="http://schemas.microsoft.com/office/drawing/2014/main" id="{03E06D4A-B401-F505-FED7-E6E570EE20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9604D1-4CC0-B679-7740-236B037CBCCA}"/>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2897405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284F0-BB12-BE46-C0F7-E43EBD361B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1E610B-86D9-AF59-6C8C-A42FB8C7C6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0867E7-E270-D386-E048-6BA5E9628B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B6410-EDAB-B1A4-AD26-7100D58BD9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00583B-AAA3-EC2B-C0BB-3EA7FBEF51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512B4E-3C9B-2D05-2292-6A9D77E27316}"/>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8" name="Footer Placeholder 7">
            <a:extLst>
              <a:ext uri="{FF2B5EF4-FFF2-40B4-BE49-F238E27FC236}">
                <a16:creationId xmlns:a16="http://schemas.microsoft.com/office/drawing/2014/main" id="{41E7443C-C435-8802-3206-B5EEDE0384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18F6F0-D2C1-7139-BE57-95C553E1BE33}"/>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2892231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FA6E-1D70-DB57-4FAB-A9BB0956E8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86C476-F5CB-D205-A5EB-B44F08EB1C88}"/>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4" name="Footer Placeholder 3">
            <a:extLst>
              <a:ext uri="{FF2B5EF4-FFF2-40B4-BE49-F238E27FC236}">
                <a16:creationId xmlns:a16="http://schemas.microsoft.com/office/drawing/2014/main" id="{0FA6BF4B-A13F-A2F5-125A-784D627EED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CA3023-E612-FE29-CA7B-0A227DCAA1D6}"/>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290819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CB8A76-0CCE-F1D4-6CEF-8AEE4D48A5A4}"/>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3" name="Footer Placeholder 2">
            <a:extLst>
              <a:ext uri="{FF2B5EF4-FFF2-40B4-BE49-F238E27FC236}">
                <a16:creationId xmlns:a16="http://schemas.microsoft.com/office/drawing/2014/main" id="{3EFA705C-B956-C509-A603-8608B84E86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5B2D65-C7D6-4FD6-32D1-86929B65D141}"/>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1241269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39B4-6BFE-106C-8B9D-57AE2A0224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971EBA-0724-251E-BAAD-AC9D49F89D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6BC733-9572-530D-2D7A-FFFAB73F7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94B5E5-FFCE-811C-49BF-84A9A06D6550}"/>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6" name="Footer Placeholder 5">
            <a:extLst>
              <a:ext uri="{FF2B5EF4-FFF2-40B4-BE49-F238E27FC236}">
                <a16:creationId xmlns:a16="http://schemas.microsoft.com/office/drawing/2014/main" id="{F1FA0D3E-54F5-EA63-0179-BB10522D66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45E33-6903-41F3-4E70-A7168A1D56C4}"/>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561028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D288-228E-8885-0849-796417D0EE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2A3599-70B8-DF81-CC75-6A7AABE383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4A7114-E111-507E-B590-D9A274A13D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ECF3E5-C4AB-E2B1-B0E6-8CAC15B7244E}"/>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6" name="Footer Placeholder 5">
            <a:extLst>
              <a:ext uri="{FF2B5EF4-FFF2-40B4-BE49-F238E27FC236}">
                <a16:creationId xmlns:a16="http://schemas.microsoft.com/office/drawing/2014/main" id="{F943E130-5E57-24F6-8E5C-DBF2EB5D26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12D35-D5B9-E984-C619-A8539EDDBD80}"/>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923825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5CBB0-5A6D-2479-812A-C0FBF7D245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17A9E2-607E-D4D7-2D23-E5C384E5BA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0E158-BE2F-8C67-1DF4-A43F26A42E58}"/>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5" name="Footer Placeholder 4">
            <a:extLst>
              <a:ext uri="{FF2B5EF4-FFF2-40B4-BE49-F238E27FC236}">
                <a16:creationId xmlns:a16="http://schemas.microsoft.com/office/drawing/2014/main" id="{A5F6F4D8-993E-A231-7515-9D4BCA94B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940D2-01CA-C6B4-8335-AE6D3AE8A3DA}"/>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3695110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942C32-6A02-6623-06E8-5093247E22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5DDCB8-A7C8-C1A7-3B25-0CEFE48F2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EF4BAA-1138-B98B-B48E-68983C82A2FC}"/>
              </a:ext>
            </a:extLst>
          </p:cNvPr>
          <p:cNvSpPr>
            <a:spLocks noGrp="1"/>
          </p:cNvSpPr>
          <p:nvPr>
            <p:ph type="dt" sz="half" idx="10"/>
          </p:nvPr>
        </p:nvSpPr>
        <p:spPr/>
        <p:txBody>
          <a:bodyPr/>
          <a:lstStyle/>
          <a:p>
            <a:fld id="{382E0FF3-9140-46F9-9BFE-D3844BDD6C7C}" type="datetimeFigureOut">
              <a:rPr lang="en-US" smtClean="0"/>
              <a:t>6/3/2026</a:t>
            </a:fld>
            <a:endParaRPr lang="en-US"/>
          </a:p>
        </p:txBody>
      </p:sp>
      <p:sp>
        <p:nvSpPr>
          <p:cNvPr id="5" name="Footer Placeholder 4">
            <a:extLst>
              <a:ext uri="{FF2B5EF4-FFF2-40B4-BE49-F238E27FC236}">
                <a16:creationId xmlns:a16="http://schemas.microsoft.com/office/drawing/2014/main" id="{1CBABBE8-75DB-1F53-1A7C-50BB2B649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75525-2C3A-D63C-9953-77091E2B5090}"/>
              </a:ext>
            </a:extLst>
          </p:cNvPr>
          <p:cNvSpPr>
            <a:spLocks noGrp="1"/>
          </p:cNvSpPr>
          <p:nvPr>
            <p:ph type="sldNum" sz="quarter" idx="12"/>
          </p:nvPr>
        </p:nvSpPr>
        <p:spPr/>
        <p:txBody>
          <a:bodyPr/>
          <a:lstStyle/>
          <a:p>
            <a:fld id="{D3BBE9F7-82C8-4E4D-9D28-CA1A71A8C432}" type="slidenum">
              <a:rPr lang="en-US" smtClean="0"/>
              <a:t>‹#›</a:t>
            </a:fld>
            <a:endParaRPr lang="en-US"/>
          </a:p>
        </p:txBody>
      </p:sp>
    </p:spTree>
    <p:extLst>
      <p:ext uri="{BB962C8B-B14F-4D97-AF65-F5344CB8AC3E}">
        <p14:creationId xmlns:p14="http://schemas.microsoft.com/office/powerpoint/2010/main" val="3800714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3B635E-830A-979A-CFA5-7ACEBE7B93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4EFB84-6541-D54B-2F9D-329B6B5CCE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18CD09-28F5-BEA0-1D43-7E7CBB9AB0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2E0FF3-9140-46F9-9BFE-D3844BDD6C7C}" type="datetimeFigureOut">
              <a:rPr lang="en-US" smtClean="0"/>
              <a:t>6/3/2026</a:t>
            </a:fld>
            <a:endParaRPr lang="en-US"/>
          </a:p>
        </p:txBody>
      </p:sp>
      <p:sp>
        <p:nvSpPr>
          <p:cNvPr id="5" name="Footer Placeholder 4">
            <a:extLst>
              <a:ext uri="{FF2B5EF4-FFF2-40B4-BE49-F238E27FC236}">
                <a16:creationId xmlns:a16="http://schemas.microsoft.com/office/drawing/2014/main" id="{45435DA7-907E-8120-A383-6CEABD1D75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61346C-A776-9277-120A-2051CFE87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BBE9F7-82C8-4E4D-9D28-CA1A71A8C432}" type="slidenum">
              <a:rPr lang="en-US" smtClean="0"/>
              <a:t>‹#›</a:t>
            </a:fld>
            <a:endParaRPr lang="en-US"/>
          </a:p>
        </p:txBody>
      </p:sp>
    </p:spTree>
    <p:extLst>
      <p:ext uri="{BB962C8B-B14F-4D97-AF65-F5344CB8AC3E}">
        <p14:creationId xmlns:p14="http://schemas.microsoft.com/office/powerpoint/2010/main" val="193883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diagramData" Target="../diagrams/data5.xml"/><Relationship Id="rId2" Type="http://schemas.openxmlformats.org/officeDocument/2006/relationships/diagramData" Target="../diagrams/data3.xml"/><Relationship Id="rId16" Type="http://schemas.microsoft.com/office/2007/relationships/diagramDrawing" Target="../diagrams/drawing5.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4/relationships/chartEx" Target="../charts/chartEx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4/relationships/chartEx" Target="../charts/chartEx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4/relationships/chartEx" Target="../charts/chartEx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4/relationships/chartEx" Target="../charts/chartEx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4/relationships/chartEx" Target="../charts/chartEx6.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4134-6F41-C3F3-5E98-7836E80F7C39}"/>
              </a:ext>
            </a:extLst>
          </p:cNvPr>
          <p:cNvSpPr>
            <a:spLocks noGrp="1"/>
          </p:cNvSpPr>
          <p:nvPr>
            <p:ph type="ctrTitle"/>
          </p:nvPr>
        </p:nvSpPr>
        <p:spPr>
          <a:xfrm>
            <a:off x="1524000" y="2442490"/>
            <a:ext cx="9144000" cy="1036787"/>
          </a:xfrm>
        </p:spPr>
        <p:txBody>
          <a:bodyPr/>
          <a:lstStyle/>
          <a:p>
            <a:r>
              <a:rPr lang="en-US" dirty="0"/>
              <a:t>India CPI Inflation</a:t>
            </a:r>
          </a:p>
        </p:txBody>
      </p:sp>
    </p:spTree>
    <p:extLst>
      <p:ext uri="{BB962C8B-B14F-4D97-AF65-F5344CB8AC3E}">
        <p14:creationId xmlns:p14="http://schemas.microsoft.com/office/powerpoint/2010/main" val="690788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7E7F7-1E55-11CA-B7EE-E1147B31FB90}"/>
              </a:ext>
            </a:extLst>
          </p:cNvPr>
          <p:cNvSpPr>
            <a:spLocks noGrp="1"/>
          </p:cNvSpPr>
          <p:nvPr>
            <p:ph type="title"/>
          </p:nvPr>
        </p:nvSpPr>
        <p:spPr>
          <a:xfrm>
            <a:off x="754837" y="137899"/>
            <a:ext cx="10205686"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What is CPI Index ?</a:t>
            </a:r>
          </a:p>
        </p:txBody>
      </p:sp>
      <p:sp>
        <p:nvSpPr>
          <p:cNvPr id="3" name="Content Placeholder 2">
            <a:extLst>
              <a:ext uri="{FF2B5EF4-FFF2-40B4-BE49-F238E27FC236}">
                <a16:creationId xmlns:a16="http://schemas.microsoft.com/office/drawing/2014/main" id="{0CA36A8B-8BE5-A456-0FCC-661BED2E0E81}"/>
              </a:ext>
            </a:extLst>
          </p:cNvPr>
          <p:cNvSpPr>
            <a:spLocks noGrp="1"/>
          </p:cNvSpPr>
          <p:nvPr>
            <p:ph idx="1"/>
          </p:nvPr>
        </p:nvSpPr>
        <p:spPr>
          <a:xfrm>
            <a:off x="4473809" y="810072"/>
            <a:ext cx="7511582" cy="5910029"/>
          </a:xfrm>
        </p:spPr>
        <p:txBody>
          <a:bodyPr>
            <a:normAutofit/>
          </a:bodyPr>
          <a:lstStyle/>
          <a:p>
            <a:pPr algn="just"/>
            <a:r>
              <a:rPr lang="en-US" sz="1800" dirty="0">
                <a:latin typeface="Tahoma" panose="020B0604030504040204" pitchFamily="34" charset="0"/>
                <a:ea typeface="Tahoma" panose="020B0604030504040204" pitchFamily="34" charset="0"/>
                <a:cs typeface="Tahoma" panose="020B0604030504040204" pitchFamily="34" charset="0"/>
              </a:rPr>
              <a:t>Consumer Price Index (CPI) measures the average change over time in prices paid by a consumers for a basket of goods and services such as food, housing, transportation, healthcare, education and fuel.</a:t>
            </a:r>
          </a:p>
          <a:p>
            <a:pPr marL="0"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algn="just"/>
            <a:r>
              <a:rPr lang="en-US" sz="1800" dirty="0">
                <a:latin typeface="Tahoma" panose="020B0604030504040204" pitchFamily="34" charset="0"/>
                <a:ea typeface="Tahoma" panose="020B0604030504040204" pitchFamily="34" charset="0"/>
                <a:cs typeface="Tahoma" panose="020B0604030504040204" pitchFamily="34" charset="0"/>
              </a:rPr>
              <a:t>In India the consumer price index is one of the primary indicators used to measure retail inflation and reflects changes in the cost of living for households.</a:t>
            </a:r>
          </a:p>
          <a:p>
            <a:pPr marL="0"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algn="just"/>
            <a:r>
              <a:rPr lang="en-US" sz="1800" dirty="0">
                <a:latin typeface="Tahoma" panose="020B0604030504040204" pitchFamily="34" charset="0"/>
                <a:ea typeface="Tahoma" panose="020B0604030504040204" pitchFamily="34" charset="0"/>
                <a:cs typeface="Tahoma" panose="020B0604030504040204" pitchFamily="34" charset="0"/>
              </a:rPr>
              <a:t>The consumer price index is published by National Statistical Office under the ministry of Statistics and Programme Implementation.</a:t>
            </a:r>
          </a:p>
          <a:p>
            <a:endParaRPr lang="en-US" sz="2000" dirty="0">
              <a:latin typeface="Tahoma" panose="020B0604030504040204" pitchFamily="34" charset="0"/>
              <a:ea typeface="Tahoma" panose="020B0604030504040204" pitchFamily="34" charset="0"/>
              <a:cs typeface="Tahoma" panose="020B0604030504040204" pitchFamily="34" charset="0"/>
            </a:endParaRPr>
          </a:p>
          <a:p>
            <a:pPr algn="just"/>
            <a:r>
              <a:rPr lang="en-US" sz="1800" dirty="0">
                <a:latin typeface="Tahoma" panose="020B0604030504040204" pitchFamily="34" charset="0"/>
                <a:ea typeface="Tahoma" panose="020B0604030504040204" pitchFamily="34" charset="0"/>
                <a:cs typeface="Tahoma" panose="020B0604030504040204" pitchFamily="34" charset="0"/>
              </a:rPr>
              <a:t>A rise in CPI indicates inflation meaning consumers are paying more for goods and services compared to previous period.</a:t>
            </a:r>
          </a:p>
        </p:txBody>
      </p:sp>
      <p:pic>
        <p:nvPicPr>
          <p:cNvPr id="5" name="Picture 4">
            <a:extLst>
              <a:ext uri="{FF2B5EF4-FFF2-40B4-BE49-F238E27FC236}">
                <a16:creationId xmlns:a16="http://schemas.microsoft.com/office/drawing/2014/main" id="{6CD54F69-C623-4FB8-5077-63D535C2F179}"/>
              </a:ext>
            </a:extLst>
          </p:cNvPr>
          <p:cNvPicPr>
            <a:picLocks noChangeAspect="1"/>
          </p:cNvPicPr>
          <p:nvPr/>
        </p:nvPicPr>
        <p:blipFill>
          <a:blip r:embed="rId2"/>
          <a:stretch>
            <a:fillRect/>
          </a:stretch>
        </p:blipFill>
        <p:spPr>
          <a:xfrm>
            <a:off x="158760" y="2023295"/>
            <a:ext cx="4216859" cy="2811409"/>
          </a:xfrm>
          <a:prstGeom prst="rect">
            <a:avLst/>
          </a:prstGeom>
        </p:spPr>
      </p:pic>
    </p:spTree>
    <p:extLst>
      <p:ext uri="{BB962C8B-B14F-4D97-AF65-F5344CB8AC3E}">
        <p14:creationId xmlns:p14="http://schemas.microsoft.com/office/powerpoint/2010/main" val="3319733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4D6A7-3AE8-D3F5-99AD-1260549D4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B363D-B5B2-4CCC-AF94-D78C44E7311D}"/>
              </a:ext>
            </a:extLst>
          </p:cNvPr>
          <p:cNvSpPr>
            <a:spLocks noGrp="1"/>
          </p:cNvSpPr>
          <p:nvPr>
            <p:ph type="title"/>
          </p:nvPr>
        </p:nvSpPr>
        <p:spPr>
          <a:xfrm>
            <a:off x="675055" y="137899"/>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Problem Statement</a:t>
            </a:r>
          </a:p>
        </p:txBody>
      </p:sp>
      <p:sp>
        <p:nvSpPr>
          <p:cNvPr id="3" name="Content Placeholder 2">
            <a:extLst>
              <a:ext uri="{FF2B5EF4-FFF2-40B4-BE49-F238E27FC236}">
                <a16:creationId xmlns:a16="http://schemas.microsoft.com/office/drawing/2014/main" id="{B2F9F4A4-E658-9379-F8B7-C0678D7E8370}"/>
              </a:ext>
            </a:extLst>
          </p:cNvPr>
          <p:cNvSpPr>
            <a:spLocks noGrp="1"/>
          </p:cNvSpPr>
          <p:nvPr>
            <p:ph idx="1"/>
          </p:nvPr>
        </p:nvSpPr>
        <p:spPr>
          <a:xfrm>
            <a:off x="675056" y="810072"/>
            <a:ext cx="10629133" cy="5910029"/>
          </a:xfrm>
        </p:spPr>
        <p:txBody>
          <a:bodyPr>
            <a:normAutofit/>
          </a:bodyPr>
          <a:lstStyle/>
          <a:p>
            <a:pPr marL="0" indent="0" algn="just">
              <a:lnSpc>
                <a:spcPct val="15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You are working with the national statical office which is equipped to release inflation numbers in India. As an analyst you are provided with CPI data and are equipped to find out insights from the data. Your senior wants you to find out insights from the data. Your senior wants to find out key trends and deep dive into the data to answer the following questions:</a:t>
            </a:r>
            <a:endParaRPr lang="en-US" sz="1800" dirty="0">
              <a:latin typeface="Tahoma" panose="020B0604030504040204" pitchFamily="34" charset="0"/>
              <a:ea typeface="Tahoma" panose="020B0604030504040204" pitchFamily="34" charset="0"/>
              <a:cs typeface="Tahoma" panose="020B0604030504040204" pitchFamily="34" charset="0"/>
            </a:endParaRPr>
          </a:p>
          <a:p>
            <a:pPr marL="342900" indent="-342900" algn="just">
              <a:lnSpc>
                <a:spcPct val="150000"/>
              </a:lnSpc>
              <a:spcBef>
                <a:spcPts val="1200"/>
              </a:spcBef>
              <a:buAutoNum type="arabicPeriod"/>
            </a:pPr>
            <a:r>
              <a:rPr lang="en-US" sz="1500" dirty="0">
                <a:latin typeface="Tahoma" panose="020B0604030504040204" pitchFamily="34" charset="0"/>
                <a:ea typeface="Tahoma" panose="020B0604030504040204" pitchFamily="34" charset="0"/>
                <a:cs typeface="Tahoma" panose="020B0604030504040204" pitchFamily="34" charset="0"/>
              </a:rPr>
              <a:t>Based on the latest months data identify the contribution of different broader categories (food, energy, transportation education etc.) towards the CPI basket. Broader categories(buckets) can be created combining similar categories into one bucket Ex: Meals, Beverages, Cereals can be clubbed to create “Food” category etc.</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Which broader category has the highest contribution towards CPI calculation ?</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Contribution is calculated by evaluating underlying index values for broader category and should be 100% when the contribution from different broader categories is added.</a:t>
            </a:r>
            <a:endParaRPr lang="en-US" sz="16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2. A trend of Y-O-Y increase in CPI (rural + urban) inflation starting 2017 for the entire basket of products combined.</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Create a graph depicting the growth rate Y-O-Y and identify the year with the highest inflation rate.</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Highlight the why the year has the highest inflation rate (based on research).</a:t>
            </a:r>
          </a:p>
        </p:txBody>
      </p:sp>
    </p:spTree>
    <p:extLst>
      <p:ext uri="{BB962C8B-B14F-4D97-AF65-F5344CB8AC3E}">
        <p14:creationId xmlns:p14="http://schemas.microsoft.com/office/powerpoint/2010/main" val="2827130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0923B-47BD-768B-493C-67FBDDA751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EAA5B-5735-5C8F-7DC8-EDAA1A946164}"/>
              </a:ext>
            </a:extLst>
          </p:cNvPr>
          <p:cNvSpPr>
            <a:spLocks noGrp="1"/>
          </p:cNvSpPr>
          <p:nvPr>
            <p:ph type="title"/>
          </p:nvPr>
        </p:nvSpPr>
        <p:spPr>
          <a:xfrm>
            <a:off x="675055" y="137899"/>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Problem Statement</a:t>
            </a:r>
          </a:p>
        </p:txBody>
      </p:sp>
      <p:sp>
        <p:nvSpPr>
          <p:cNvPr id="3" name="Content Placeholder 2">
            <a:extLst>
              <a:ext uri="{FF2B5EF4-FFF2-40B4-BE49-F238E27FC236}">
                <a16:creationId xmlns:a16="http://schemas.microsoft.com/office/drawing/2014/main" id="{AA22E905-DD5B-EE7F-67FE-5035385DF585}"/>
              </a:ext>
            </a:extLst>
          </p:cNvPr>
          <p:cNvSpPr>
            <a:spLocks noGrp="1"/>
          </p:cNvSpPr>
          <p:nvPr>
            <p:ph idx="1"/>
          </p:nvPr>
        </p:nvSpPr>
        <p:spPr>
          <a:xfrm>
            <a:off x="675056" y="810072"/>
            <a:ext cx="10629133" cy="5910029"/>
          </a:xfrm>
        </p:spPr>
        <p:txBody>
          <a:bodyPr>
            <a:normAutofit/>
          </a:bodyPr>
          <a:lstStyle/>
          <a:p>
            <a:pPr marL="0" indent="0" algn="just">
              <a:lnSpc>
                <a:spcPct val="15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3. With Indias Retail inflation reaching a 3-month high of 5.55% in November 2023, largely due to sharp rise in food prices analyze the following for 12 months ending May 23.</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Investigate trends in prices of broader food bucket category and evaluate month-on-month changes. Highlight month with the highest and lowest food inflation.</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Identify the absolute changes in inflation over the same 12 months period and identify the biggest individual category contributor (only within boarder food category) towards inflation.</a:t>
            </a:r>
          </a:p>
          <a:p>
            <a:pPr marL="0" indent="0" algn="just">
              <a:lnSpc>
                <a:spcPct val="15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4. Investigate how onset and progression of covid-19 pandemic affected inflation rates in India. Analyze the impact of key pandemic milestone (first lockdown) on CPI % specifically focus on categories like healthcare, food and essential services.</a:t>
            </a:r>
          </a:p>
          <a:p>
            <a:pPr marL="0" indent="0" algn="just">
              <a:lnSpc>
                <a:spcPct val="15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5. Investigate how major global economic events (like imported crude oil price fluctuations) have influenced Indias inflation. This can include analysis of imported goods and their price trends.</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For this purpose, focus only on the imported oil price fluctuations for years 2021-2023 (Month-on-Month).</a:t>
            </a:r>
          </a:p>
          <a:p>
            <a:pPr algn="just">
              <a:lnSpc>
                <a:spcPct val="150000"/>
              </a:lnSpc>
              <a:spcBef>
                <a:spcPts val="1200"/>
              </a:spcBef>
            </a:pPr>
            <a:r>
              <a:rPr lang="en-US" sz="1500" dirty="0">
                <a:latin typeface="Tahoma" panose="020B0604030504040204" pitchFamily="34" charset="0"/>
                <a:ea typeface="Tahoma" panose="020B0604030504040204" pitchFamily="34" charset="0"/>
                <a:cs typeface="Tahoma" panose="020B0604030504040204" pitchFamily="34" charset="0"/>
              </a:rPr>
              <a:t>Identify trends in oil price change with change in inflations prices of all the categories and identify category whose inflation prices strongly changes with fluctuations in imported oil price.</a:t>
            </a:r>
          </a:p>
          <a:p>
            <a:pPr marL="0" indent="0" algn="just">
              <a:lnSpc>
                <a:spcPct val="150000"/>
              </a:lnSpc>
              <a:spcBef>
                <a:spcPts val="1200"/>
              </a:spcBef>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39117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0D15F-E5A6-09E1-E6CA-0872178C0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F544D-7444-3860-B3EE-B4431183AFCB}"/>
              </a:ext>
            </a:extLst>
          </p:cNvPr>
          <p:cNvSpPr>
            <a:spLocks noGrp="1"/>
          </p:cNvSpPr>
          <p:nvPr>
            <p:ph type="title"/>
          </p:nvPr>
        </p:nvSpPr>
        <p:spPr>
          <a:xfrm>
            <a:off x="276161" y="137899"/>
            <a:ext cx="11758325" cy="543138"/>
          </a:xfrm>
        </p:spPr>
        <p:txBody>
          <a:bodyPr>
            <a:normAutofit/>
          </a:bodyPr>
          <a:lstStyle/>
          <a:p>
            <a:r>
              <a:rPr lang="en-US" sz="1800" dirty="0">
                <a:latin typeface="Tahoma" panose="020B0604030504040204" pitchFamily="34" charset="0"/>
                <a:ea typeface="Tahoma" panose="020B0604030504040204" pitchFamily="34" charset="0"/>
                <a:cs typeface="Tahoma" panose="020B0604030504040204" pitchFamily="34" charset="0"/>
              </a:rPr>
              <a:t>CPI Basket Structure by broader categories</a:t>
            </a:r>
          </a:p>
        </p:txBody>
      </p:sp>
      <p:graphicFrame>
        <p:nvGraphicFramePr>
          <p:cNvPr id="14" name="Content Placeholder 13">
            <a:extLst>
              <a:ext uri="{FF2B5EF4-FFF2-40B4-BE49-F238E27FC236}">
                <a16:creationId xmlns:a16="http://schemas.microsoft.com/office/drawing/2014/main" id="{DE8264D9-8E1A-C898-CD03-6CD48347C85C}"/>
              </a:ext>
            </a:extLst>
          </p:cNvPr>
          <p:cNvGraphicFramePr>
            <a:graphicFrameLocks noGrp="1"/>
          </p:cNvGraphicFramePr>
          <p:nvPr>
            <p:ph idx="1"/>
            <p:extLst>
              <p:ext uri="{D42A27DB-BD31-4B8C-83A1-F6EECF244321}">
                <p14:modId xmlns:p14="http://schemas.microsoft.com/office/powerpoint/2010/main" val="2509768578"/>
              </p:ext>
            </p:extLst>
          </p:nvPr>
        </p:nvGraphicFramePr>
        <p:xfrm>
          <a:off x="276161" y="681038"/>
          <a:ext cx="11639678" cy="1878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Content Placeholder 13">
            <a:extLst>
              <a:ext uri="{FF2B5EF4-FFF2-40B4-BE49-F238E27FC236}">
                <a16:creationId xmlns:a16="http://schemas.microsoft.com/office/drawing/2014/main" id="{3F31C5B9-9710-6314-FD27-5D6052216313}"/>
              </a:ext>
            </a:extLst>
          </p:cNvPr>
          <p:cNvGraphicFramePr>
            <a:graphicFrameLocks/>
          </p:cNvGraphicFramePr>
          <p:nvPr>
            <p:extLst>
              <p:ext uri="{D42A27DB-BD31-4B8C-83A1-F6EECF244321}">
                <p14:modId xmlns:p14="http://schemas.microsoft.com/office/powerpoint/2010/main" val="2326080513"/>
              </p:ext>
            </p:extLst>
          </p:nvPr>
        </p:nvGraphicFramePr>
        <p:xfrm>
          <a:off x="157514" y="3453058"/>
          <a:ext cx="11758325" cy="18780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24969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A0999-E82F-612F-6396-83E54EB0A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8BD3C-164C-C65E-A406-500B296B096F}"/>
              </a:ext>
            </a:extLst>
          </p:cNvPr>
          <p:cNvSpPr>
            <a:spLocks noGrp="1"/>
          </p:cNvSpPr>
          <p:nvPr>
            <p:ph type="title"/>
          </p:nvPr>
        </p:nvSpPr>
        <p:spPr>
          <a:xfrm>
            <a:off x="276161" y="137899"/>
            <a:ext cx="11758325" cy="543138"/>
          </a:xfrm>
        </p:spPr>
        <p:txBody>
          <a:bodyPr>
            <a:normAutofit/>
          </a:bodyPr>
          <a:lstStyle/>
          <a:p>
            <a:r>
              <a:rPr lang="en-US" sz="1800" dirty="0">
                <a:latin typeface="Tahoma" panose="020B0604030504040204" pitchFamily="34" charset="0"/>
                <a:ea typeface="Tahoma" panose="020B0604030504040204" pitchFamily="34" charset="0"/>
                <a:cs typeface="Tahoma" panose="020B0604030504040204" pitchFamily="34" charset="0"/>
              </a:rPr>
              <a:t>CPI Basket Structure by broader categories</a:t>
            </a:r>
          </a:p>
        </p:txBody>
      </p:sp>
      <p:graphicFrame>
        <p:nvGraphicFramePr>
          <p:cNvPr id="14" name="Content Placeholder 13">
            <a:extLst>
              <a:ext uri="{FF2B5EF4-FFF2-40B4-BE49-F238E27FC236}">
                <a16:creationId xmlns:a16="http://schemas.microsoft.com/office/drawing/2014/main" id="{BD09E453-8F55-A91E-C5A5-47F55AFA6871}"/>
              </a:ext>
            </a:extLst>
          </p:cNvPr>
          <p:cNvGraphicFramePr>
            <a:graphicFrameLocks noGrp="1"/>
          </p:cNvGraphicFramePr>
          <p:nvPr>
            <p:ph idx="1"/>
            <p:extLst>
              <p:ext uri="{D42A27DB-BD31-4B8C-83A1-F6EECF244321}">
                <p14:modId xmlns:p14="http://schemas.microsoft.com/office/powerpoint/2010/main" val="3905360582"/>
              </p:ext>
            </p:extLst>
          </p:nvPr>
        </p:nvGraphicFramePr>
        <p:xfrm>
          <a:off x="276161" y="949960"/>
          <a:ext cx="11819694" cy="1878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3">
            <a:extLst>
              <a:ext uri="{FF2B5EF4-FFF2-40B4-BE49-F238E27FC236}">
                <a16:creationId xmlns:a16="http://schemas.microsoft.com/office/drawing/2014/main" id="{F8CC0507-A9CA-2EE9-EE5B-FB7A381F8FC5}"/>
              </a:ext>
            </a:extLst>
          </p:cNvPr>
          <p:cNvGraphicFramePr>
            <a:graphicFrameLocks/>
          </p:cNvGraphicFramePr>
          <p:nvPr>
            <p:extLst>
              <p:ext uri="{D42A27DB-BD31-4B8C-83A1-F6EECF244321}">
                <p14:modId xmlns:p14="http://schemas.microsoft.com/office/powerpoint/2010/main" val="3465818639"/>
              </p:ext>
            </p:extLst>
          </p:nvPr>
        </p:nvGraphicFramePr>
        <p:xfrm>
          <a:off x="276162" y="3214782"/>
          <a:ext cx="5492538" cy="300742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4" name="Content Placeholder 13">
            <a:extLst>
              <a:ext uri="{FF2B5EF4-FFF2-40B4-BE49-F238E27FC236}">
                <a16:creationId xmlns:a16="http://schemas.microsoft.com/office/drawing/2014/main" id="{54AFEDD9-E3CD-F1D3-8FDD-7CB4ED9A059A}"/>
              </a:ext>
            </a:extLst>
          </p:cNvPr>
          <p:cNvGraphicFramePr>
            <a:graphicFrameLocks/>
          </p:cNvGraphicFramePr>
          <p:nvPr>
            <p:extLst>
              <p:ext uri="{D42A27DB-BD31-4B8C-83A1-F6EECF244321}">
                <p14:modId xmlns:p14="http://schemas.microsoft.com/office/powerpoint/2010/main" val="3529945098"/>
              </p:ext>
            </p:extLst>
          </p:nvPr>
        </p:nvGraphicFramePr>
        <p:xfrm>
          <a:off x="6096000" y="3214783"/>
          <a:ext cx="6024403" cy="300742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293595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B11B-4914-4258-0C88-EE9C3687B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45ED2-0905-C131-7813-6217F82E0173}"/>
              </a:ext>
            </a:extLst>
          </p:cNvPr>
          <p:cNvSpPr>
            <a:spLocks noGrp="1"/>
          </p:cNvSpPr>
          <p:nvPr>
            <p:ph type="title"/>
          </p:nvPr>
        </p:nvSpPr>
        <p:spPr>
          <a:xfrm>
            <a:off x="128871" y="137899"/>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CPI Basket Contribution Analysis by Broader Categories</a:t>
            </a:r>
          </a:p>
        </p:txBody>
      </p:sp>
      <p:sp>
        <p:nvSpPr>
          <p:cNvPr id="5" name="Content Placeholder 2">
            <a:extLst>
              <a:ext uri="{FF2B5EF4-FFF2-40B4-BE49-F238E27FC236}">
                <a16:creationId xmlns:a16="http://schemas.microsoft.com/office/drawing/2014/main" id="{DA5A71FE-C703-4355-D9EA-F84C1DFA67F1}"/>
              </a:ext>
            </a:extLst>
          </p:cNvPr>
          <p:cNvSpPr txBox="1">
            <a:spLocks/>
          </p:cNvSpPr>
          <p:nvPr/>
        </p:nvSpPr>
        <p:spPr>
          <a:xfrm>
            <a:off x="247651" y="681037"/>
            <a:ext cx="11815478"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Contribution for inflation in rural sector:</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9" name="Chart 8">
            <a:extLst>
              <a:ext uri="{FF2B5EF4-FFF2-40B4-BE49-F238E27FC236}">
                <a16:creationId xmlns:a16="http://schemas.microsoft.com/office/drawing/2014/main" id="{594AC344-27FA-7EAC-E10B-58F5ED093B1F}"/>
              </a:ext>
            </a:extLst>
          </p:cNvPr>
          <p:cNvGraphicFramePr/>
          <p:nvPr>
            <p:extLst>
              <p:ext uri="{D42A27DB-BD31-4B8C-83A1-F6EECF244321}">
                <p14:modId xmlns:p14="http://schemas.microsoft.com/office/powerpoint/2010/main" val="297558327"/>
              </p:ext>
            </p:extLst>
          </p:nvPr>
        </p:nvGraphicFramePr>
        <p:xfrm>
          <a:off x="357188" y="1129191"/>
          <a:ext cx="11244262" cy="4492220"/>
        </p:xfrm>
        <a:graphic>
          <a:graphicData uri="http://schemas.openxmlformats.org/drawingml/2006/chart">
            <c:chart xmlns:c="http://schemas.openxmlformats.org/drawingml/2006/chart" xmlns:r="http://schemas.openxmlformats.org/officeDocument/2006/relationships" r:id="rId2"/>
          </a:graphicData>
        </a:graphic>
      </p:graphicFrame>
      <p:sp>
        <p:nvSpPr>
          <p:cNvPr id="10" name="Content Placeholder 2">
            <a:extLst>
              <a:ext uri="{FF2B5EF4-FFF2-40B4-BE49-F238E27FC236}">
                <a16:creationId xmlns:a16="http://schemas.microsoft.com/office/drawing/2014/main" id="{7D7F812C-9BEF-FA98-C837-B5706262774C}"/>
              </a:ext>
            </a:extLst>
          </p:cNvPr>
          <p:cNvSpPr txBox="1">
            <a:spLocks/>
          </p:cNvSpPr>
          <p:nvPr/>
        </p:nvSpPr>
        <p:spPr>
          <a:xfrm>
            <a:off x="247651" y="5824766"/>
            <a:ext cx="11482387" cy="8343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Basic Food Items recorded the highest contribution (36%) towards Rural CPI Inflation among all broader categories followed by Services and Miscellaneous (24%).</a:t>
            </a:r>
          </a:p>
          <a:p>
            <a:pPr marL="0" indent="0" algn="just">
              <a:lnSpc>
                <a:spcPct val="150000"/>
              </a:lnSpc>
              <a:spcBef>
                <a:spcPts val="1200"/>
              </a:spcBef>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63697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5078A-0187-83ED-43BE-5E9684114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4D6FA-2C25-702E-6053-C308F06250EF}"/>
              </a:ext>
            </a:extLst>
          </p:cNvPr>
          <p:cNvSpPr>
            <a:spLocks noGrp="1"/>
          </p:cNvSpPr>
          <p:nvPr>
            <p:ph type="title"/>
          </p:nvPr>
        </p:nvSpPr>
        <p:spPr>
          <a:xfrm>
            <a:off x="128871" y="137899"/>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CPI Basket Contribution Analysis by Broader Categories</a:t>
            </a:r>
          </a:p>
        </p:txBody>
      </p:sp>
      <p:sp>
        <p:nvSpPr>
          <p:cNvPr id="5" name="Content Placeholder 2">
            <a:extLst>
              <a:ext uri="{FF2B5EF4-FFF2-40B4-BE49-F238E27FC236}">
                <a16:creationId xmlns:a16="http://schemas.microsoft.com/office/drawing/2014/main" id="{6BC6D3BA-97C2-D601-8CF3-E2321B424CEE}"/>
              </a:ext>
            </a:extLst>
          </p:cNvPr>
          <p:cNvSpPr txBox="1">
            <a:spLocks/>
          </p:cNvSpPr>
          <p:nvPr/>
        </p:nvSpPr>
        <p:spPr>
          <a:xfrm>
            <a:off x="247651" y="681037"/>
            <a:ext cx="11815478"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Contribution for inflation in urban sector:</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9" name="Chart 8">
            <a:extLst>
              <a:ext uri="{FF2B5EF4-FFF2-40B4-BE49-F238E27FC236}">
                <a16:creationId xmlns:a16="http://schemas.microsoft.com/office/drawing/2014/main" id="{37B75A73-817E-A299-9A00-83EA89A210EE}"/>
              </a:ext>
            </a:extLst>
          </p:cNvPr>
          <p:cNvGraphicFramePr/>
          <p:nvPr>
            <p:extLst>
              <p:ext uri="{D42A27DB-BD31-4B8C-83A1-F6EECF244321}">
                <p14:modId xmlns:p14="http://schemas.microsoft.com/office/powerpoint/2010/main" val="2912041871"/>
              </p:ext>
            </p:extLst>
          </p:nvPr>
        </p:nvGraphicFramePr>
        <p:xfrm>
          <a:off x="357188" y="1129191"/>
          <a:ext cx="11244262" cy="4492220"/>
        </p:xfrm>
        <a:graphic>
          <a:graphicData uri="http://schemas.openxmlformats.org/drawingml/2006/chart">
            <c:chart xmlns:c="http://schemas.openxmlformats.org/drawingml/2006/chart" xmlns:r="http://schemas.openxmlformats.org/officeDocument/2006/relationships" r:id="rId2"/>
          </a:graphicData>
        </a:graphic>
      </p:graphicFrame>
      <p:sp>
        <p:nvSpPr>
          <p:cNvPr id="10" name="Content Placeholder 2">
            <a:extLst>
              <a:ext uri="{FF2B5EF4-FFF2-40B4-BE49-F238E27FC236}">
                <a16:creationId xmlns:a16="http://schemas.microsoft.com/office/drawing/2014/main" id="{C4744860-6900-A5E9-36CE-BC5CAA734CF2}"/>
              </a:ext>
            </a:extLst>
          </p:cNvPr>
          <p:cNvSpPr txBox="1">
            <a:spLocks/>
          </p:cNvSpPr>
          <p:nvPr/>
        </p:nvSpPr>
        <p:spPr>
          <a:xfrm>
            <a:off x="247651" y="5824766"/>
            <a:ext cx="11482387" cy="8343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Basic Food Items recorded the highest contribution (36%) towards Urban CPI Inflation among all broader categories followed by Services and Miscellaneous (23%).</a:t>
            </a:r>
          </a:p>
          <a:p>
            <a:pPr marL="0" indent="0" algn="just">
              <a:lnSpc>
                <a:spcPct val="150000"/>
              </a:lnSpc>
              <a:spcBef>
                <a:spcPts val="1200"/>
              </a:spcBef>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72517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ED856-0431-844D-7DB3-DF79E5087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F9078-D4E4-A236-43C0-F673ECF50E5F}"/>
              </a:ext>
            </a:extLst>
          </p:cNvPr>
          <p:cNvSpPr>
            <a:spLocks noGrp="1"/>
          </p:cNvSpPr>
          <p:nvPr>
            <p:ph type="title"/>
          </p:nvPr>
        </p:nvSpPr>
        <p:spPr>
          <a:xfrm>
            <a:off x="128871" y="137899"/>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CPI Basket Contribution Analysis by Broader Categories</a:t>
            </a:r>
          </a:p>
        </p:txBody>
      </p:sp>
      <p:sp>
        <p:nvSpPr>
          <p:cNvPr id="5" name="Content Placeholder 2">
            <a:extLst>
              <a:ext uri="{FF2B5EF4-FFF2-40B4-BE49-F238E27FC236}">
                <a16:creationId xmlns:a16="http://schemas.microsoft.com/office/drawing/2014/main" id="{9F8883BA-2855-78B4-D132-019AA60CD82E}"/>
              </a:ext>
            </a:extLst>
          </p:cNvPr>
          <p:cNvSpPr txBox="1">
            <a:spLocks/>
          </p:cNvSpPr>
          <p:nvPr/>
        </p:nvSpPr>
        <p:spPr>
          <a:xfrm>
            <a:off x="247651" y="681037"/>
            <a:ext cx="11815478"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Contribution for inflation in rural + urban sector:</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9" name="Chart 8">
            <a:extLst>
              <a:ext uri="{FF2B5EF4-FFF2-40B4-BE49-F238E27FC236}">
                <a16:creationId xmlns:a16="http://schemas.microsoft.com/office/drawing/2014/main" id="{537413E1-8FD4-0AC3-453E-4D16D30E591A}"/>
              </a:ext>
            </a:extLst>
          </p:cNvPr>
          <p:cNvGraphicFramePr/>
          <p:nvPr>
            <p:extLst>
              <p:ext uri="{D42A27DB-BD31-4B8C-83A1-F6EECF244321}">
                <p14:modId xmlns:p14="http://schemas.microsoft.com/office/powerpoint/2010/main" val="1935124768"/>
              </p:ext>
            </p:extLst>
          </p:nvPr>
        </p:nvGraphicFramePr>
        <p:xfrm>
          <a:off x="357188" y="1129191"/>
          <a:ext cx="11244262" cy="4492220"/>
        </p:xfrm>
        <a:graphic>
          <a:graphicData uri="http://schemas.openxmlformats.org/drawingml/2006/chart">
            <c:chart xmlns:c="http://schemas.openxmlformats.org/drawingml/2006/chart" xmlns:r="http://schemas.openxmlformats.org/officeDocument/2006/relationships" r:id="rId2"/>
          </a:graphicData>
        </a:graphic>
      </p:graphicFrame>
      <p:sp>
        <p:nvSpPr>
          <p:cNvPr id="10" name="Content Placeholder 2">
            <a:extLst>
              <a:ext uri="{FF2B5EF4-FFF2-40B4-BE49-F238E27FC236}">
                <a16:creationId xmlns:a16="http://schemas.microsoft.com/office/drawing/2014/main" id="{D717CCE3-5839-9234-5305-89134560FD46}"/>
              </a:ext>
            </a:extLst>
          </p:cNvPr>
          <p:cNvSpPr txBox="1">
            <a:spLocks/>
          </p:cNvSpPr>
          <p:nvPr/>
        </p:nvSpPr>
        <p:spPr>
          <a:xfrm>
            <a:off x="247651" y="5824766"/>
            <a:ext cx="11482387" cy="8343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Basic Food Items recorded the highest contribution (35%) towards Rural + Urban CPI Inflation among all broader categories followed by Services and Miscellaneous (23%).</a:t>
            </a:r>
          </a:p>
          <a:p>
            <a:pPr marL="0" indent="0" algn="just">
              <a:lnSpc>
                <a:spcPct val="150000"/>
              </a:lnSpc>
              <a:spcBef>
                <a:spcPts val="1200"/>
              </a:spcBef>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24175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E13F7-3571-86FB-1119-54334A7F3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07A60-0768-27F4-33BB-5E393BCEE274}"/>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Year – On – Year CPI Inflation Trend Analysis (2017 Onwards)</a:t>
            </a:r>
          </a:p>
        </p:txBody>
      </p:sp>
      <p:sp>
        <p:nvSpPr>
          <p:cNvPr id="5" name="Content Placeholder 2">
            <a:extLst>
              <a:ext uri="{FF2B5EF4-FFF2-40B4-BE49-F238E27FC236}">
                <a16:creationId xmlns:a16="http://schemas.microsoft.com/office/drawing/2014/main" id="{FD7E01D6-C059-010C-E563-4BF4D2F67B58}"/>
              </a:ext>
            </a:extLst>
          </p:cNvPr>
          <p:cNvSpPr txBox="1">
            <a:spLocks/>
          </p:cNvSpPr>
          <p:nvPr/>
        </p:nvSpPr>
        <p:spPr>
          <a:xfrm>
            <a:off x="184107" y="681037"/>
            <a:ext cx="1186879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Y-O-Y Analysis for Rural + Urban Sector:</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Chart 2">
            <a:extLst>
              <a:ext uri="{FF2B5EF4-FFF2-40B4-BE49-F238E27FC236}">
                <a16:creationId xmlns:a16="http://schemas.microsoft.com/office/drawing/2014/main" id="{4572445D-4C37-380E-6448-6639119EA31D}"/>
              </a:ext>
            </a:extLst>
          </p:cNvPr>
          <p:cNvGraphicFramePr/>
          <p:nvPr>
            <p:extLst>
              <p:ext uri="{D42A27DB-BD31-4B8C-83A1-F6EECF244321}">
                <p14:modId xmlns:p14="http://schemas.microsoft.com/office/powerpoint/2010/main" val="1260853525"/>
              </p:ext>
            </p:extLst>
          </p:nvPr>
        </p:nvGraphicFramePr>
        <p:xfrm>
          <a:off x="327301" y="1147600"/>
          <a:ext cx="11537397" cy="3301661"/>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Arrow Connector 5">
            <a:extLst>
              <a:ext uri="{FF2B5EF4-FFF2-40B4-BE49-F238E27FC236}">
                <a16:creationId xmlns:a16="http://schemas.microsoft.com/office/drawing/2014/main" id="{F305EBCC-15FC-0D55-F414-E118DBB76D5A}"/>
              </a:ext>
            </a:extLst>
          </p:cNvPr>
          <p:cNvCxnSpPr>
            <a:cxnSpLocks/>
          </p:cNvCxnSpPr>
          <p:nvPr/>
        </p:nvCxnSpPr>
        <p:spPr>
          <a:xfrm>
            <a:off x="4308112" y="2798431"/>
            <a:ext cx="0" cy="4680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BB9ED7A-513A-59CF-248E-C9AA8D79AE78}"/>
              </a:ext>
            </a:extLst>
          </p:cNvPr>
          <p:cNvSpPr txBox="1">
            <a:spLocks/>
          </p:cNvSpPr>
          <p:nvPr/>
        </p:nvSpPr>
        <p:spPr>
          <a:xfrm>
            <a:off x="3734017" y="2591192"/>
            <a:ext cx="1205340" cy="2532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latin typeface="Tahoma" panose="020B0604030504040204" pitchFamily="34" charset="0"/>
                <a:ea typeface="Tahoma" panose="020B0604030504040204" pitchFamily="34" charset="0"/>
                <a:cs typeface="Tahoma" panose="020B0604030504040204" pitchFamily="34" charset="0"/>
              </a:rPr>
              <a:t>Lowest Inflation</a:t>
            </a:r>
          </a:p>
        </p:txBody>
      </p:sp>
      <p:cxnSp>
        <p:nvCxnSpPr>
          <p:cNvPr id="16" name="Straight Arrow Connector 15">
            <a:extLst>
              <a:ext uri="{FF2B5EF4-FFF2-40B4-BE49-F238E27FC236}">
                <a16:creationId xmlns:a16="http://schemas.microsoft.com/office/drawing/2014/main" id="{5484333C-99F7-E009-CA15-3541B02CE606}"/>
              </a:ext>
            </a:extLst>
          </p:cNvPr>
          <p:cNvCxnSpPr>
            <a:cxnSpLocks/>
          </p:cNvCxnSpPr>
          <p:nvPr/>
        </p:nvCxnSpPr>
        <p:spPr>
          <a:xfrm flipV="1">
            <a:off x="5668599" y="1818637"/>
            <a:ext cx="0" cy="468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38792046-4A73-BED6-DA90-3A8BE40FD9D3}"/>
              </a:ext>
            </a:extLst>
          </p:cNvPr>
          <p:cNvSpPr txBox="1">
            <a:spLocks/>
          </p:cNvSpPr>
          <p:nvPr/>
        </p:nvSpPr>
        <p:spPr>
          <a:xfrm>
            <a:off x="5228172" y="2248539"/>
            <a:ext cx="1205340" cy="2532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latin typeface="Tahoma" panose="020B0604030504040204" pitchFamily="34" charset="0"/>
                <a:ea typeface="Tahoma" panose="020B0604030504040204" pitchFamily="34" charset="0"/>
                <a:cs typeface="Tahoma" panose="020B0604030504040204" pitchFamily="34" charset="0"/>
              </a:rPr>
              <a:t>Highest Inflation</a:t>
            </a:r>
          </a:p>
        </p:txBody>
      </p:sp>
      <p:sp>
        <p:nvSpPr>
          <p:cNvPr id="18" name="Content Placeholder 2">
            <a:extLst>
              <a:ext uri="{FF2B5EF4-FFF2-40B4-BE49-F238E27FC236}">
                <a16:creationId xmlns:a16="http://schemas.microsoft.com/office/drawing/2014/main" id="{3996A41B-FA7F-84C5-92C0-EA665199F530}"/>
              </a:ext>
            </a:extLst>
          </p:cNvPr>
          <p:cNvSpPr txBox="1">
            <a:spLocks/>
          </p:cNvSpPr>
          <p:nvPr/>
        </p:nvSpPr>
        <p:spPr>
          <a:xfrm>
            <a:off x="327301" y="4449261"/>
            <a:ext cx="4612056" cy="2270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1200"/>
              </a:spcBef>
              <a:buFont typeface="Arial" panose="020B0604020202020204" pitchFamily="34" charset="0"/>
              <a:buNone/>
            </a:pPr>
            <a:r>
              <a:rPr lang="en-US" sz="1300" dirty="0">
                <a:latin typeface="Tahoma" panose="020B0604030504040204" pitchFamily="34" charset="0"/>
                <a:ea typeface="Tahoma" panose="020B0604030504040204" pitchFamily="34" charset="0"/>
                <a:cs typeface="Tahoma" panose="020B0604030504040204" pitchFamily="34" charset="0"/>
              </a:rPr>
              <a:t>India inflation rise in 2019 was primarily driven by:</a:t>
            </a:r>
          </a:p>
          <a:p>
            <a:pPr algn="just">
              <a:lnSpc>
                <a:spcPct val="100000"/>
              </a:lnSpc>
              <a:spcBef>
                <a:spcPts val="1200"/>
              </a:spcBef>
            </a:pPr>
            <a:r>
              <a:rPr lang="en-US" sz="1300" dirty="0">
                <a:latin typeface="Tahoma" panose="020B0604030504040204" pitchFamily="34" charset="0"/>
                <a:ea typeface="Tahoma" panose="020B0604030504040204" pitchFamily="34" charset="0"/>
                <a:cs typeface="Tahoma" panose="020B0604030504040204" pitchFamily="34" charset="0"/>
              </a:rPr>
              <a:t>Sharp increase in onion and vegetable prices.</a:t>
            </a:r>
          </a:p>
          <a:p>
            <a:pPr algn="just">
              <a:lnSpc>
                <a:spcPct val="100000"/>
              </a:lnSpc>
              <a:spcBef>
                <a:spcPts val="1200"/>
              </a:spcBef>
            </a:pPr>
            <a:r>
              <a:rPr lang="en-US" sz="1300" dirty="0">
                <a:latin typeface="Tahoma" panose="020B0604030504040204" pitchFamily="34" charset="0"/>
                <a:ea typeface="Tahoma" panose="020B0604030504040204" pitchFamily="34" charset="0"/>
                <a:cs typeface="Tahoma" panose="020B0604030504040204" pitchFamily="34" charset="0"/>
              </a:rPr>
              <a:t>Heavy and uneven monsoon damaging agricultural crops.</a:t>
            </a:r>
          </a:p>
          <a:p>
            <a:pPr algn="just">
              <a:lnSpc>
                <a:spcPct val="100000"/>
              </a:lnSpc>
              <a:spcBef>
                <a:spcPts val="1200"/>
              </a:spcBef>
            </a:pPr>
            <a:r>
              <a:rPr lang="en-US" sz="1300" dirty="0">
                <a:latin typeface="Tahoma" panose="020B0604030504040204" pitchFamily="34" charset="0"/>
                <a:ea typeface="Tahoma" panose="020B0604030504040204" pitchFamily="34" charset="0"/>
                <a:cs typeface="Tahoma" panose="020B0604030504040204" pitchFamily="34" charset="0"/>
              </a:rPr>
              <a:t>Food Supply shortages and lower crop production.</a:t>
            </a:r>
          </a:p>
          <a:p>
            <a:pPr algn="just">
              <a:lnSpc>
                <a:spcPct val="100000"/>
              </a:lnSpc>
              <a:spcBef>
                <a:spcPts val="1200"/>
              </a:spcBef>
            </a:pPr>
            <a:r>
              <a:rPr lang="en-US" sz="1300" dirty="0">
                <a:latin typeface="Tahoma" panose="020B0604030504040204" pitchFamily="34" charset="0"/>
                <a:ea typeface="Tahoma" panose="020B0604030504040204" pitchFamily="34" charset="0"/>
                <a:cs typeface="Tahoma" panose="020B0604030504040204" pitchFamily="34" charset="0"/>
              </a:rPr>
              <a:t>Rise in fuel and crude oil prices globally.</a:t>
            </a:r>
          </a:p>
          <a:p>
            <a:pPr algn="just">
              <a:lnSpc>
                <a:spcPct val="150000"/>
              </a:lnSpc>
              <a:spcBef>
                <a:spcPts val="1200"/>
              </a:spcBef>
            </a:pPr>
            <a:r>
              <a:rPr lang="en-US" sz="1300" dirty="0">
                <a:latin typeface="Tahoma" panose="020B0604030504040204" pitchFamily="34" charset="0"/>
                <a:ea typeface="Tahoma" panose="020B0604030504040204" pitchFamily="34" charset="0"/>
                <a:cs typeface="Tahoma" panose="020B0604030504040204" pitchFamily="34" charset="0"/>
              </a:rPr>
              <a:t>Increase in transportation &amp; logistics cost.</a:t>
            </a:r>
          </a:p>
        </p:txBody>
      </p:sp>
      <p:sp>
        <p:nvSpPr>
          <p:cNvPr id="19" name="Content Placeholder 2">
            <a:extLst>
              <a:ext uri="{FF2B5EF4-FFF2-40B4-BE49-F238E27FC236}">
                <a16:creationId xmlns:a16="http://schemas.microsoft.com/office/drawing/2014/main" id="{412B12E8-500A-3226-C97A-B797BE4B2FDF}"/>
              </a:ext>
            </a:extLst>
          </p:cNvPr>
          <p:cNvSpPr txBox="1">
            <a:spLocks/>
          </p:cNvSpPr>
          <p:nvPr/>
        </p:nvSpPr>
        <p:spPr>
          <a:xfrm>
            <a:off x="5082551" y="6049064"/>
            <a:ext cx="6509432" cy="671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1200"/>
              </a:spcBef>
            </a:pPr>
            <a:r>
              <a:rPr lang="en-US" sz="1300" dirty="0">
                <a:latin typeface="Tahoma" panose="020B0604030504040204" pitchFamily="34" charset="0"/>
                <a:ea typeface="Tahoma" panose="020B0604030504040204" pitchFamily="34" charset="0"/>
                <a:cs typeface="Tahoma" panose="020B0604030504040204" pitchFamily="34" charset="0"/>
              </a:rPr>
              <a:t>Higher food inflation in pulses vegetables and protein rich items.</a:t>
            </a:r>
          </a:p>
          <a:p>
            <a:pPr algn="just">
              <a:lnSpc>
                <a:spcPct val="100000"/>
              </a:lnSpc>
              <a:spcBef>
                <a:spcPts val="1200"/>
              </a:spcBef>
            </a:pPr>
            <a:r>
              <a:rPr lang="en-US" sz="1300" dirty="0">
                <a:latin typeface="Tahoma" panose="020B0604030504040204" pitchFamily="34" charset="0"/>
                <a:ea typeface="Tahoma" panose="020B0604030504040204" pitchFamily="34" charset="0"/>
                <a:cs typeface="Tahoma" panose="020B0604030504040204" pitchFamily="34" charset="0"/>
              </a:rPr>
              <a:t>US China trade war increasing global commodity and price uncertainty.</a:t>
            </a:r>
          </a:p>
        </p:txBody>
      </p:sp>
    </p:spTree>
    <p:extLst>
      <p:ext uri="{BB962C8B-B14F-4D97-AF65-F5344CB8AC3E}">
        <p14:creationId xmlns:p14="http://schemas.microsoft.com/office/powerpoint/2010/main" val="2217031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900A7-CACB-06DA-3012-07AAB6521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FDF47-B741-7AA4-C4FF-0D84E092233E}"/>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Food Inflation Overview: Rural Sector</a:t>
            </a:r>
          </a:p>
        </p:txBody>
      </p:sp>
      <p:sp>
        <p:nvSpPr>
          <p:cNvPr id="5" name="Content Placeholder 2">
            <a:extLst>
              <a:ext uri="{FF2B5EF4-FFF2-40B4-BE49-F238E27FC236}">
                <a16:creationId xmlns:a16="http://schemas.microsoft.com/office/drawing/2014/main" id="{73A011B9-0DEB-D74A-C22D-60DFE2135402}"/>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Basic Food Items:</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Table 9">
            <a:extLst>
              <a:ext uri="{FF2B5EF4-FFF2-40B4-BE49-F238E27FC236}">
                <a16:creationId xmlns:a16="http://schemas.microsoft.com/office/drawing/2014/main" id="{47586218-76B2-BD79-A664-435D7F49B7DC}"/>
              </a:ext>
            </a:extLst>
          </p:cNvPr>
          <p:cNvGraphicFramePr>
            <a:graphicFrameLocks noGrp="1"/>
          </p:cNvGraphicFramePr>
          <p:nvPr>
            <p:extLst>
              <p:ext uri="{D42A27DB-BD31-4B8C-83A1-F6EECF244321}">
                <p14:modId xmlns:p14="http://schemas.microsoft.com/office/powerpoint/2010/main" val="109252099"/>
              </p:ext>
            </p:extLst>
          </p:nvPr>
        </p:nvGraphicFramePr>
        <p:xfrm>
          <a:off x="92051" y="1130839"/>
          <a:ext cx="12003810" cy="1112520"/>
        </p:xfrm>
        <a:graphic>
          <a:graphicData uri="http://schemas.openxmlformats.org/drawingml/2006/table">
            <a:tbl>
              <a:tblPr firstRow="1" bandRow="1">
                <a:tableStyleId>{5940675A-B579-460E-94D1-54222C63F5DA}</a:tableStyleId>
              </a:tblPr>
              <a:tblGrid>
                <a:gridCol w="1141468">
                  <a:extLst>
                    <a:ext uri="{9D8B030D-6E8A-4147-A177-3AD203B41FA5}">
                      <a16:colId xmlns:a16="http://schemas.microsoft.com/office/drawing/2014/main" val="61627544"/>
                    </a:ext>
                  </a:extLst>
                </a:gridCol>
                <a:gridCol w="1159877">
                  <a:extLst>
                    <a:ext uri="{9D8B030D-6E8A-4147-A177-3AD203B41FA5}">
                      <a16:colId xmlns:a16="http://schemas.microsoft.com/office/drawing/2014/main" val="3287431599"/>
                    </a:ext>
                  </a:extLst>
                </a:gridCol>
                <a:gridCol w="662787">
                  <a:extLst>
                    <a:ext uri="{9D8B030D-6E8A-4147-A177-3AD203B41FA5}">
                      <a16:colId xmlns:a16="http://schemas.microsoft.com/office/drawing/2014/main" val="3443064928"/>
                    </a:ext>
                  </a:extLst>
                </a:gridCol>
                <a:gridCol w="681197">
                  <a:extLst>
                    <a:ext uri="{9D8B030D-6E8A-4147-A177-3AD203B41FA5}">
                      <a16:colId xmlns:a16="http://schemas.microsoft.com/office/drawing/2014/main" val="3879713513"/>
                    </a:ext>
                  </a:extLst>
                </a:gridCol>
                <a:gridCol w="840757">
                  <a:extLst>
                    <a:ext uri="{9D8B030D-6E8A-4147-A177-3AD203B41FA5}">
                      <a16:colId xmlns:a16="http://schemas.microsoft.com/office/drawing/2014/main" val="601547321"/>
                    </a:ext>
                  </a:extLst>
                </a:gridCol>
                <a:gridCol w="658404">
                  <a:extLst>
                    <a:ext uri="{9D8B030D-6E8A-4147-A177-3AD203B41FA5}">
                      <a16:colId xmlns:a16="http://schemas.microsoft.com/office/drawing/2014/main" val="4067788497"/>
                    </a:ext>
                  </a:extLst>
                </a:gridCol>
                <a:gridCol w="857415">
                  <a:extLst>
                    <a:ext uri="{9D8B030D-6E8A-4147-A177-3AD203B41FA5}">
                      <a16:colId xmlns:a16="http://schemas.microsoft.com/office/drawing/2014/main" val="2484118876"/>
                    </a:ext>
                  </a:extLst>
                </a:gridCol>
                <a:gridCol w="857415">
                  <a:extLst>
                    <a:ext uri="{9D8B030D-6E8A-4147-A177-3AD203B41FA5}">
                      <a16:colId xmlns:a16="http://schemas.microsoft.com/office/drawing/2014/main" val="3279240359"/>
                    </a:ext>
                  </a:extLst>
                </a:gridCol>
                <a:gridCol w="857415">
                  <a:extLst>
                    <a:ext uri="{9D8B030D-6E8A-4147-A177-3AD203B41FA5}">
                      <a16:colId xmlns:a16="http://schemas.microsoft.com/office/drawing/2014/main" val="1113863754"/>
                    </a:ext>
                  </a:extLst>
                </a:gridCol>
                <a:gridCol w="857415">
                  <a:extLst>
                    <a:ext uri="{9D8B030D-6E8A-4147-A177-3AD203B41FA5}">
                      <a16:colId xmlns:a16="http://schemas.microsoft.com/office/drawing/2014/main" val="1245729143"/>
                    </a:ext>
                  </a:extLst>
                </a:gridCol>
                <a:gridCol w="857415">
                  <a:extLst>
                    <a:ext uri="{9D8B030D-6E8A-4147-A177-3AD203B41FA5}">
                      <a16:colId xmlns:a16="http://schemas.microsoft.com/office/drawing/2014/main" val="191567201"/>
                    </a:ext>
                  </a:extLst>
                </a:gridCol>
                <a:gridCol w="857415">
                  <a:extLst>
                    <a:ext uri="{9D8B030D-6E8A-4147-A177-3AD203B41FA5}">
                      <a16:colId xmlns:a16="http://schemas.microsoft.com/office/drawing/2014/main" val="493854987"/>
                    </a:ext>
                  </a:extLst>
                </a:gridCol>
                <a:gridCol w="857415">
                  <a:extLst>
                    <a:ext uri="{9D8B030D-6E8A-4147-A177-3AD203B41FA5}">
                      <a16:colId xmlns:a16="http://schemas.microsoft.com/office/drawing/2014/main" val="1683358866"/>
                    </a:ext>
                  </a:extLst>
                </a:gridCol>
                <a:gridCol w="857415">
                  <a:extLst>
                    <a:ext uri="{9D8B030D-6E8A-4147-A177-3AD203B41FA5}">
                      <a16:colId xmlns:a16="http://schemas.microsoft.com/office/drawing/2014/main" val="3910608619"/>
                    </a:ext>
                  </a:extLst>
                </a:gridCol>
              </a:tblGrid>
              <a:tr h="370840">
                <a:tc>
                  <a:txBody>
                    <a:bodyPr/>
                    <a:lstStyle/>
                    <a:p>
                      <a:r>
                        <a:rPr lang="en-US" sz="1100" b="0" u="none" strike="noStrike" kern="1200" dirty="0">
                          <a:solidFill>
                            <a:srgbClr val="000000"/>
                          </a:solidFill>
                          <a:effectLst/>
                        </a:rPr>
                        <a:t>Year</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u="none" strike="noStrike" dirty="0">
                          <a:solidFill>
                            <a:srgbClr val="000000"/>
                          </a:solidFill>
                          <a:effectLst/>
                        </a:rPr>
                        <a:t>May-22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Jun-22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Jul-22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Aug-22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Sep-22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Oct-22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Nov-22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Dec-22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Jan-23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Feb-23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Mar-23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Apr-23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May-23</a:t>
                      </a:r>
                      <a:endParaRPr lang="en-US" sz="11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881085019"/>
                  </a:ext>
                </a:extLst>
              </a:tr>
              <a:tr h="370840">
                <a:tc rowSpan="2">
                  <a:txBody>
                    <a:bodyPr/>
                    <a:lstStyle/>
                    <a:p>
                      <a:pPr algn="ctr" fontAlgn="ctr">
                        <a:buNone/>
                      </a:pPr>
                      <a:r>
                        <a:rPr lang="en-US" sz="1100" b="0" u="none" strike="noStrike" dirty="0">
                          <a:solidFill>
                            <a:srgbClr val="000000"/>
                          </a:solidFill>
                          <a:effectLst/>
                        </a:rPr>
                        <a:t>Basic Food Items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1584</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1601</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1603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1603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a:solidFill>
                            <a:srgbClr val="000000"/>
                          </a:solidFill>
                          <a:effectLst/>
                        </a:rPr>
                        <a:t>1611</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a:solidFill>
                            <a:srgbClr val="000000"/>
                          </a:solidFill>
                          <a:effectLst/>
                        </a:rPr>
                        <a:t>1625</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a:solidFill>
                            <a:srgbClr val="000000"/>
                          </a:solidFill>
                          <a:effectLst/>
                        </a:rPr>
                        <a:t>1626</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a:solidFill>
                            <a:srgbClr val="000000"/>
                          </a:solidFill>
                          <a:effectLst/>
                        </a:rPr>
                        <a:t>1617</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1604</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1604</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1610</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1622</a:t>
                      </a:r>
                      <a:endParaRPr lang="en-US" sz="11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506688674"/>
                  </a:ext>
                </a:extLst>
              </a:tr>
              <a:tr h="370840">
                <a:tc vMerge="1">
                  <a:txBody>
                    <a:bodyPr/>
                    <a:lstStyle/>
                    <a:p>
                      <a:endParaRPr lang="en-US"/>
                    </a:p>
                  </a:txBody>
                  <a:tcPr/>
                </a:tc>
                <a:tc>
                  <a:txBody>
                    <a:bodyPr/>
                    <a:lstStyle/>
                    <a:p>
                      <a:pPr marL="0" algn="ctr" defTabSz="914400" rtl="0" eaLnBrk="1" fontAlgn="b" latinLnBrk="0" hangingPunct="1">
                        <a:buNone/>
                      </a:pPr>
                      <a:r>
                        <a:rPr lang="en-US" sz="1100" b="0" u="none" strike="noStrike" kern="1200" dirty="0">
                          <a:solidFill>
                            <a:srgbClr val="000000"/>
                          </a:solidFill>
                          <a:effectLst/>
                        </a:rPr>
                        <a:t>Inflation M-O-M</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u="none" strike="noStrike" dirty="0">
                          <a:solidFill>
                            <a:srgbClr val="000000"/>
                          </a:solidFill>
                          <a:effectLst/>
                        </a:rPr>
                        <a:t>1.09%</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0.16%</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-0.02%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0.52%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0.83%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0.10%</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-0.57%</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0.34%</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-1.12%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0.01%</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0.32%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0.78%</a:t>
                      </a:r>
                      <a:endParaRPr lang="en-US" sz="11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4017841612"/>
                  </a:ext>
                </a:extLst>
              </a:tr>
            </a:tbl>
          </a:graphicData>
        </a:graphic>
      </p:graphicFrame>
      <p:grpSp>
        <p:nvGrpSpPr>
          <p:cNvPr id="30" name="Group 29">
            <a:extLst>
              <a:ext uri="{FF2B5EF4-FFF2-40B4-BE49-F238E27FC236}">
                <a16:creationId xmlns:a16="http://schemas.microsoft.com/office/drawing/2014/main" id="{4A5949A5-A555-3595-B5F7-C99DCC4696C7}"/>
              </a:ext>
            </a:extLst>
          </p:cNvPr>
          <p:cNvGrpSpPr/>
          <p:nvPr/>
        </p:nvGrpSpPr>
        <p:grpSpPr>
          <a:xfrm>
            <a:off x="92051" y="2368847"/>
            <a:ext cx="7769334" cy="4351254"/>
            <a:chOff x="48328" y="2368847"/>
            <a:chExt cx="12094585" cy="4351254"/>
          </a:xfrm>
        </p:grpSpPr>
        <mc:AlternateContent xmlns:mc="http://schemas.openxmlformats.org/markup-compatibility/2006" xmlns:cx1="http://schemas.microsoft.com/office/drawing/2015/9/8/chartex">
          <mc:Choice Requires="cx1">
            <p:graphicFrame>
              <p:nvGraphicFramePr>
                <p:cNvPr id="15" name="Chart 14">
                  <a:extLst>
                    <a:ext uri="{FF2B5EF4-FFF2-40B4-BE49-F238E27FC236}">
                      <a16:creationId xmlns:a16="http://schemas.microsoft.com/office/drawing/2014/main" id="{7214460C-C372-0F92-B97E-AF0A62BE7AAC}"/>
                    </a:ext>
                  </a:extLst>
                </p:cNvPr>
                <p:cNvGraphicFramePr/>
                <p:nvPr>
                  <p:extLst>
                    <p:ext uri="{D42A27DB-BD31-4B8C-83A1-F6EECF244321}">
                      <p14:modId xmlns:p14="http://schemas.microsoft.com/office/powerpoint/2010/main" val="631589089"/>
                    </p:ext>
                  </p:extLst>
                </p:nvPr>
              </p:nvGraphicFramePr>
              <p:xfrm>
                <a:off x="92051" y="2368847"/>
                <a:ext cx="11960845" cy="4351254"/>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5" name="Chart 14">
                  <a:extLst>
                    <a:ext uri="{FF2B5EF4-FFF2-40B4-BE49-F238E27FC236}">
                      <a16:creationId xmlns:a16="http://schemas.microsoft.com/office/drawing/2014/main" id="{7214460C-C372-0F92-B97E-AF0A62BE7AAC}"/>
                    </a:ext>
                  </a:extLst>
                </p:cNvPr>
                <p:cNvPicPr>
                  <a:picLocks noGrp="1" noRot="1" noChangeAspect="1" noMove="1" noResize="1" noEditPoints="1" noAdjustHandles="1" noChangeArrowheads="1" noChangeShapeType="1"/>
                </p:cNvPicPr>
                <p:nvPr/>
              </p:nvPicPr>
              <p:blipFill>
                <a:blip r:embed="rId4"/>
                <a:stretch>
                  <a:fillRect/>
                </a:stretch>
              </p:blipFill>
              <p:spPr>
                <a:xfrm>
                  <a:off x="120138" y="2368847"/>
                  <a:ext cx="7683422" cy="4351254"/>
                </a:xfrm>
                <a:prstGeom prst="rect">
                  <a:avLst/>
                </a:prstGeom>
              </p:spPr>
            </p:pic>
          </mc:Fallback>
        </mc:AlternateContent>
        <p:sp>
          <p:nvSpPr>
            <p:cNvPr id="23" name="Title 1">
              <a:extLst>
                <a:ext uri="{FF2B5EF4-FFF2-40B4-BE49-F238E27FC236}">
                  <a16:creationId xmlns:a16="http://schemas.microsoft.com/office/drawing/2014/main" id="{BA6F1ED4-AE10-44C7-5DA0-05D3A7C5E65F}"/>
                </a:ext>
              </a:extLst>
            </p:cNvPr>
            <p:cNvSpPr txBox="1">
              <a:spLocks/>
            </p:cNvSpPr>
            <p:nvPr/>
          </p:nvSpPr>
          <p:spPr>
            <a:xfrm>
              <a:off x="48328" y="4059658"/>
              <a:ext cx="1606303" cy="484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Highest M-O-M Food Inflation.</a:t>
              </a:r>
            </a:p>
          </p:txBody>
        </p:sp>
        <p:sp>
          <p:nvSpPr>
            <p:cNvPr id="25" name="Arrow: Pentagon 24">
              <a:extLst>
                <a:ext uri="{FF2B5EF4-FFF2-40B4-BE49-F238E27FC236}">
                  <a16:creationId xmlns:a16="http://schemas.microsoft.com/office/drawing/2014/main" id="{74CF2B10-6A3D-573A-DE1C-C8137525CC7A}"/>
                </a:ext>
              </a:extLst>
            </p:cNvPr>
            <p:cNvSpPr/>
            <p:nvPr/>
          </p:nvSpPr>
          <p:spPr>
            <a:xfrm rot="5400000" flipV="1">
              <a:off x="502669" y="4647733"/>
              <a:ext cx="334554" cy="133990"/>
            </a:xfrm>
            <a:prstGeom prst="homePlate">
              <a:avLst>
                <a:gd name="adj" fmla="val 51266"/>
              </a:avLst>
            </a:prstGeom>
            <a:solidFill>
              <a:srgbClr val="548235"/>
            </a:solid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Pentagon 25">
              <a:extLst>
                <a:ext uri="{FF2B5EF4-FFF2-40B4-BE49-F238E27FC236}">
                  <a16:creationId xmlns:a16="http://schemas.microsoft.com/office/drawing/2014/main" id="{88DB1E6E-8AF5-1B98-4EAC-5B678271A8C1}"/>
                </a:ext>
              </a:extLst>
            </p:cNvPr>
            <p:cNvSpPr/>
            <p:nvPr/>
          </p:nvSpPr>
          <p:spPr>
            <a:xfrm rot="16200000">
              <a:off x="8399854" y="5070157"/>
              <a:ext cx="334554" cy="133990"/>
            </a:xfrm>
            <a:prstGeom prst="homePlate">
              <a:avLst>
                <a:gd name="adj" fmla="val 51266"/>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1">
              <a:extLst>
                <a:ext uri="{FF2B5EF4-FFF2-40B4-BE49-F238E27FC236}">
                  <a16:creationId xmlns:a16="http://schemas.microsoft.com/office/drawing/2014/main" id="{370A3F27-379E-0461-ECB8-44BE6758DFB5}"/>
                </a:ext>
              </a:extLst>
            </p:cNvPr>
            <p:cNvSpPr txBox="1">
              <a:spLocks/>
            </p:cNvSpPr>
            <p:nvPr/>
          </p:nvSpPr>
          <p:spPr>
            <a:xfrm>
              <a:off x="7908436" y="5392607"/>
              <a:ext cx="1516644" cy="419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Lowest M-O-M Food Inflation</a:t>
              </a:r>
            </a:p>
          </p:txBody>
        </p:sp>
        <p:sp>
          <p:nvSpPr>
            <p:cNvPr id="28" name="Arrow: Pentagon 27">
              <a:extLst>
                <a:ext uri="{FF2B5EF4-FFF2-40B4-BE49-F238E27FC236}">
                  <a16:creationId xmlns:a16="http://schemas.microsoft.com/office/drawing/2014/main" id="{5DB395C4-5481-203D-9EFD-007E4F06D229}"/>
                </a:ext>
              </a:extLst>
            </p:cNvPr>
            <p:cNvSpPr/>
            <p:nvPr/>
          </p:nvSpPr>
          <p:spPr>
            <a:xfrm rot="5400000" flipV="1">
              <a:off x="11321792" y="3050347"/>
              <a:ext cx="271138" cy="12324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itle 1">
              <a:extLst>
                <a:ext uri="{FF2B5EF4-FFF2-40B4-BE49-F238E27FC236}">
                  <a16:creationId xmlns:a16="http://schemas.microsoft.com/office/drawing/2014/main" id="{672660E7-75B5-3655-6399-6C6809AF07F4}"/>
                </a:ext>
              </a:extLst>
            </p:cNvPr>
            <p:cNvSpPr txBox="1">
              <a:spLocks/>
            </p:cNvSpPr>
            <p:nvPr/>
          </p:nvSpPr>
          <p:spPr>
            <a:xfrm>
              <a:off x="10691534" y="2546819"/>
              <a:ext cx="1451379" cy="401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Inflation Rebounded</a:t>
              </a:r>
            </a:p>
          </p:txBody>
        </p:sp>
      </p:grpSp>
      <p:sp>
        <p:nvSpPr>
          <p:cNvPr id="31" name="Title 1">
            <a:extLst>
              <a:ext uri="{FF2B5EF4-FFF2-40B4-BE49-F238E27FC236}">
                <a16:creationId xmlns:a16="http://schemas.microsoft.com/office/drawing/2014/main" id="{E78C2362-C80F-2767-8A70-3E85313F0CB0}"/>
              </a:ext>
            </a:extLst>
          </p:cNvPr>
          <p:cNvSpPr txBox="1">
            <a:spLocks/>
          </p:cNvSpPr>
          <p:nvPr/>
        </p:nvSpPr>
        <p:spPr>
          <a:xfrm>
            <a:off x="7874611" y="2368847"/>
            <a:ext cx="4221250" cy="408718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Rural basic food inflation remained volatile between May 2022 to May 2023 peaking at 1.09% in June 2022 before declining to -1.12% in Feb 2023.</a:t>
            </a:r>
          </a:p>
          <a:p>
            <a:pPr>
              <a:lnSpc>
                <a:spcPct val="150000"/>
              </a:lnSpc>
            </a:pPr>
            <a:endParaRPr lang="en-US" sz="14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The food inflation recovered to 0.78% in May 2023 after the sharp decline in Feb 2023.</a:t>
            </a:r>
          </a:p>
        </p:txBody>
      </p:sp>
    </p:spTree>
    <p:extLst>
      <p:ext uri="{BB962C8B-B14F-4D97-AF65-F5344CB8AC3E}">
        <p14:creationId xmlns:p14="http://schemas.microsoft.com/office/powerpoint/2010/main" val="350831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85A92-3772-C7ED-40A8-BBBF49705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54C80-72F0-A4A2-04A4-B9BA88A09284}"/>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Food Inflation Overview: Rural Sector</a:t>
            </a:r>
          </a:p>
        </p:txBody>
      </p:sp>
      <p:sp>
        <p:nvSpPr>
          <p:cNvPr id="5" name="Content Placeholder 2">
            <a:extLst>
              <a:ext uri="{FF2B5EF4-FFF2-40B4-BE49-F238E27FC236}">
                <a16:creationId xmlns:a16="http://schemas.microsoft.com/office/drawing/2014/main" id="{69F15B67-840A-9D3F-874F-90F97E390C8F}"/>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Other Food &amp; Intoxicants:</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Table 9">
            <a:extLst>
              <a:ext uri="{FF2B5EF4-FFF2-40B4-BE49-F238E27FC236}">
                <a16:creationId xmlns:a16="http://schemas.microsoft.com/office/drawing/2014/main" id="{FDC28CA4-770A-CA5D-CBD6-2612BCBB4A73}"/>
              </a:ext>
            </a:extLst>
          </p:cNvPr>
          <p:cNvGraphicFramePr>
            <a:graphicFrameLocks noGrp="1"/>
          </p:cNvGraphicFramePr>
          <p:nvPr>
            <p:extLst>
              <p:ext uri="{D42A27DB-BD31-4B8C-83A1-F6EECF244321}">
                <p14:modId xmlns:p14="http://schemas.microsoft.com/office/powerpoint/2010/main" val="2346746420"/>
              </p:ext>
            </p:extLst>
          </p:nvPr>
        </p:nvGraphicFramePr>
        <p:xfrm>
          <a:off x="92051" y="1130839"/>
          <a:ext cx="12003810" cy="1112520"/>
        </p:xfrm>
        <a:graphic>
          <a:graphicData uri="http://schemas.openxmlformats.org/drawingml/2006/table">
            <a:tbl>
              <a:tblPr firstRow="1" bandRow="1">
                <a:tableStyleId>{5940675A-B579-460E-94D1-54222C63F5DA}</a:tableStyleId>
              </a:tblPr>
              <a:tblGrid>
                <a:gridCol w="1141468">
                  <a:extLst>
                    <a:ext uri="{9D8B030D-6E8A-4147-A177-3AD203B41FA5}">
                      <a16:colId xmlns:a16="http://schemas.microsoft.com/office/drawing/2014/main" val="61627544"/>
                    </a:ext>
                  </a:extLst>
                </a:gridCol>
                <a:gridCol w="1159877">
                  <a:extLst>
                    <a:ext uri="{9D8B030D-6E8A-4147-A177-3AD203B41FA5}">
                      <a16:colId xmlns:a16="http://schemas.microsoft.com/office/drawing/2014/main" val="3287431599"/>
                    </a:ext>
                  </a:extLst>
                </a:gridCol>
                <a:gridCol w="662787">
                  <a:extLst>
                    <a:ext uri="{9D8B030D-6E8A-4147-A177-3AD203B41FA5}">
                      <a16:colId xmlns:a16="http://schemas.microsoft.com/office/drawing/2014/main" val="3443064928"/>
                    </a:ext>
                  </a:extLst>
                </a:gridCol>
                <a:gridCol w="681197">
                  <a:extLst>
                    <a:ext uri="{9D8B030D-6E8A-4147-A177-3AD203B41FA5}">
                      <a16:colId xmlns:a16="http://schemas.microsoft.com/office/drawing/2014/main" val="3879713513"/>
                    </a:ext>
                  </a:extLst>
                </a:gridCol>
                <a:gridCol w="840757">
                  <a:extLst>
                    <a:ext uri="{9D8B030D-6E8A-4147-A177-3AD203B41FA5}">
                      <a16:colId xmlns:a16="http://schemas.microsoft.com/office/drawing/2014/main" val="601547321"/>
                    </a:ext>
                  </a:extLst>
                </a:gridCol>
                <a:gridCol w="658404">
                  <a:extLst>
                    <a:ext uri="{9D8B030D-6E8A-4147-A177-3AD203B41FA5}">
                      <a16:colId xmlns:a16="http://schemas.microsoft.com/office/drawing/2014/main" val="4067788497"/>
                    </a:ext>
                  </a:extLst>
                </a:gridCol>
                <a:gridCol w="857415">
                  <a:extLst>
                    <a:ext uri="{9D8B030D-6E8A-4147-A177-3AD203B41FA5}">
                      <a16:colId xmlns:a16="http://schemas.microsoft.com/office/drawing/2014/main" val="2484118876"/>
                    </a:ext>
                  </a:extLst>
                </a:gridCol>
                <a:gridCol w="857415">
                  <a:extLst>
                    <a:ext uri="{9D8B030D-6E8A-4147-A177-3AD203B41FA5}">
                      <a16:colId xmlns:a16="http://schemas.microsoft.com/office/drawing/2014/main" val="3279240359"/>
                    </a:ext>
                  </a:extLst>
                </a:gridCol>
                <a:gridCol w="857415">
                  <a:extLst>
                    <a:ext uri="{9D8B030D-6E8A-4147-A177-3AD203B41FA5}">
                      <a16:colId xmlns:a16="http://schemas.microsoft.com/office/drawing/2014/main" val="1113863754"/>
                    </a:ext>
                  </a:extLst>
                </a:gridCol>
                <a:gridCol w="857415">
                  <a:extLst>
                    <a:ext uri="{9D8B030D-6E8A-4147-A177-3AD203B41FA5}">
                      <a16:colId xmlns:a16="http://schemas.microsoft.com/office/drawing/2014/main" val="1245729143"/>
                    </a:ext>
                  </a:extLst>
                </a:gridCol>
                <a:gridCol w="857415">
                  <a:extLst>
                    <a:ext uri="{9D8B030D-6E8A-4147-A177-3AD203B41FA5}">
                      <a16:colId xmlns:a16="http://schemas.microsoft.com/office/drawing/2014/main" val="191567201"/>
                    </a:ext>
                  </a:extLst>
                </a:gridCol>
                <a:gridCol w="857415">
                  <a:extLst>
                    <a:ext uri="{9D8B030D-6E8A-4147-A177-3AD203B41FA5}">
                      <a16:colId xmlns:a16="http://schemas.microsoft.com/office/drawing/2014/main" val="493854987"/>
                    </a:ext>
                  </a:extLst>
                </a:gridCol>
                <a:gridCol w="857415">
                  <a:extLst>
                    <a:ext uri="{9D8B030D-6E8A-4147-A177-3AD203B41FA5}">
                      <a16:colId xmlns:a16="http://schemas.microsoft.com/office/drawing/2014/main" val="1683358866"/>
                    </a:ext>
                  </a:extLst>
                </a:gridCol>
                <a:gridCol w="857415">
                  <a:extLst>
                    <a:ext uri="{9D8B030D-6E8A-4147-A177-3AD203B41FA5}">
                      <a16:colId xmlns:a16="http://schemas.microsoft.com/office/drawing/2014/main" val="3910608619"/>
                    </a:ext>
                  </a:extLst>
                </a:gridCol>
              </a:tblGrid>
              <a:tr h="370840">
                <a:tc>
                  <a:txBody>
                    <a:bodyPr/>
                    <a:lstStyle/>
                    <a:p>
                      <a:r>
                        <a:rPr lang="en-US" sz="1100" b="0" u="none" strike="noStrike" kern="1200" dirty="0">
                          <a:solidFill>
                            <a:srgbClr val="000000"/>
                          </a:solidFill>
                          <a:effectLst/>
                        </a:rPr>
                        <a:t>Year</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u="none" strike="noStrike" dirty="0">
                          <a:solidFill>
                            <a:srgbClr val="000000"/>
                          </a:solidFill>
                          <a:effectLst/>
                        </a:rPr>
                        <a:t>May-22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Jun-22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Jul-22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Aug-22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Sep-22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Oct-22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Nov-22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Dec-22</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Jan-23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Feb-23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Mar-23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Apr-23</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May-23</a:t>
                      </a:r>
                      <a:endParaRPr lang="en-US" sz="11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881085019"/>
                  </a:ext>
                </a:extLst>
              </a:tr>
              <a:tr h="370840">
                <a:tc rowSpan="2">
                  <a:txBody>
                    <a:bodyPr/>
                    <a:lstStyle/>
                    <a:p>
                      <a:pPr algn="ctr" fontAlgn="ctr">
                        <a:buNone/>
                      </a:pPr>
                      <a:r>
                        <a:rPr lang="en-US" sz="1100" b="0" u="none" strike="noStrike" dirty="0">
                          <a:solidFill>
                            <a:srgbClr val="000000"/>
                          </a:solidFill>
                          <a:effectLst/>
                        </a:rPr>
                        <a:t>Other Food &amp; Intoxicants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836</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841</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843</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847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851</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856</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858</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868</a:t>
                      </a:r>
                    </a:p>
                  </a:txBody>
                  <a:tcPr marL="0" marR="0" marT="0" marB="0" anchor="ctr"/>
                </a:tc>
                <a:extLst>
                  <a:ext uri="{0D108BD9-81ED-4DB2-BD59-A6C34878D82A}">
                    <a16:rowId xmlns:a16="http://schemas.microsoft.com/office/drawing/2014/main" val="506688674"/>
                  </a:ext>
                </a:extLst>
              </a:tr>
              <a:tr h="370840">
                <a:tc vMerge="1">
                  <a:txBody>
                    <a:bodyPr/>
                    <a:lstStyle/>
                    <a:p>
                      <a:endParaRPr lang="en-US"/>
                    </a:p>
                  </a:txBody>
                  <a:tcPr/>
                </a:tc>
                <a:tc>
                  <a:txBody>
                    <a:bodyPr/>
                    <a:lstStyle/>
                    <a:p>
                      <a:pPr marL="0" algn="ctr" defTabSz="914400" rtl="0" eaLnBrk="1" fontAlgn="b" latinLnBrk="0" hangingPunct="1">
                        <a:buNone/>
                      </a:pPr>
                      <a:r>
                        <a:rPr lang="en-US" sz="1100" b="0" u="none" strike="noStrike" kern="1200" dirty="0">
                          <a:solidFill>
                            <a:srgbClr val="000000"/>
                          </a:solidFill>
                          <a:effectLst/>
                        </a:rPr>
                        <a:t>Inflation M-O-M</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0.51%</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0.24%</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0.49%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0.52%</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0.45%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0.25%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-0.11%</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0.19%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0.24%</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0.01%</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0.50%</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0.50%</a:t>
                      </a:r>
                    </a:p>
                  </a:txBody>
                  <a:tcPr marL="0" marR="0" marT="0" marB="0" anchor="ctr"/>
                </a:tc>
                <a:extLst>
                  <a:ext uri="{0D108BD9-81ED-4DB2-BD59-A6C34878D82A}">
                    <a16:rowId xmlns:a16="http://schemas.microsoft.com/office/drawing/2014/main" val="4017841612"/>
                  </a:ext>
                </a:extLst>
              </a:tr>
            </a:tbl>
          </a:graphicData>
        </a:graphic>
      </p:graphicFrame>
      <p:grpSp>
        <p:nvGrpSpPr>
          <p:cNvPr id="18" name="Group 17">
            <a:extLst>
              <a:ext uri="{FF2B5EF4-FFF2-40B4-BE49-F238E27FC236}">
                <a16:creationId xmlns:a16="http://schemas.microsoft.com/office/drawing/2014/main" id="{057587A5-BB0F-459B-825C-D5855B748F51}"/>
              </a:ext>
            </a:extLst>
          </p:cNvPr>
          <p:cNvGrpSpPr/>
          <p:nvPr/>
        </p:nvGrpSpPr>
        <p:grpSpPr>
          <a:xfrm>
            <a:off x="92050" y="2405669"/>
            <a:ext cx="8152669" cy="4369663"/>
            <a:chOff x="92050" y="2405669"/>
            <a:chExt cx="8401437" cy="4369663"/>
          </a:xfrm>
        </p:grpSpPr>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70FDA62C-B426-1F29-2819-517081AFB976}"/>
                    </a:ext>
                  </a:extLst>
                </p:cNvPr>
                <p:cNvGraphicFramePr/>
                <p:nvPr>
                  <p:extLst>
                    <p:ext uri="{D42A27DB-BD31-4B8C-83A1-F6EECF244321}">
                      <p14:modId xmlns:p14="http://schemas.microsoft.com/office/powerpoint/2010/main" val="2920876216"/>
                    </p:ext>
                  </p:extLst>
                </p:nvPr>
              </p:nvGraphicFramePr>
              <p:xfrm>
                <a:off x="92050" y="2405669"/>
                <a:ext cx="7480899" cy="4369663"/>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3" name="Chart 2">
                  <a:extLst>
                    <a:ext uri="{FF2B5EF4-FFF2-40B4-BE49-F238E27FC236}">
                      <a16:creationId xmlns:a16="http://schemas.microsoft.com/office/drawing/2014/main" id="{70FDA62C-B426-1F29-2819-517081AFB976}"/>
                    </a:ext>
                  </a:extLst>
                </p:cNvPr>
                <p:cNvPicPr>
                  <a:picLocks noGrp="1" noRot="1" noChangeAspect="1" noMove="1" noResize="1" noEditPoints="1" noAdjustHandles="1" noChangeArrowheads="1" noChangeShapeType="1"/>
                </p:cNvPicPr>
                <p:nvPr/>
              </p:nvPicPr>
              <p:blipFill>
                <a:blip r:embed="rId3"/>
                <a:stretch>
                  <a:fillRect/>
                </a:stretch>
              </p:blipFill>
              <p:spPr>
                <a:xfrm>
                  <a:off x="92050" y="2405669"/>
                  <a:ext cx="7259388" cy="4369663"/>
                </a:xfrm>
                <a:prstGeom prst="rect">
                  <a:avLst/>
                </a:prstGeom>
              </p:spPr>
            </p:pic>
          </mc:Fallback>
        </mc:AlternateContent>
        <p:sp>
          <p:nvSpPr>
            <p:cNvPr id="7" name="Title 1">
              <a:extLst>
                <a:ext uri="{FF2B5EF4-FFF2-40B4-BE49-F238E27FC236}">
                  <a16:creationId xmlns:a16="http://schemas.microsoft.com/office/drawing/2014/main" id="{3265561D-03BC-8D92-2414-473B396C069C}"/>
                </a:ext>
              </a:extLst>
            </p:cNvPr>
            <p:cNvSpPr txBox="1">
              <a:spLocks/>
            </p:cNvSpPr>
            <p:nvPr/>
          </p:nvSpPr>
          <p:spPr>
            <a:xfrm>
              <a:off x="1908577" y="3834285"/>
              <a:ext cx="1031859" cy="484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Highest M-O-M Food Inflation.</a:t>
              </a:r>
            </a:p>
          </p:txBody>
        </p:sp>
        <p:sp>
          <p:nvSpPr>
            <p:cNvPr id="8" name="Arrow: Pentagon 7">
              <a:extLst>
                <a:ext uri="{FF2B5EF4-FFF2-40B4-BE49-F238E27FC236}">
                  <a16:creationId xmlns:a16="http://schemas.microsoft.com/office/drawing/2014/main" id="{11AC2CAE-05BD-4059-2C04-6F9050D82858}"/>
                </a:ext>
              </a:extLst>
            </p:cNvPr>
            <p:cNvSpPr/>
            <p:nvPr/>
          </p:nvSpPr>
          <p:spPr>
            <a:xfrm rot="5400000" flipV="1">
              <a:off x="2140616" y="4446319"/>
              <a:ext cx="334554" cy="86073"/>
            </a:xfrm>
            <a:prstGeom prst="homePlate">
              <a:avLst>
                <a:gd name="adj" fmla="val 51266"/>
              </a:avLst>
            </a:prstGeom>
            <a:solidFill>
              <a:srgbClr val="548235"/>
            </a:solid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Pentagon 8">
              <a:extLst>
                <a:ext uri="{FF2B5EF4-FFF2-40B4-BE49-F238E27FC236}">
                  <a16:creationId xmlns:a16="http://schemas.microsoft.com/office/drawing/2014/main" id="{35F0673D-3B68-539A-2CAF-751FBFF82AE2}"/>
                </a:ext>
              </a:extLst>
            </p:cNvPr>
            <p:cNvSpPr/>
            <p:nvPr/>
          </p:nvSpPr>
          <p:spPr>
            <a:xfrm rot="16200000">
              <a:off x="3997877" y="4615437"/>
              <a:ext cx="334554" cy="86073"/>
            </a:xfrm>
            <a:prstGeom prst="homePlate">
              <a:avLst>
                <a:gd name="adj" fmla="val 51266"/>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F79FBE6-0108-79B7-0125-8238A083725E}"/>
                </a:ext>
              </a:extLst>
            </p:cNvPr>
            <p:cNvSpPr txBox="1">
              <a:spLocks/>
            </p:cNvSpPr>
            <p:nvPr/>
          </p:nvSpPr>
          <p:spPr>
            <a:xfrm>
              <a:off x="3742021" y="4821873"/>
              <a:ext cx="974264" cy="419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Lowest M-O-M Food Inflation</a:t>
              </a:r>
            </a:p>
          </p:txBody>
        </p:sp>
        <p:sp>
          <p:nvSpPr>
            <p:cNvPr id="12" name="Arrow: Pentagon 11">
              <a:extLst>
                <a:ext uri="{FF2B5EF4-FFF2-40B4-BE49-F238E27FC236}">
                  <a16:creationId xmlns:a16="http://schemas.microsoft.com/office/drawing/2014/main" id="{100871AD-E38F-13B3-52E5-7B595AC09294}"/>
                </a:ext>
              </a:extLst>
            </p:cNvPr>
            <p:cNvSpPr/>
            <p:nvPr/>
          </p:nvSpPr>
          <p:spPr>
            <a:xfrm rot="5400000" flipV="1">
              <a:off x="6421699" y="3039381"/>
              <a:ext cx="271138" cy="79173"/>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row: Pentagon 13">
              <a:extLst>
                <a:ext uri="{FF2B5EF4-FFF2-40B4-BE49-F238E27FC236}">
                  <a16:creationId xmlns:a16="http://schemas.microsoft.com/office/drawing/2014/main" id="{392EAEEF-AF41-36CD-7D1F-3AE093844CED}"/>
                </a:ext>
              </a:extLst>
            </p:cNvPr>
            <p:cNvSpPr/>
            <p:nvPr/>
          </p:nvSpPr>
          <p:spPr>
            <a:xfrm rot="5400000" flipV="1">
              <a:off x="7034369" y="2609798"/>
              <a:ext cx="271138" cy="79173"/>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
              <a:extLst>
                <a:ext uri="{FF2B5EF4-FFF2-40B4-BE49-F238E27FC236}">
                  <a16:creationId xmlns:a16="http://schemas.microsoft.com/office/drawing/2014/main" id="{67C78CEB-9E7D-8777-DD84-F24236A4EB45}"/>
                </a:ext>
              </a:extLst>
            </p:cNvPr>
            <p:cNvSpPr txBox="1">
              <a:spLocks/>
            </p:cNvSpPr>
            <p:nvPr/>
          </p:nvSpPr>
          <p:spPr>
            <a:xfrm>
              <a:off x="7169938" y="2482355"/>
              <a:ext cx="1323549" cy="2611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Inflation Rebounded</a:t>
              </a:r>
            </a:p>
          </p:txBody>
        </p:sp>
        <p:sp>
          <p:nvSpPr>
            <p:cNvPr id="17" name="Title 1">
              <a:extLst>
                <a:ext uri="{FF2B5EF4-FFF2-40B4-BE49-F238E27FC236}">
                  <a16:creationId xmlns:a16="http://schemas.microsoft.com/office/drawing/2014/main" id="{4E92176A-8B20-9A00-2EE9-671A4C4DF73C}"/>
                </a:ext>
              </a:extLst>
            </p:cNvPr>
            <p:cNvSpPr txBox="1">
              <a:spLocks/>
            </p:cNvSpPr>
            <p:nvPr/>
          </p:nvSpPr>
          <p:spPr>
            <a:xfrm>
              <a:off x="5277745" y="2943398"/>
              <a:ext cx="1239936" cy="26118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Inflation Rebounded</a:t>
              </a:r>
            </a:p>
          </p:txBody>
        </p:sp>
      </p:grpSp>
      <p:sp>
        <p:nvSpPr>
          <p:cNvPr id="19" name="Title 1">
            <a:extLst>
              <a:ext uri="{FF2B5EF4-FFF2-40B4-BE49-F238E27FC236}">
                <a16:creationId xmlns:a16="http://schemas.microsoft.com/office/drawing/2014/main" id="{C9A2AC7D-92AE-730E-6E64-2DB2638915AB}"/>
              </a:ext>
            </a:extLst>
          </p:cNvPr>
          <p:cNvSpPr txBox="1">
            <a:spLocks/>
          </p:cNvSpPr>
          <p:nvPr/>
        </p:nvSpPr>
        <p:spPr>
          <a:xfrm>
            <a:off x="8287683" y="2405669"/>
            <a:ext cx="3808177" cy="4332841"/>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Rural other food and intoxicants inflation remained relatively stable compared to basic food items. The category recorded its highest inflation of 0.52% in Sep 2022 while the lowest inflation of -0.11% was observed in Dec 2022.</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After a brief decline inflation gradually recovered and reached 0.50% in May 2023.</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Unlike basic food items which exhibited a significant volatility. Other food and intoxicants showed a relatively stable inflation trend throughout the analysis period.</a:t>
            </a:r>
          </a:p>
        </p:txBody>
      </p:sp>
    </p:spTree>
    <p:extLst>
      <p:ext uri="{BB962C8B-B14F-4D97-AF65-F5344CB8AC3E}">
        <p14:creationId xmlns:p14="http://schemas.microsoft.com/office/powerpoint/2010/main" val="308458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75993-3CB9-0C45-0472-CA263503F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ECD87-6C7E-9BEC-18AE-E04DE05AC945}"/>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Food Inflation Overview: Urban Sector</a:t>
            </a:r>
          </a:p>
        </p:txBody>
      </p:sp>
      <p:sp>
        <p:nvSpPr>
          <p:cNvPr id="5" name="Content Placeholder 2">
            <a:extLst>
              <a:ext uri="{FF2B5EF4-FFF2-40B4-BE49-F238E27FC236}">
                <a16:creationId xmlns:a16="http://schemas.microsoft.com/office/drawing/2014/main" id="{5C570652-1D62-8CD3-34BB-A695B9C77745}"/>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Basic Food Items:</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Table 9">
            <a:extLst>
              <a:ext uri="{FF2B5EF4-FFF2-40B4-BE49-F238E27FC236}">
                <a16:creationId xmlns:a16="http://schemas.microsoft.com/office/drawing/2014/main" id="{6515E5A3-D086-8C16-C40F-C1D6928E9C57}"/>
              </a:ext>
            </a:extLst>
          </p:cNvPr>
          <p:cNvGraphicFramePr>
            <a:graphicFrameLocks noGrp="1"/>
          </p:cNvGraphicFramePr>
          <p:nvPr>
            <p:extLst>
              <p:ext uri="{D42A27DB-BD31-4B8C-83A1-F6EECF244321}">
                <p14:modId xmlns:p14="http://schemas.microsoft.com/office/powerpoint/2010/main" val="1951398804"/>
              </p:ext>
            </p:extLst>
          </p:nvPr>
        </p:nvGraphicFramePr>
        <p:xfrm>
          <a:off x="92051" y="1130839"/>
          <a:ext cx="12003810" cy="1112520"/>
        </p:xfrm>
        <a:graphic>
          <a:graphicData uri="http://schemas.openxmlformats.org/drawingml/2006/table">
            <a:tbl>
              <a:tblPr firstRow="1" bandRow="1">
                <a:tableStyleId>{5940675A-B579-460E-94D1-54222C63F5DA}</a:tableStyleId>
              </a:tblPr>
              <a:tblGrid>
                <a:gridCol w="1141468">
                  <a:extLst>
                    <a:ext uri="{9D8B030D-6E8A-4147-A177-3AD203B41FA5}">
                      <a16:colId xmlns:a16="http://schemas.microsoft.com/office/drawing/2014/main" val="61627544"/>
                    </a:ext>
                  </a:extLst>
                </a:gridCol>
                <a:gridCol w="1159877">
                  <a:extLst>
                    <a:ext uri="{9D8B030D-6E8A-4147-A177-3AD203B41FA5}">
                      <a16:colId xmlns:a16="http://schemas.microsoft.com/office/drawing/2014/main" val="3287431599"/>
                    </a:ext>
                  </a:extLst>
                </a:gridCol>
                <a:gridCol w="662787">
                  <a:extLst>
                    <a:ext uri="{9D8B030D-6E8A-4147-A177-3AD203B41FA5}">
                      <a16:colId xmlns:a16="http://schemas.microsoft.com/office/drawing/2014/main" val="3443064928"/>
                    </a:ext>
                  </a:extLst>
                </a:gridCol>
                <a:gridCol w="681197">
                  <a:extLst>
                    <a:ext uri="{9D8B030D-6E8A-4147-A177-3AD203B41FA5}">
                      <a16:colId xmlns:a16="http://schemas.microsoft.com/office/drawing/2014/main" val="3879713513"/>
                    </a:ext>
                  </a:extLst>
                </a:gridCol>
                <a:gridCol w="840757">
                  <a:extLst>
                    <a:ext uri="{9D8B030D-6E8A-4147-A177-3AD203B41FA5}">
                      <a16:colId xmlns:a16="http://schemas.microsoft.com/office/drawing/2014/main" val="601547321"/>
                    </a:ext>
                  </a:extLst>
                </a:gridCol>
                <a:gridCol w="658404">
                  <a:extLst>
                    <a:ext uri="{9D8B030D-6E8A-4147-A177-3AD203B41FA5}">
                      <a16:colId xmlns:a16="http://schemas.microsoft.com/office/drawing/2014/main" val="4067788497"/>
                    </a:ext>
                  </a:extLst>
                </a:gridCol>
                <a:gridCol w="857415">
                  <a:extLst>
                    <a:ext uri="{9D8B030D-6E8A-4147-A177-3AD203B41FA5}">
                      <a16:colId xmlns:a16="http://schemas.microsoft.com/office/drawing/2014/main" val="2484118876"/>
                    </a:ext>
                  </a:extLst>
                </a:gridCol>
                <a:gridCol w="857415">
                  <a:extLst>
                    <a:ext uri="{9D8B030D-6E8A-4147-A177-3AD203B41FA5}">
                      <a16:colId xmlns:a16="http://schemas.microsoft.com/office/drawing/2014/main" val="3279240359"/>
                    </a:ext>
                  </a:extLst>
                </a:gridCol>
                <a:gridCol w="857415">
                  <a:extLst>
                    <a:ext uri="{9D8B030D-6E8A-4147-A177-3AD203B41FA5}">
                      <a16:colId xmlns:a16="http://schemas.microsoft.com/office/drawing/2014/main" val="1113863754"/>
                    </a:ext>
                  </a:extLst>
                </a:gridCol>
                <a:gridCol w="857415">
                  <a:extLst>
                    <a:ext uri="{9D8B030D-6E8A-4147-A177-3AD203B41FA5}">
                      <a16:colId xmlns:a16="http://schemas.microsoft.com/office/drawing/2014/main" val="1245729143"/>
                    </a:ext>
                  </a:extLst>
                </a:gridCol>
                <a:gridCol w="857415">
                  <a:extLst>
                    <a:ext uri="{9D8B030D-6E8A-4147-A177-3AD203B41FA5}">
                      <a16:colId xmlns:a16="http://schemas.microsoft.com/office/drawing/2014/main" val="191567201"/>
                    </a:ext>
                  </a:extLst>
                </a:gridCol>
                <a:gridCol w="857415">
                  <a:extLst>
                    <a:ext uri="{9D8B030D-6E8A-4147-A177-3AD203B41FA5}">
                      <a16:colId xmlns:a16="http://schemas.microsoft.com/office/drawing/2014/main" val="493854987"/>
                    </a:ext>
                  </a:extLst>
                </a:gridCol>
                <a:gridCol w="857415">
                  <a:extLst>
                    <a:ext uri="{9D8B030D-6E8A-4147-A177-3AD203B41FA5}">
                      <a16:colId xmlns:a16="http://schemas.microsoft.com/office/drawing/2014/main" val="1683358866"/>
                    </a:ext>
                  </a:extLst>
                </a:gridCol>
                <a:gridCol w="857415">
                  <a:extLst>
                    <a:ext uri="{9D8B030D-6E8A-4147-A177-3AD203B41FA5}">
                      <a16:colId xmlns:a16="http://schemas.microsoft.com/office/drawing/2014/main" val="3910608619"/>
                    </a:ext>
                  </a:extLst>
                </a:gridCol>
              </a:tblGrid>
              <a:tr h="370840">
                <a:tc>
                  <a:txBody>
                    <a:bodyPr/>
                    <a:lstStyle/>
                    <a:p>
                      <a:r>
                        <a:rPr lang="en-US" sz="1100" b="0" u="none" strike="noStrike" kern="1200" dirty="0">
                          <a:solidFill>
                            <a:srgbClr val="000000"/>
                          </a:solidFill>
                          <a:effectLst/>
                        </a:rPr>
                        <a:t>Year</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May-22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Jun-22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Jul-22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Aug-22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Sep-22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Oct-22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Nov-22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Dec-22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Jan-23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Feb-23</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Mar-23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Apr-23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May-23</a:t>
                      </a:r>
                    </a:p>
                  </a:txBody>
                  <a:tcPr marL="0" marR="0" marT="0" marB="0" anchor="ctr"/>
                </a:tc>
                <a:extLst>
                  <a:ext uri="{0D108BD9-81ED-4DB2-BD59-A6C34878D82A}">
                    <a16:rowId xmlns:a16="http://schemas.microsoft.com/office/drawing/2014/main" val="3881085019"/>
                  </a:ext>
                </a:extLst>
              </a:tr>
              <a:tr h="370840">
                <a:tc rowSpan="2">
                  <a:txBody>
                    <a:bodyPr/>
                    <a:lstStyle/>
                    <a:p>
                      <a:pPr algn="ctr" fontAlgn="ctr">
                        <a:buNone/>
                      </a:pPr>
                      <a:r>
                        <a:rPr lang="en-US" sz="1100" b="0" u="none" strike="noStrike" dirty="0">
                          <a:solidFill>
                            <a:srgbClr val="000000"/>
                          </a:solidFill>
                          <a:effectLst/>
                        </a:rPr>
                        <a:t>Basic Food Items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1620</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1641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1643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1642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1650</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1663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1655</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1638</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1650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1639</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1639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1650</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1664</a:t>
                      </a:r>
                    </a:p>
                  </a:txBody>
                  <a:tcPr marL="0" marR="0" marT="0" marB="0" anchor="ctr"/>
                </a:tc>
                <a:extLst>
                  <a:ext uri="{0D108BD9-81ED-4DB2-BD59-A6C34878D82A}">
                    <a16:rowId xmlns:a16="http://schemas.microsoft.com/office/drawing/2014/main" val="506688674"/>
                  </a:ext>
                </a:extLst>
              </a:tr>
              <a:tr h="370840">
                <a:tc vMerge="1">
                  <a:txBody>
                    <a:bodyPr/>
                    <a:lstStyle/>
                    <a:p>
                      <a:endParaRPr lang="en-US"/>
                    </a:p>
                  </a:txBody>
                  <a:tcPr/>
                </a:tc>
                <a:tc>
                  <a:txBody>
                    <a:bodyPr/>
                    <a:lstStyle/>
                    <a:p>
                      <a:pPr marL="0" algn="ctr" defTabSz="914400" rtl="0" eaLnBrk="1" fontAlgn="b" latinLnBrk="0" hangingPunct="1">
                        <a:buNone/>
                      </a:pPr>
                      <a:r>
                        <a:rPr lang="en-US" sz="1100" b="0" u="none" strike="noStrike" kern="1200" dirty="0">
                          <a:solidFill>
                            <a:srgbClr val="000000"/>
                          </a:solidFill>
                          <a:effectLst/>
                        </a:rPr>
                        <a:t>Inflation M-O-M</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1.31%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0.11%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-0.09%</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0.51%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0.76%</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-0.44%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-1.04%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0.73%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-0.66%</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0.01%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0.66%</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0.86%</a:t>
                      </a:r>
                    </a:p>
                  </a:txBody>
                  <a:tcPr marL="0" marR="0" marT="0" marB="0" anchor="ctr"/>
                </a:tc>
                <a:extLst>
                  <a:ext uri="{0D108BD9-81ED-4DB2-BD59-A6C34878D82A}">
                    <a16:rowId xmlns:a16="http://schemas.microsoft.com/office/drawing/2014/main" val="4017841612"/>
                  </a:ext>
                </a:extLst>
              </a:tr>
            </a:tbl>
          </a:graphicData>
        </a:graphic>
      </p:graphicFrame>
      <p:grpSp>
        <p:nvGrpSpPr>
          <p:cNvPr id="25" name="Group 24">
            <a:extLst>
              <a:ext uri="{FF2B5EF4-FFF2-40B4-BE49-F238E27FC236}">
                <a16:creationId xmlns:a16="http://schemas.microsoft.com/office/drawing/2014/main" id="{876648BE-9403-D5FA-38F4-647D435A6F82}"/>
              </a:ext>
            </a:extLst>
          </p:cNvPr>
          <p:cNvGrpSpPr/>
          <p:nvPr/>
        </p:nvGrpSpPr>
        <p:grpSpPr>
          <a:xfrm>
            <a:off x="85914" y="2311769"/>
            <a:ext cx="7143369" cy="4463564"/>
            <a:chOff x="85914" y="2311769"/>
            <a:chExt cx="7143369" cy="4463564"/>
          </a:xfrm>
        </p:grpSpPr>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CEA688DB-4FA1-13D6-2FDA-1A4BB10131FD}"/>
                    </a:ext>
                  </a:extLst>
                </p:cNvPr>
                <p:cNvGraphicFramePr/>
                <p:nvPr>
                  <p:extLst>
                    <p:ext uri="{D42A27DB-BD31-4B8C-83A1-F6EECF244321}">
                      <p14:modId xmlns:p14="http://schemas.microsoft.com/office/powerpoint/2010/main" val="4215916538"/>
                    </p:ext>
                  </p:extLst>
                </p:nvPr>
              </p:nvGraphicFramePr>
              <p:xfrm>
                <a:off x="92051" y="2311769"/>
                <a:ext cx="7137232" cy="446356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CEA688DB-4FA1-13D6-2FDA-1A4BB10131FD}"/>
                    </a:ext>
                  </a:extLst>
                </p:cNvPr>
                <p:cNvPicPr>
                  <a:picLocks noGrp="1" noRot="1" noChangeAspect="1" noMove="1" noResize="1" noEditPoints="1" noAdjustHandles="1" noChangeArrowheads="1" noChangeShapeType="1"/>
                </p:cNvPicPr>
                <p:nvPr/>
              </p:nvPicPr>
              <p:blipFill>
                <a:blip r:embed="rId3"/>
                <a:stretch>
                  <a:fillRect/>
                </a:stretch>
              </p:blipFill>
              <p:spPr>
                <a:xfrm>
                  <a:off x="92051" y="2311769"/>
                  <a:ext cx="7137232" cy="4463564"/>
                </a:xfrm>
                <a:prstGeom prst="rect">
                  <a:avLst/>
                </a:prstGeom>
              </p:spPr>
            </p:pic>
          </mc:Fallback>
        </mc:AlternateContent>
        <p:sp>
          <p:nvSpPr>
            <p:cNvPr id="13" name="Title 1">
              <a:extLst>
                <a:ext uri="{FF2B5EF4-FFF2-40B4-BE49-F238E27FC236}">
                  <a16:creationId xmlns:a16="http://schemas.microsoft.com/office/drawing/2014/main" id="{5A1B09DA-F452-BA13-8351-A80D69C0770D}"/>
                </a:ext>
              </a:extLst>
            </p:cNvPr>
            <p:cNvSpPr txBox="1">
              <a:spLocks/>
            </p:cNvSpPr>
            <p:nvPr/>
          </p:nvSpPr>
          <p:spPr>
            <a:xfrm>
              <a:off x="85914" y="3797463"/>
              <a:ext cx="1001305" cy="484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Highest M-O-M Food Inflation.</a:t>
              </a:r>
            </a:p>
          </p:txBody>
        </p:sp>
        <p:sp>
          <p:nvSpPr>
            <p:cNvPr id="15" name="Arrow: Pentagon 14">
              <a:extLst>
                <a:ext uri="{FF2B5EF4-FFF2-40B4-BE49-F238E27FC236}">
                  <a16:creationId xmlns:a16="http://schemas.microsoft.com/office/drawing/2014/main" id="{53C1B403-2323-07E7-00A6-20D74A0C50E6}"/>
                </a:ext>
              </a:extLst>
            </p:cNvPr>
            <p:cNvSpPr/>
            <p:nvPr/>
          </p:nvSpPr>
          <p:spPr>
            <a:xfrm rot="5400000" flipV="1">
              <a:off x="306130" y="4410771"/>
              <a:ext cx="334554" cy="83524"/>
            </a:xfrm>
            <a:prstGeom prst="homePlate">
              <a:avLst>
                <a:gd name="adj" fmla="val 51266"/>
              </a:avLst>
            </a:prstGeom>
            <a:solidFill>
              <a:srgbClr val="548235"/>
            </a:solid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Pentagon 19">
              <a:extLst>
                <a:ext uri="{FF2B5EF4-FFF2-40B4-BE49-F238E27FC236}">
                  <a16:creationId xmlns:a16="http://schemas.microsoft.com/office/drawing/2014/main" id="{09A9D9DE-AF56-2B43-60F0-73D05295A67A}"/>
                </a:ext>
              </a:extLst>
            </p:cNvPr>
            <p:cNvSpPr/>
            <p:nvPr/>
          </p:nvSpPr>
          <p:spPr>
            <a:xfrm rot="16200000">
              <a:off x="3803629" y="5365415"/>
              <a:ext cx="334554" cy="83524"/>
            </a:xfrm>
            <a:prstGeom prst="homePlate">
              <a:avLst>
                <a:gd name="adj" fmla="val 51266"/>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0F5313BD-6F1D-A4E1-E6D0-A28285F32AAA}"/>
                </a:ext>
              </a:extLst>
            </p:cNvPr>
            <p:cNvSpPr txBox="1">
              <a:spLocks/>
            </p:cNvSpPr>
            <p:nvPr/>
          </p:nvSpPr>
          <p:spPr>
            <a:xfrm>
              <a:off x="3560302" y="5570577"/>
              <a:ext cx="945416" cy="419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Lowest M-O-M Food Inflation</a:t>
              </a:r>
            </a:p>
          </p:txBody>
        </p:sp>
        <p:sp>
          <p:nvSpPr>
            <p:cNvPr id="22" name="Arrow: Pentagon 21">
              <a:extLst>
                <a:ext uri="{FF2B5EF4-FFF2-40B4-BE49-F238E27FC236}">
                  <a16:creationId xmlns:a16="http://schemas.microsoft.com/office/drawing/2014/main" id="{B8790B4F-8275-C6BF-6952-B6361BF00540}"/>
                </a:ext>
              </a:extLst>
            </p:cNvPr>
            <p:cNvSpPr/>
            <p:nvPr/>
          </p:nvSpPr>
          <p:spPr>
            <a:xfrm rot="5400000" flipV="1">
              <a:off x="6708942" y="2695169"/>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B0906B50-6C60-5218-2E76-CC3495C471D5}"/>
                </a:ext>
              </a:extLst>
            </p:cNvPr>
            <p:cNvSpPr txBox="1">
              <a:spLocks/>
            </p:cNvSpPr>
            <p:nvPr/>
          </p:nvSpPr>
          <p:spPr>
            <a:xfrm>
              <a:off x="5517085" y="2598014"/>
              <a:ext cx="1289011" cy="2611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Inflation Rebounded</a:t>
              </a:r>
            </a:p>
          </p:txBody>
        </p:sp>
      </p:grpSp>
      <p:sp>
        <p:nvSpPr>
          <p:cNvPr id="24" name="Title 1">
            <a:extLst>
              <a:ext uri="{FF2B5EF4-FFF2-40B4-BE49-F238E27FC236}">
                <a16:creationId xmlns:a16="http://schemas.microsoft.com/office/drawing/2014/main" id="{DF37A675-5705-7EB1-1199-97E11FD1A8C5}"/>
              </a:ext>
            </a:extLst>
          </p:cNvPr>
          <p:cNvSpPr txBox="1">
            <a:spLocks/>
          </p:cNvSpPr>
          <p:nvPr/>
        </p:nvSpPr>
        <p:spPr>
          <a:xfrm>
            <a:off x="7272247" y="2311769"/>
            <a:ext cx="4823613" cy="442674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Urban basic food inflation exhibited a significant volatility between May 2022 and May 2023.</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Inflation reached its highest monthly increase of 1.31% in Jun 2022 before falling sharply to -1.04% in Dec 2022.</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Following the decline inflation gradually recovered and reached 0.86% in May 2023.</a:t>
            </a:r>
          </a:p>
        </p:txBody>
      </p:sp>
    </p:spTree>
    <p:extLst>
      <p:ext uri="{BB962C8B-B14F-4D97-AF65-F5344CB8AC3E}">
        <p14:creationId xmlns:p14="http://schemas.microsoft.com/office/powerpoint/2010/main" val="2788948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81CBA-CDEA-D427-D086-C1B161884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9C19F-9697-EC1A-5858-61C52D4D3BEE}"/>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Food Inflation Overview: Urban Sector</a:t>
            </a:r>
          </a:p>
        </p:txBody>
      </p:sp>
      <p:sp>
        <p:nvSpPr>
          <p:cNvPr id="5" name="Content Placeholder 2">
            <a:extLst>
              <a:ext uri="{FF2B5EF4-FFF2-40B4-BE49-F238E27FC236}">
                <a16:creationId xmlns:a16="http://schemas.microsoft.com/office/drawing/2014/main" id="{146E9052-5A6F-67A0-8F43-BAC9CBCB1814}"/>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Other Food &amp; Intoxicants:</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Table 9">
            <a:extLst>
              <a:ext uri="{FF2B5EF4-FFF2-40B4-BE49-F238E27FC236}">
                <a16:creationId xmlns:a16="http://schemas.microsoft.com/office/drawing/2014/main" id="{50F8C22B-FBA4-7EF6-C406-5462CFEAAD87}"/>
              </a:ext>
            </a:extLst>
          </p:cNvPr>
          <p:cNvGraphicFramePr>
            <a:graphicFrameLocks noGrp="1"/>
          </p:cNvGraphicFramePr>
          <p:nvPr>
            <p:extLst>
              <p:ext uri="{D42A27DB-BD31-4B8C-83A1-F6EECF244321}">
                <p14:modId xmlns:p14="http://schemas.microsoft.com/office/powerpoint/2010/main" val="2543384392"/>
              </p:ext>
            </p:extLst>
          </p:nvPr>
        </p:nvGraphicFramePr>
        <p:xfrm>
          <a:off x="92051" y="1130839"/>
          <a:ext cx="12003810" cy="1112520"/>
        </p:xfrm>
        <a:graphic>
          <a:graphicData uri="http://schemas.openxmlformats.org/drawingml/2006/table">
            <a:tbl>
              <a:tblPr firstRow="1" bandRow="1">
                <a:tableStyleId>{5940675A-B579-460E-94D1-54222C63F5DA}</a:tableStyleId>
              </a:tblPr>
              <a:tblGrid>
                <a:gridCol w="1141468">
                  <a:extLst>
                    <a:ext uri="{9D8B030D-6E8A-4147-A177-3AD203B41FA5}">
                      <a16:colId xmlns:a16="http://schemas.microsoft.com/office/drawing/2014/main" val="61627544"/>
                    </a:ext>
                  </a:extLst>
                </a:gridCol>
                <a:gridCol w="1159877">
                  <a:extLst>
                    <a:ext uri="{9D8B030D-6E8A-4147-A177-3AD203B41FA5}">
                      <a16:colId xmlns:a16="http://schemas.microsoft.com/office/drawing/2014/main" val="3287431599"/>
                    </a:ext>
                  </a:extLst>
                </a:gridCol>
                <a:gridCol w="662787">
                  <a:extLst>
                    <a:ext uri="{9D8B030D-6E8A-4147-A177-3AD203B41FA5}">
                      <a16:colId xmlns:a16="http://schemas.microsoft.com/office/drawing/2014/main" val="3443064928"/>
                    </a:ext>
                  </a:extLst>
                </a:gridCol>
                <a:gridCol w="681197">
                  <a:extLst>
                    <a:ext uri="{9D8B030D-6E8A-4147-A177-3AD203B41FA5}">
                      <a16:colId xmlns:a16="http://schemas.microsoft.com/office/drawing/2014/main" val="3879713513"/>
                    </a:ext>
                  </a:extLst>
                </a:gridCol>
                <a:gridCol w="840757">
                  <a:extLst>
                    <a:ext uri="{9D8B030D-6E8A-4147-A177-3AD203B41FA5}">
                      <a16:colId xmlns:a16="http://schemas.microsoft.com/office/drawing/2014/main" val="601547321"/>
                    </a:ext>
                  </a:extLst>
                </a:gridCol>
                <a:gridCol w="658404">
                  <a:extLst>
                    <a:ext uri="{9D8B030D-6E8A-4147-A177-3AD203B41FA5}">
                      <a16:colId xmlns:a16="http://schemas.microsoft.com/office/drawing/2014/main" val="4067788497"/>
                    </a:ext>
                  </a:extLst>
                </a:gridCol>
                <a:gridCol w="857415">
                  <a:extLst>
                    <a:ext uri="{9D8B030D-6E8A-4147-A177-3AD203B41FA5}">
                      <a16:colId xmlns:a16="http://schemas.microsoft.com/office/drawing/2014/main" val="2484118876"/>
                    </a:ext>
                  </a:extLst>
                </a:gridCol>
                <a:gridCol w="857415">
                  <a:extLst>
                    <a:ext uri="{9D8B030D-6E8A-4147-A177-3AD203B41FA5}">
                      <a16:colId xmlns:a16="http://schemas.microsoft.com/office/drawing/2014/main" val="3279240359"/>
                    </a:ext>
                  </a:extLst>
                </a:gridCol>
                <a:gridCol w="857415">
                  <a:extLst>
                    <a:ext uri="{9D8B030D-6E8A-4147-A177-3AD203B41FA5}">
                      <a16:colId xmlns:a16="http://schemas.microsoft.com/office/drawing/2014/main" val="1113863754"/>
                    </a:ext>
                  </a:extLst>
                </a:gridCol>
                <a:gridCol w="857415">
                  <a:extLst>
                    <a:ext uri="{9D8B030D-6E8A-4147-A177-3AD203B41FA5}">
                      <a16:colId xmlns:a16="http://schemas.microsoft.com/office/drawing/2014/main" val="1245729143"/>
                    </a:ext>
                  </a:extLst>
                </a:gridCol>
                <a:gridCol w="857415">
                  <a:extLst>
                    <a:ext uri="{9D8B030D-6E8A-4147-A177-3AD203B41FA5}">
                      <a16:colId xmlns:a16="http://schemas.microsoft.com/office/drawing/2014/main" val="191567201"/>
                    </a:ext>
                  </a:extLst>
                </a:gridCol>
                <a:gridCol w="857415">
                  <a:extLst>
                    <a:ext uri="{9D8B030D-6E8A-4147-A177-3AD203B41FA5}">
                      <a16:colId xmlns:a16="http://schemas.microsoft.com/office/drawing/2014/main" val="493854987"/>
                    </a:ext>
                  </a:extLst>
                </a:gridCol>
                <a:gridCol w="857415">
                  <a:extLst>
                    <a:ext uri="{9D8B030D-6E8A-4147-A177-3AD203B41FA5}">
                      <a16:colId xmlns:a16="http://schemas.microsoft.com/office/drawing/2014/main" val="1683358866"/>
                    </a:ext>
                  </a:extLst>
                </a:gridCol>
                <a:gridCol w="857415">
                  <a:extLst>
                    <a:ext uri="{9D8B030D-6E8A-4147-A177-3AD203B41FA5}">
                      <a16:colId xmlns:a16="http://schemas.microsoft.com/office/drawing/2014/main" val="3910608619"/>
                    </a:ext>
                  </a:extLst>
                </a:gridCol>
              </a:tblGrid>
              <a:tr h="370840">
                <a:tc>
                  <a:txBody>
                    <a:bodyPr/>
                    <a:lstStyle/>
                    <a:p>
                      <a:r>
                        <a:rPr lang="en-US" sz="1100" b="0" u="none" strike="noStrike" kern="1200" dirty="0">
                          <a:solidFill>
                            <a:srgbClr val="000000"/>
                          </a:solidFill>
                          <a:effectLst/>
                        </a:rPr>
                        <a:t>Year</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May-22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Jun-22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Jul-22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Aug-22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Sep-22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Oct-22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Nov-22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Dec-22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Jan-23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Feb-23</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Mar-23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Apr-23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May-23</a:t>
                      </a:r>
                    </a:p>
                  </a:txBody>
                  <a:tcPr marL="0" marR="0" marT="0" marB="0" anchor="ctr"/>
                </a:tc>
                <a:extLst>
                  <a:ext uri="{0D108BD9-81ED-4DB2-BD59-A6C34878D82A}">
                    <a16:rowId xmlns:a16="http://schemas.microsoft.com/office/drawing/2014/main" val="3881085019"/>
                  </a:ext>
                </a:extLst>
              </a:tr>
              <a:tr h="370840">
                <a:tc rowSpan="2">
                  <a:txBody>
                    <a:bodyPr/>
                    <a:lstStyle/>
                    <a:p>
                      <a:pPr algn="ctr" fontAlgn="ctr">
                        <a:buNone/>
                      </a:pPr>
                      <a:r>
                        <a:rPr lang="en-US" sz="1100" b="0" u="none" strike="noStrike" dirty="0">
                          <a:solidFill>
                            <a:srgbClr val="000000"/>
                          </a:solidFill>
                          <a:effectLst/>
                        </a:rPr>
                        <a:t>Other Food and Intoxicants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840</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844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847</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851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856</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860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862</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871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875</a:t>
                      </a:r>
                    </a:p>
                  </a:txBody>
                  <a:tcPr marL="0" marR="0" marT="0" marB="0" anchor="ctr"/>
                </a:tc>
                <a:extLst>
                  <a:ext uri="{0D108BD9-81ED-4DB2-BD59-A6C34878D82A}">
                    <a16:rowId xmlns:a16="http://schemas.microsoft.com/office/drawing/2014/main" val="506688674"/>
                  </a:ext>
                </a:extLst>
              </a:tr>
              <a:tr h="370840">
                <a:tc vMerge="1">
                  <a:txBody>
                    <a:bodyPr/>
                    <a:lstStyle/>
                    <a:p>
                      <a:endParaRPr lang="en-US"/>
                    </a:p>
                  </a:txBody>
                  <a:tcPr/>
                </a:tc>
                <a:tc>
                  <a:txBody>
                    <a:bodyPr/>
                    <a:lstStyle/>
                    <a:p>
                      <a:pPr marL="0" algn="ctr" defTabSz="914400" rtl="0" eaLnBrk="1" fontAlgn="b" latinLnBrk="0" hangingPunct="1">
                        <a:buNone/>
                      </a:pPr>
                      <a:r>
                        <a:rPr lang="en-US" sz="1100" b="0" u="none" strike="noStrike" kern="1200" dirty="0">
                          <a:solidFill>
                            <a:srgbClr val="000000"/>
                          </a:solidFill>
                          <a:effectLst/>
                        </a:rPr>
                        <a:t>Inflation M-O-M</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0.57%</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0.31%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0.44%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0.63%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0.44%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-0.01%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-0.10%</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0.34%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0.58%</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0.01%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0.50%</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0.45%</a:t>
                      </a:r>
                    </a:p>
                  </a:txBody>
                  <a:tcPr marL="0" marR="0" marT="0" marB="0" anchor="ctr"/>
                </a:tc>
                <a:extLst>
                  <a:ext uri="{0D108BD9-81ED-4DB2-BD59-A6C34878D82A}">
                    <a16:rowId xmlns:a16="http://schemas.microsoft.com/office/drawing/2014/main" val="4017841612"/>
                  </a:ext>
                </a:extLst>
              </a:tr>
            </a:tbl>
          </a:graphicData>
        </a:graphic>
      </p:graphicFrame>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4959A099-A7D2-D1C1-31B0-EDA69A5BF08E}"/>
                  </a:ext>
                </a:extLst>
              </p:cNvPr>
              <p:cNvGraphicFramePr/>
              <p:nvPr>
                <p:extLst>
                  <p:ext uri="{D42A27DB-BD31-4B8C-83A1-F6EECF244321}">
                    <p14:modId xmlns:p14="http://schemas.microsoft.com/office/powerpoint/2010/main" val="3558673684"/>
                  </p:ext>
                </p:extLst>
              </p:nvPr>
            </p:nvGraphicFramePr>
            <p:xfrm>
              <a:off x="92051" y="2313616"/>
              <a:ext cx="6861071" cy="4461717"/>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3" name="Chart 2">
                <a:extLst>
                  <a:ext uri="{FF2B5EF4-FFF2-40B4-BE49-F238E27FC236}">
                    <a16:creationId xmlns:a16="http://schemas.microsoft.com/office/drawing/2014/main" id="{4959A099-A7D2-D1C1-31B0-EDA69A5BF08E}"/>
                  </a:ext>
                </a:extLst>
              </p:cNvPr>
              <p:cNvPicPr>
                <a:picLocks noGrp="1" noRot="1" noChangeAspect="1" noMove="1" noResize="1" noEditPoints="1" noAdjustHandles="1" noChangeArrowheads="1" noChangeShapeType="1"/>
              </p:cNvPicPr>
              <p:nvPr/>
            </p:nvPicPr>
            <p:blipFill>
              <a:blip r:embed="rId3"/>
              <a:stretch>
                <a:fillRect/>
              </a:stretch>
            </p:blipFill>
            <p:spPr>
              <a:xfrm>
                <a:off x="92051" y="2313616"/>
                <a:ext cx="6861071" cy="4461717"/>
              </a:xfrm>
              <a:prstGeom prst="rect">
                <a:avLst/>
              </a:prstGeom>
            </p:spPr>
          </p:pic>
        </mc:Fallback>
      </mc:AlternateContent>
      <p:sp>
        <p:nvSpPr>
          <p:cNvPr id="6" name="Title 1">
            <a:extLst>
              <a:ext uri="{FF2B5EF4-FFF2-40B4-BE49-F238E27FC236}">
                <a16:creationId xmlns:a16="http://schemas.microsoft.com/office/drawing/2014/main" id="{EE984AFF-70C3-6475-37A7-9D43DBB92DDF}"/>
              </a:ext>
            </a:extLst>
          </p:cNvPr>
          <p:cNvSpPr txBox="1">
            <a:spLocks/>
          </p:cNvSpPr>
          <p:nvPr/>
        </p:nvSpPr>
        <p:spPr>
          <a:xfrm>
            <a:off x="1736744" y="3828148"/>
            <a:ext cx="1001305" cy="484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Highest M-O-M Food Inflation.</a:t>
            </a:r>
          </a:p>
        </p:txBody>
      </p:sp>
      <p:sp>
        <p:nvSpPr>
          <p:cNvPr id="7" name="Arrow: Pentagon 6">
            <a:extLst>
              <a:ext uri="{FF2B5EF4-FFF2-40B4-BE49-F238E27FC236}">
                <a16:creationId xmlns:a16="http://schemas.microsoft.com/office/drawing/2014/main" id="{843730A9-19EA-0199-F1A0-56539646A880}"/>
              </a:ext>
            </a:extLst>
          </p:cNvPr>
          <p:cNvSpPr/>
          <p:nvPr/>
        </p:nvSpPr>
        <p:spPr>
          <a:xfrm rot="5400000" flipV="1">
            <a:off x="1956960" y="4441456"/>
            <a:ext cx="334554" cy="83524"/>
          </a:xfrm>
          <a:prstGeom prst="homePlate">
            <a:avLst>
              <a:gd name="adj" fmla="val 51266"/>
            </a:avLst>
          </a:prstGeom>
          <a:solidFill>
            <a:srgbClr val="548235"/>
          </a:solid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Pentagon 7">
            <a:extLst>
              <a:ext uri="{FF2B5EF4-FFF2-40B4-BE49-F238E27FC236}">
                <a16:creationId xmlns:a16="http://schemas.microsoft.com/office/drawing/2014/main" id="{76F98D8B-3FC5-ABFB-547B-D191EA8C9AF3}"/>
              </a:ext>
            </a:extLst>
          </p:cNvPr>
          <p:cNvSpPr/>
          <p:nvPr/>
        </p:nvSpPr>
        <p:spPr>
          <a:xfrm rot="16200000">
            <a:off x="3637932" y="4843777"/>
            <a:ext cx="334554" cy="83524"/>
          </a:xfrm>
          <a:prstGeom prst="homePlate">
            <a:avLst>
              <a:gd name="adj" fmla="val 51266"/>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0838D4-3271-D777-66AF-5C5B9A513531}"/>
              </a:ext>
            </a:extLst>
          </p:cNvPr>
          <p:cNvSpPr txBox="1">
            <a:spLocks/>
          </p:cNvSpPr>
          <p:nvPr/>
        </p:nvSpPr>
        <p:spPr>
          <a:xfrm>
            <a:off x="3394605" y="5048939"/>
            <a:ext cx="945416" cy="419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Lowest M-O-M Food Inflation</a:t>
            </a:r>
          </a:p>
        </p:txBody>
      </p:sp>
      <p:sp>
        <p:nvSpPr>
          <p:cNvPr id="11" name="Arrow: Pentagon 10">
            <a:extLst>
              <a:ext uri="{FF2B5EF4-FFF2-40B4-BE49-F238E27FC236}">
                <a16:creationId xmlns:a16="http://schemas.microsoft.com/office/drawing/2014/main" id="{DD8928ED-CA2E-7A54-BA76-D7E32BF3C540}"/>
              </a:ext>
            </a:extLst>
          </p:cNvPr>
          <p:cNvSpPr/>
          <p:nvPr/>
        </p:nvSpPr>
        <p:spPr>
          <a:xfrm rot="5400000" flipV="1">
            <a:off x="4204452" y="3925303"/>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Arrow: Pentagon 11">
            <a:extLst>
              <a:ext uri="{FF2B5EF4-FFF2-40B4-BE49-F238E27FC236}">
                <a16:creationId xmlns:a16="http://schemas.microsoft.com/office/drawing/2014/main" id="{2F29DAC6-2322-D7CB-026E-7D38683A9400}"/>
              </a:ext>
            </a:extLst>
          </p:cNvPr>
          <p:cNvSpPr/>
          <p:nvPr/>
        </p:nvSpPr>
        <p:spPr>
          <a:xfrm rot="5400000" flipV="1">
            <a:off x="4780300" y="3421271"/>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row: Pentagon 13">
            <a:extLst>
              <a:ext uri="{FF2B5EF4-FFF2-40B4-BE49-F238E27FC236}">
                <a16:creationId xmlns:a16="http://schemas.microsoft.com/office/drawing/2014/main" id="{92A80776-A3BF-7142-4BFD-75C7A97FA6BE}"/>
              </a:ext>
            </a:extLst>
          </p:cNvPr>
          <p:cNvSpPr/>
          <p:nvPr/>
        </p:nvSpPr>
        <p:spPr>
          <a:xfrm rot="5400000" flipV="1">
            <a:off x="5877009" y="2966117"/>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row: Pentagon 14">
            <a:extLst>
              <a:ext uri="{FF2B5EF4-FFF2-40B4-BE49-F238E27FC236}">
                <a16:creationId xmlns:a16="http://schemas.microsoft.com/office/drawing/2014/main" id="{192516F9-50E3-5B3B-309C-08717E06AB6E}"/>
              </a:ext>
            </a:extLst>
          </p:cNvPr>
          <p:cNvSpPr/>
          <p:nvPr/>
        </p:nvSpPr>
        <p:spPr>
          <a:xfrm rot="5400000" flipV="1">
            <a:off x="6473513" y="2583307"/>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28C76764-F5AB-D0D9-8AEE-F6FF12881C46}"/>
              </a:ext>
            </a:extLst>
          </p:cNvPr>
          <p:cNvSpPr/>
          <p:nvPr/>
        </p:nvSpPr>
        <p:spPr>
          <a:xfrm>
            <a:off x="4039884" y="2314705"/>
            <a:ext cx="2834466" cy="2275706"/>
          </a:xfrm>
          <a:custGeom>
            <a:avLst/>
            <a:gdLst>
              <a:gd name="csX0" fmla="*/ 0 w 2827322"/>
              <a:gd name="csY0" fmla="*/ 0 h 2032819"/>
              <a:gd name="csX1" fmla="*/ 2827322 w 2827322"/>
              <a:gd name="csY1" fmla="*/ 0 h 2032819"/>
              <a:gd name="csX2" fmla="*/ 2827322 w 2827322"/>
              <a:gd name="csY2" fmla="*/ 2032819 h 2032819"/>
              <a:gd name="csX3" fmla="*/ 0 w 2827322"/>
              <a:gd name="csY3" fmla="*/ 2032819 h 2032819"/>
              <a:gd name="csX4" fmla="*/ 0 w 2827322"/>
              <a:gd name="csY4" fmla="*/ 0 h 2032819"/>
              <a:gd name="csX0" fmla="*/ 0 w 2827322"/>
              <a:gd name="csY0" fmla="*/ 878681 h 2032819"/>
              <a:gd name="csX1" fmla="*/ 2827322 w 2827322"/>
              <a:gd name="csY1" fmla="*/ 0 h 2032819"/>
              <a:gd name="csX2" fmla="*/ 2827322 w 2827322"/>
              <a:gd name="csY2" fmla="*/ 2032819 h 2032819"/>
              <a:gd name="csX3" fmla="*/ 0 w 2827322"/>
              <a:gd name="csY3" fmla="*/ 2032819 h 2032819"/>
              <a:gd name="csX4" fmla="*/ 0 w 2827322"/>
              <a:gd name="csY4" fmla="*/ 878681 h 2032819"/>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Lst>
            <a:ahLst/>
            <a:cxnLst>
              <a:cxn ang="0">
                <a:pos x="csX0" y="csY0"/>
              </a:cxn>
              <a:cxn ang="0">
                <a:pos x="csX1" y="csY1"/>
              </a:cxn>
              <a:cxn ang="0">
                <a:pos x="csX2" y="csY2"/>
              </a:cxn>
              <a:cxn ang="0">
                <a:pos x="csX3" y="csY3"/>
              </a:cxn>
              <a:cxn ang="0">
                <a:pos x="csX4" y="csY4"/>
              </a:cxn>
            </a:cxnLst>
            <a:rect l="l" t="t" r="r" b="b"/>
            <a:pathLst>
              <a:path w="2834466" h="2275706">
                <a:moveTo>
                  <a:pt x="0" y="1121568"/>
                </a:moveTo>
                <a:lnTo>
                  <a:pt x="2834466" y="0"/>
                </a:lnTo>
                <a:cubicBezTo>
                  <a:pt x="2832085" y="758569"/>
                  <a:pt x="2829703" y="1517137"/>
                  <a:pt x="2827322" y="2275706"/>
                </a:cubicBezTo>
                <a:lnTo>
                  <a:pt x="0" y="2275706"/>
                </a:lnTo>
                <a:lnTo>
                  <a:pt x="0" y="1121568"/>
                </a:lnTo>
                <a:close/>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Pentagon 24">
            <a:extLst>
              <a:ext uri="{FF2B5EF4-FFF2-40B4-BE49-F238E27FC236}">
                <a16:creationId xmlns:a16="http://schemas.microsoft.com/office/drawing/2014/main" id="{EEE655BA-5B4B-A969-2BA2-0F0C1C0D88CA}"/>
              </a:ext>
            </a:extLst>
          </p:cNvPr>
          <p:cNvSpPr/>
          <p:nvPr/>
        </p:nvSpPr>
        <p:spPr>
          <a:xfrm rot="5400000" flipV="1">
            <a:off x="5359963" y="3396692"/>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itle 1">
            <a:extLst>
              <a:ext uri="{FF2B5EF4-FFF2-40B4-BE49-F238E27FC236}">
                <a16:creationId xmlns:a16="http://schemas.microsoft.com/office/drawing/2014/main" id="{3BFB7EED-3664-10BF-5137-FA9E76A026AA}"/>
              </a:ext>
            </a:extLst>
          </p:cNvPr>
          <p:cNvSpPr txBox="1">
            <a:spLocks/>
          </p:cNvSpPr>
          <p:nvPr/>
        </p:nvSpPr>
        <p:spPr>
          <a:xfrm>
            <a:off x="5306905" y="3995421"/>
            <a:ext cx="1340592" cy="440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Inflation Showing a Positive Trend</a:t>
            </a:r>
          </a:p>
        </p:txBody>
      </p:sp>
      <p:sp>
        <p:nvSpPr>
          <p:cNvPr id="27" name="Title 1">
            <a:extLst>
              <a:ext uri="{FF2B5EF4-FFF2-40B4-BE49-F238E27FC236}">
                <a16:creationId xmlns:a16="http://schemas.microsoft.com/office/drawing/2014/main" id="{36AB6BE7-B9C6-AEB2-020C-99818D5AA9C4}"/>
              </a:ext>
            </a:extLst>
          </p:cNvPr>
          <p:cNvSpPr txBox="1">
            <a:spLocks/>
          </p:cNvSpPr>
          <p:nvPr/>
        </p:nvSpPr>
        <p:spPr>
          <a:xfrm>
            <a:off x="6996087" y="2311769"/>
            <a:ext cx="5099774" cy="442674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Urban other food &amp; intoxicants inflation remained relatively stable throughout the analysis period. The category recorded its highest monthly inflation of 0.63 in Sep 2022 while the lowest inflation of -0.10% was observed in Dec 2022.</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After the brief decline in Dec 2022 inflation remained positive for five consecutive months from Jan 2023 to May 2023.</a:t>
            </a:r>
          </a:p>
        </p:txBody>
      </p:sp>
    </p:spTree>
    <p:extLst>
      <p:ext uri="{BB962C8B-B14F-4D97-AF65-F5344CB8AC3E}">
        <p14:creationId xmlns:p14="http://schemas.microsoft.com/office/powerpoint/2010/main" val="156461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7D932-4121-0385-1559-5D8BA9A9AC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61366-D0A4-08D5-20FE-67C08D740D6B}"/>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Food Inflation Overview: Rural + Urban Sector</a:t>
            </a:r>
          </a:p>
        </p:txBody>
      </p:sp>
      <p:sp>
        <p:nvSpPr>
          <p:cNvPr id="5" name="Content Placeholder 2">
            <a:extLst>
              <a:ext uri="{FF2B5EF4-FFF2-40B4-BE49-F238E27FC236}">
                <a16:creationId xmlns:a16="http://schemas.microsoft.com/office/drawing/2014/main" id="{F6ABF8A2-2A07-0298-6F59-F3D8ACF62D8D}"/>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Basic Food Items :</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Table 9">
            <a:extLst>
              <a:ext uri="{FF2B5EF4-FFF2-40B4-BE49-F238E27FC236}">
                <a16:creationId xmlns:a16="http://schemas.microsoft.com/office/drawing/2014/main" id="{10AC7A36-BD57-F135-3E2D-38077CAE801F}"/>
              </a:ext>
            </a:extLst>
          </p:cNvPr>
          <p:cNvGraphicFramePr>
            <a:graphicFrameLocks noGrp="1"/>
          </p:cNvGraphicFramePr>
          <p:nvPr>
            <p:extLst>
              <p:ext uri="{D42A27DB-BD31-4B8C-83A1-F6EECF244321}">
                <p14:modId xmlns:p14="http://schemas.microsoft.com/office/powerpoint/2010/main" val="608349246"/>
              </p:ext>
            </p:extLst>
          </p:nvPr>
        </p:nvGraphicFramePr>
        <p:xfrm>
          <a:off x="92051" y="1130839"/>
          <a:ext cx="12003810" cy="1112520"/>
        </p:xfrm>
        <a:graphic>
          <a:graphicData uri="http://schemas.openxmlformats.org/drawingml/2006/table">
            <a:tbl>
              <a:tblPr firstRow="1" bandRow="1">
                <a:tableStyleId>{5940675A-B579-460E-94D1-54222C63F5DA}</a:tableStyleId>
              </a:tblPr>
              <a:tblGrid>
                <a:gridCol w="1141468">
                  <a:extLst>
                    <a:ext uri="{9D8B030D-6E8A-4147-A177-3AD203B41FA5}">
                      <a16:colId xmlns:a16="http://schemas.microsoft.com/office/drawing/2014/main" val="61627544"/>
                    </a:ext>
                  </a:extLst>
                </a:gridCol>
                <a:gridCol w="1159877">
                  <a:extLst>
                    <a:ext uri="{9D8B030D-6E8A-4147-A177-3AD203B41FA5}">
                      <a16:colId xmlns:a16="http://schemas.microsoft.com/office/drawing/2014/main" val="3287431599"/>
                    </a:ext>
                  </a:extLst>
                </a:gridCol>
                <a:gridCol w="662787">
                  <a:extLst>
                    <a:ext uri="{9D8B030D-6E8A-4147-A177-3AD203B41FA5}">
                      <a16:colId xmlns:a16="http://schemas.microsoft.com/office/drawing/2014/main" val="3443064928"/>
                    </a:ext>
                  </a:extLst>
                </a:gridCol>
                <a:gridCol w="681197">
                  <a:extLst>
                    <a:ext uri="{9D8B030D-6E8A-4147-A177-3AD203B41FA5}">
                      <a16:colId xmlns:a16="http://schemas.microsoft.com/office/drawing/2014/main" val="3879713513"/>
                    </a:ext>
                  </a:extLst>
                </a:gridCol>
                <a:gridCol w="840757">
                  <a:extLst>
                    <a:ext uri="{9D8B030D-6E8A-4147-A177-3AD203B41FA5}">
                      <a16:colId xmlns:a16="http://schemas.microsoft.com/office/drawing/2014/main" val="601547321"/>
                    </a:ext>
                  </a:extLst>
                </a:gridCol>
                <a:gridCol w="658404">
                  <a:extLst>
                    <a:ext uri="{9D8B030D-6E8A-4147-A177-3AD203B41FA5}">
                      <a16:colId xmlns:a16="http://schemas.microsoft.com/office/drawing/2014/main" val="4067788497"/>
                    </a:ext>
                  </a:extLst>
                </a:gridCol>
                <a:gridCol w="857415">
                  <a:extLst>
                    <a:ext uri="{9D8B030D-6E8A-4147-A177-3AD203B41FA5}">
                      <a16:colId xmlns:a16="http://schemas.microsoft.com/office/drawing/2014/main" val="2484118876"/>
                    </a:ext>
                  </a:extLst>
                </a:gridCol>
                <a:gridCol w="857415">
                  <a:extLst>
                    <a:ext uri="{9D8B030D-6E8A-4147-A177-3AD203B41FA5}">
                      <a16:colId xmlns:a16="http://schemas.microsoft.com/office/drawing/2014/main" val="3279240359"/>
                    </a:ext>
                  </a:extLst>
                </a:gridCol>
                <a:gridCol w="857415">
                  <a:extLst>
                    <a:ext uri="{9D8B030D-6E8A-4147-A177-3AD203B41FA5}">
                      <a16:colId xmlns:a16="http://schemas.microsoft.com/office/drawing/2014/main" val="1113863754"/>
                    </a:ext>
                  </a:extLst>
                </a:gridCol>
                <a:gridCol w="857415">
                  <a:extLst>
                    <a:ext uri="{9D8B030D-6E8A-4147-A177-3AD203B41FA5}">
                      <a16:colId xmlns:a16="http://schemas.microsoft.com/office/drawing/2014/main" val="1245729143"/>
                    </a:ext>
                  </a:extLst>
                </a:gridCol>
                <a:gridCol w="857415">
                  <a:extLst>
                    <a:ext uri="{9D8B030D-6E8A-4147-A177-3AD203B41FA5}">
                      <a16:colId xmlns:a16="http://schemas.microsoft.com/office/drawing/2014/main" val="191567201"/>
                    </a:ext>
                  </a:extLst>
                </a:gridCol>
                <a:gridCol w="857415">
                  <a:extLst>
                    <a:ext uri="{9D8B030D-6E8A-4147-A177-3AD203B41FA5}">
                      <a16:colId xmlns:a16="http://schemas.microsoft.com/office/drawing/2014/main" val="493854987"/>
                    </a:ext>
                  </a:extLst>
                </a:gridCol>
                <a:gridCol w="857415">
                  <a:extLst>
                    <a:ext uri="{9D8B030D-6E8A-4147-A177-3AD203B41FA5}">
                      <a16:colId xmlns:a16="http://schemas.microsoft.com/office/drawing/2014/main" val="1683358866"/>
                    </a:ext>
                  </a:extLst>
                </a:gridCol>
                <a:gridCol w="857415">
                  <a:extLst>
                    <a:ext uri="{9D8B030D-6E8A-4147-A177-3AD203B41FA5}">
                      <a16:colId xmlns:a16="http://schemas.microsoft.com/office/drawing/2014/main" val="3910608619"/>
                    </a:ext>
                  </a:extLst>
                </a:gridCol>
              </a:tblGrid>
              <a:tr h="370840">
                <a:tc>
                  <a:txBody>
                    <a:bodyPr/>
                    <a:lstStyle/>
                    <a:p>
                      <a:r>
                        <a:rPr lang="en-US" sz="1100" b="0" u="none" strike="noStrike" kern="1200" dirty="0">
                          <a:solidFill>
                            <a:srgbClr val="000000"/>
                          </a:solidFill>
                          <a:effectLst/>
                        </a:rPr>
                        <a:t>Year</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May-22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Jun-22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Jul-22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Aug-22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Sep-22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Oct-22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Nov-22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Dec-22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Jan-23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Feb-23</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Mar-23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Apr-23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May-23</a:t>
                      </a:r>
                    </a:p>
                  </a:txBody>
                  <a:tcPr marL="0" marR="0" marT="0" marB="0" anchor="ctr"/>
                </a:tc>
                <a:extLst>
                  <a:ext uri="{0D108BD9-81ED-4DB2-BD59-A6C34878D82A}">
                    <a16:rowId xmlns:a16="http://schemas.microsoft.com/office/drawing/2014/main" val="3881085019"/>
                  </a:ext>
                </a:extLst>
              </a:tr>
              <a:tr h="370840">
                <a:tc rowSpan="2">
                  <a:txBody>
                    <a:bodyPr/>
                    <a:lstStyle/>
                    <a:p>
                      <a:pPr algn="ctr" fontAlgn="ctr">
                        <a:buNone/>
                      </a:pPr>
                      <a:r>
                        <a:rPr lang="en-US" sz="1100" b="0" u="none" strike="noStrike" dirty="0">
                          <a:solidFill>
                            <a:srgbClr val="000000"/>
                          </a:solidFill>
                          <a:effectLst/>
                        </a:rPr>
                        <a:t>Basic Food Items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1596</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1615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1618</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1617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1625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1638</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1637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1624</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1632</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1617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1617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1624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1638</a:t>
                      </a:r>
                    </a:p>
                  </a:txBody>
                  <a:tcPr marL="0" marR="0" marT="0" marB="0" anchor="ctr"/>
                </a:tc>
                <a:extLst>
                  <a:ext uri="{0D108BD9-81ED-4DB2-BD59-A6C34878D82A}">
                    <a16:rowId xmlns:a16="http://schemas.microsoft.com/office/drawing/2014/main" val="506688674"/>
                  </a:ext>
                </a:extLst>
              </a:tr>
              <a:tr h="370840">
                <a:tc vMerge="1">
                  <a:txBody>
                    <a:bodyPr/>
                    <a:lstStyle/>
                    <a:p>
                      <a:endParaRPr lang="en-US"/>
                    </a:p>
                  </a:txBody>
                  <a:tcPr/>
                </a:tc>
                <a:tc>
                  <a:txBody>
                    <a:bodyPr/>
                    <a:lstStyle/>
                    <a:p>
                      <a:pPr marL="0" algn="ctr" defTabSz="914400" rtl="0" eaLnBrk="1" fontAlgn="b" latinLnBrk="0" hangingPunct="1">
                        <a:buNone/>
                      </a:pPr>
                      <a:r>
                        <a:rPr lang="en-US" sz="1100" b="0" u="none" strike="noStrike" kern="1200" dirty="0">
                          <a:solidFill>
                            <a:srgbClr val="000000"/>
                          </a:solidFill>
                          <a:effectLst/>
                        </a:rPr>
                        <a:t>Inflation M-O-M</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1.19%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0.15%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-0.05%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0.48%</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0.79%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-0.07%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-0.74%</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0.49%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-0.95%</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0.01%</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0.44%</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0.83%</a:t>
                      </a:r>
                    </a:p>
                  </a:txBody>
                  <a:tcPr marL="0" marR="0" marT="0" marB="0" anchor="ctr"/>
                </a:tc>
                <a:extLst>
                  <a:ext uri="{0D108BD9-81ED-4DB2-BD59-A6C34878D82A}">
                    <a16:rowId xmlns:a16="http://schemas.microsoft.com/office/drawing/2014/main" val="4017841612"/>
                  </a:ext>
                </a:extLst>
              </a:tr>
            </a:tbl>
          </a:graphicData>
        </a:graphic>
      </p:graphicFrame>
      <p:grpSp>
        <p:nvGrpSpPr>
          <p:cNvPr id="22" name="Group 21">
            <a:extLst>
              <a:ext uri="{FF2B5EF4-FFF2-40B4-BE49-F238E27FC236}">
                <a16:creationId xmlns:a16="http://schemas.microsoft.com/office/drawing/2014/main" id="{18457469-2E81-8EC9-4063-B0E4FBB40F46}"/>
              </a:ext>
            </a:extLst>
          </p:cNvPr>
          <p:cNvGrpSpPr/>
          <p:nvPr/>
        </p:nvGrpSpPr>
        <p:grpSpPr>
          <a:xfrm>
            <a:off x="49087" y="2344731"/>
            <a:ext cx="6591053" cy="4375370"/>
            <a:chOff x="49087" y="2344731"/>
            <a:chExt cx="6046914" cy="4375370"/>
          </a:xfrm>
        </p:grpSpPr>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F7375E6B-7D05-A5CE-3D8F-2430ECD0A77D}"/>
                    </a:ext>
                  </a:extLst>
                </p:cNvPr>
                <p:cNvGraphicFramePr/>
                <p:nvPr>
                  <p:extLst>
                    <p:ext uri="{D42A27DB-BD31-4B8C-83A1-F6EECF244321}">
                      <p14:modId xmlns:p14="http://schemas.microsoft.com/office/powerpoint/2010/main" val="2404152102"/>
                    </p:ext>
                  </p:extLst>
                </p:nvPr>
              </p:nvGraphicFramePr>
              <p:xfrm>
                <a:off x="92051" y="2344731"/>
                <a:ext cx="6003950" cy="437537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F7375E6B-7D05-A5CE-3D8F-2430ECD0A77D}"/>
                    </a:ext>
                  </a:extLst>
                </p:cNvPr>
                <p:cNvPicPr>
                  <a:picLocks noGrp="1" noRot="1" noChangeAspect="1" noMove="1" noResize="1" noEditPoints="1" noAdjustHandles="1" noChangeArrowheads="1" noChangeShapeType="1"/>
                </p:cNvPicPr>
                <p:nvPr/>
              </p:nvPicPr>
              <p:blipFill>
                <a:blip r:embed="rId3"/>
                <a:stretch>
                  <a:fillRect/>
                </a:stretch>
              </p:blipFill>
              <p:spPr>
                <a:xfrm>
                  <a:off x="95917" y="2344731"/>
                  <a:ext cx="6544223" cy="4375370"/>
                </a:xfrm>
                <a:prstGeom prst="rect">
                  <a:avLst/>
                </a:prstGeom>
              </p:spPr>
            </p:pic>
          </mc:Fallback>
        </mc:AlternateContent>
        <p:sp>
          <p:nvSpPr>
            <p:cNvPr id="13" name="Title 1">
              <a:extLst>
                <a:ext uri="{FF2B5EF4-FFF2-40B4-BE49-F238E27FC236}">
                  <a16:creationId xmlns:a16="http://schemas.microsoft.com/office/drawing/2014/main" id="{F6253890-B3A6-4729-7F25-DE355727A468}"/>
                </a:ext>
              </a:extLst>
            </p:cNvPr>
            <p:cNvSpPr txBox="1">
              <a:spLocks/>
            </p:cNvSpPr>
            <p:nvPr/>
          </p:nvSpPr>
          <p:spPr>
            <a:xfrm>
              <a:off x="49087" y="3933180"/>
              <a:ext cx="1001305" cy="484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Highest M-O-M Food Inflation.</a:t>
              </a:r>
            </a:p>
          </p:txBody>
        </p:sp>
        <p:sp>
          <p:nvSpPr>
            <p:cNvPr id="16" name="Arrow: Pentagon 15">
              <a:extLst>
                <a:ext uri="{FF2B5EF4-FFF2-40B4-BE49-F238E27FC236}">
                  <a16:creationId xmlns:a16="http://schemas.microsoft.com/office/drawing/2014/main" id="{307D5E41-2FC2-9F98-0C3C-6591084A53E0}"/>
                </a:ext>
              </a:extLst>
            </p:cNvPr>
            <p:cNvSpPr/>
            <p:nvPr/>
          </p:nvSpPr>
          <p:spPr>
            <a:xfrm rot="5400000" flipV="1">
              <a:off x="269303" y="4546488"/>
              <a:ext cx="334554" cy="83524"/>
            </a:xfrm>
            <a:prstGeom prst="homePlate">
              <a:avLst>
                <a:gd name="adj" fmla="val 51266"/>
              </a:avLst>
            </a:prstGeom>
            <a:solidFill>
              <a:srgbClr val="548235"/>
            </a:solid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Pentagon 16">
              <a:extLst>
                <a:ext uri="{FF2B5EF4-FFF2-40B4-BE49-F238E27FC236}">
                  <a16:creationId xmlns:a16="http://schemas.microsoft.com/office/drawing/2014/main" id="{18B84D81-0C7D-9DBC-6DF8-F5827CF1A607}"/>
                </a:ext>
              </a:extLst>
            </p:cNvPr>
            <p:cNvSpPr/>
            <p:nvPr/>
          </p:nvSpPr>
          <p:spPr>
            <a:xfrm rot="16200000">
              <a:off x="4126024" y="5102949"/>
              <a:ext cx="334554" cy="83524"/>
            </a:xfrm>
            <a:prstGeom prst="homePlate">
              <a:avLst>
                <a:gd name="adj" fmla="val 51266"/>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FC1075DF-1100-87C5-5B44-45C0F29CC3CD}"/>
                </a:ext>
              </a:extLst>
            </p:cNvPr>
            <p:cNvSpPr txBox="1">
              <a:spLocks/>
            </p:cNvSpPr>
            <p:nvPr/>
          </p:nvSpPr>
          <p:spPr>
            <a:xfrm>
              <a:off x="3882697" y="5308111"/>
              <a:ext cx="945416" cy="419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Lowest M-O-M Food Inflation</a:t>
              </a:r>
            </a:p>
          </p:txBody>
        </p:sp>
        <p:sp>
          <p:nvSpPr>
            <p:cNvPr id="19" name="Arrow: Pentagon 18">
              <a:extLst>
                <a:ext uri="{FF2B5EF4-FFF2-40B4-BE49-F238E27FC236}">
                  <a16:creationId xmlns:a16="http://schemas.microsoft.com/office/drawing/2014/main" id="{47E92C08-13C3-C91D-3B44-22CCACC4652C}"/>
                </a:ext>
              </a:extLst>
            </p:cNvPr>
            <p:cNvSpPr/>
            <p:nvPr/>
          </p:nvSpPr>
          <p:spPr>
            <a:xfrm rot="5400000" flipV="1">
              <a:off x="5627725" y="2880520"/>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
              <a:extLst>
                <a:ext uri="{FF2B5EF4-FFF2-40B4-BE49-F238E27FC236}">
                  <a16:creationId xmlns:a16="http://schemas.microsoft.com/office/drawing/2014/main" id="{4BDCADEA-9D5D-DD87-6BCB-A7E2C3ADEE2F}"/>
                </a:ext>
              </a:extLst>
            </p:cNvPr>
            <p:cNvSpPr txBox="1">
              <a:spLocks/>
            </p:cNvSpPr>
            <p:nvPr/>
          </p:nvSpPr>
          <p:spPr>
            <a:xfrm>
              <a:off x="4435868" y="2783365"/>
              <a:ext cx="1289011" cy="2611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Inflation Rebounded</a:t>
              </a:r>
            </a:p>
          </p:txBody>
        </p:sp>
      </p:grpSp>
      <p:sp>
        <p:nvSpPr>
          <p:cNvPr id="21" name="Title 1">
            <a:extLst>
              <a:ext uri="{FF2B5EF4-FFF2-40B4-BE49-F238E27FC236}">
                <a16:creationId xmlns:a16="http://schemas.microsoft.com/office/drawing/2014/main" id="{D18ED17C-18D5-4EE3-F057-DBFCAAE593CB}"/>
              </a:ext>
            </a:extLst>
          </p:cNvPr>
          <p:cNvSpPr txBox="1">
            <a:spLocks/>
          </p:cNvSpPr>
          <p:nvPr/>
        </p:nvSpPr>
        <p:spPr>
          <a:xfrm>
            <a:off x="6818110" y="2311769"/>
            <a:ext cx="5277751" cy="442674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Rural + Urban basic food inflation remained highly volatile throughout the analysis period.</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Inflation reached its highest monthly increase of 1.19% in Jun 2022 before moderating and eventually declining to 0.95% in Feb 2023.</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Following this decline inflation gradually recovered reaching 0.83% in May 2023.</a:t>
            </a:r>
          </a:p>
        </p:txBody>
      </p:sp>
    </p:spTree>
    <p:extLst>
      <p:ext uri="{BB962C8B-B14F-4D97-AF65-F5344CB8AC3E}">
        <p14:creationId xmlns:p14="http://schemas.microsoft.com/office/powerpoint/2010/main" val="1267566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18A3D-1F39-2B26-E0B1-47C64A655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CA5D4-F5DE-B566-63E0-BEF41B24754C}"/>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Food Inflation Overview: Rural + Urban Sector</a:t>
            </a:r>
          </a:p>
        </p:txBody>
      </p:sp>
      <p:sp>
        <p:nvSpPr>
          <p:cNvPr id="5" name="Content Placeholder 2">
            <a:extLst>
              <a:ext uri="{FF2B5EF4-FFF2-40B4-BE49-F238E27FC236}">
                <a16:creationId xmlns:a16="http://schemas.microsoft.com/office/drawing/2014/main" id="{E40D582C-D75E-8783-E8D0-762878A9646F}"/>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Other Food &amp; Intoxicants:</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Table 9">
            <a:extLst>
              <a:ext uri="{FF2B5EF4-FFF2-40B4-BE49-F238E27FC236}">
                <a16:creationId xmlns:a16="http://schemas.microsoft.com/office/drawing/2014/main" id="{C3A1F342-98A1-4187-BC4D-F007671BF20E}"/>
              </a:ext>
            </a:extLst>
          </p:cNvPr>
          <p:cNvGraphicFramePr>
            <a:graphicFrameLocks noGrp="1"/>
          </p:cNvGraphicFramePr>
          <p:nvPr>
            <p:extLst>
              <p:ext uri="{D42A27DB-BD31-4B8C-83A1-F6EECF244321}">
                <p14:modId xmlns:p14="http://schemas.microsoft.com/office/powerpoint/2010/main" val="3954422417"/>
              </p:ext>
            </p:extLst>
          </p:nvPr>
        </p:nvGraphicFramePr>
        <p:xfrm>
          <a:off x="92051" y="1130839"/>
          <a:ext cx="12003810" cy="1112520"/>
        </p:xfrm>
        <a:graphic>
          <a:graphicData uri="http://schemas.openxmlformats.org/drawingml/2006/table">
            <a:tbl>
              <a:tblPr firstRow="1" bandRow="1">
                <a:tableStyleId>{5940675A-B579-460E-94D1-54222C63F5DA}</a:tableStyleId>
              </a:tblPr>
              <a:tblGrid>
                <a:gridCol w="1141468">
                  <a:extLst>
                    <a:ext uri="{9D8B030D-6E8A-4147-A177-3AD203B41FA5}">
                      <a16:colId xmlns:a16="http://schemas.microsoft.com/office/drawing/2014/main" val="61627544"/>
                    </a:ext>
                  </a:extLst>
                </a:gridCol>
                <a:gridCol w="1159877">
                  <a:extLst>
                    <a:ext uri="{9D8B030D-6E8A-4147-A177-3AD203B41FA5}">
                      <a16:colId xmlns:a16="http://schemas.microsoft.com/office/drawing/2014/main" val="3287431599"/>
                    </a:ext>
                  </a:extLst>
                </a:gridCol>
                <a:gridCol w="662787">
                  <a:extLst>
                    <a:ext uri="{9D8B030D-6E8A-4147-A177-3AD203B41FA5}">
                      <a16:colId xmlns:a16="http://schemas.microsoft.com/office/drawing/2014/main" val="3443064928"/>
                    </a:ext>
                  </a:extLst>
                </a:gridCol>
                <a:gridCol w="681197">
                  <a:extLst>
                    <a:ext uri="{9D8B030D-6E8A-4147-A177-3AD203B41FA5}">
                      <a16:colId xmlns:a16="http://schemas.microsoft.com/office/drawing/2014/main" val="3879713513"/>
                    </a:ext>
                  </a:extLst>
                </a:gridCol>
                <a:gridCol w="840757">
                  <a:extLst>
                    <a:ext uri="{9D8B030D-6E8A-4147-A177-3AD203B41FA5}">
                      <a16:colId xmlns:a16="http://schemas.microsoft.com/office/drawing/2014/main" val="601547321"/>
                    </a:ext>
                  </a:extLst>
                </a:gridCol>
                <a:gridCol w="658404">
                  <a:extLst>
                    <a:ext uri="{9D8B030D-6E8A-4147-A177-3AD203B41FA5}">
                      <a16:colId xmlns:a16="http://schemas.microsoft.com/office/drawing/2014/main" val="4067788497"/>
                    </a:ext>
                  </a:extLst>
                </a:gridCol>
                <a:gridCol w="857415">
                  <a:extLst>
                    <a:ext uri="{9D8B030D-6E8A-4147-A177-3AD203B41FA5}">
                      <a16:colId xmlns:a16="http://schemas.microsoft.com/office/drawing/2014/main" val="2484118876"/>
                    </a:ext>
                  </a:extLst>
                </a:gridCol>
                <a:gridCol w="857415">
                  <a:extLst>
                    <a:ext uri="{9D8B030D-6E8A-4147-A177-3AD203B41FA5}">
                      <a16:colId xmlns:a16="http://schemas.microsoft.com/office/drawing/2014/main" val="3279240359"/>
                    </a:ext>
                  </a:extLst>
                </a:gridCol>
                <a:gridCol w="857415">
                  <a:extLst>
                    <a:ext uri="{9D8B030D-6E8A-4147-A177-3AD203B41FA5}">
                      <a16:colId xmlns:a16="http://schemas.microsoft.com/office/drawing/2014/main" val="1113863754"/>
                    </a:ext>
                  </a:extLst>
                </a:gridCol>
                <a:gridCol w="857415">
                  <a:extLst>
                    <a:ext uri="{9D8B030D-6E8A-4147-A177-3AD203B41FA5}">
                      <a16:colId xmlns:a16="http://schemas.microsoft.com/office/drawing/2014/main" val="1245729143"/>
                    </a:ext>
                  </a:extLst>
                </a:gridCol>
                <a:gridCol w="857415">
                  <a:extLst>
                    <a:ext uri="{9D8B030D-6E8A-4147-A177-3AD203B41FA5}">
                      <a16:colId xmlns:a16="http://schemas.microsoft.com/office/drawing/2014/main" val="191567201"/>
                    </a:ext>
                  </a:extLst>
                </a:gridCol>
                <a:gridCol w="857415">
                  <a:extLst>
                    <a:ext uri="{9D8B030D-6E8A-4147-A177-3AD203B41FA5}">
                      <a16:colId xmlns:a16="http://schemas.microsoft.com/office/drawing/2014/main" val="493854987"/>
                    </a:ext>
                  </a:extLst>
                </a:gridCol>
                <a:gridCol w="857415">
                  <a:extLst>
                    <a:ext uri="{9D8B030D-6E8A-4147-A177-3AD203B41FA5}">
                      <a16:colId xmlns:a16="http://schemas.microsoft.com/office/drawing/2014/main" val="1683358866"/>
                    </a:ext>
                  </a:extLst>
                </a:gridCol>
                <a:gridCol w="857415">
                  <a:extLst>
                    <a:ext uri="{9D8B030D-6E8A-4147-A177-3AD203B41FA5}">
                      <a16:colId xmlns:a16="http://schemas.microsoft.com/office/drawing/2014/main" val="3910608619"/>
                    </a:ext>
                  </a:extLst>
                </a:gridCol>
              </a:tblGrid>
              <a:tr h="370840">
                <a:tc>
                  <a:txBody>
                    <a:bodyPr/>
                    <a:lstStyle/>
                    <a:p>
                      <a:r>
                        <a:rPr lang="en-US" sz="1100" b="0" u="none" strike="noStrike" kern="1200" dirty="0">
                          <a:solidFill>
                            <a:srgbClr val="000000"/>
                          </a:solidFill>
                          <a:effectLst/>
                        </a:rPr>
                        <a:t>Year</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May-22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Jun-22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Jul-22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Aug-22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Sep-22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Oct-22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Nov-22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Dec-22</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Jan-23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Feb-23</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Mar-23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Apr-23</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May-23</a:t>
                      </a:r>
                    </a:p>
                  </a:txBody>
                  <a:tcPr marL="0" marR="0" marT="0" marB="0" anchor="ctr"/>
                </a:tc>
                <a:extLst>
                  <a:ext uri="{0D108BD9-81ED-4DB2-BD59-A6C34878D82A}">
                    <a16:rowId xmlns:a16="http://schemas.microsoft.com/office/drawing/2014/main" val="3881085019"/>
                  </a:ext>
                </a:extLst>
              </a:tr>
              <a:tr h="370840">
                <a:tc rowSpan="2">
                  <a:txBody>
                    <a:bodyPr/>
                    <a:lstStyle/>
                    <a:p>
                      <a:pPr algn="ctr" fontAlgn="ctr">
                        <a:buNone/>
                      </a:pPr>
                      <a:r>
                        <a:rPr lang="en-US" sz="1100" b="0" u="none" strike="noStrike" dirty="0">
                          <a:solidFill>
                            <a:srgbClr val="000000"/>
                          </a:solidFill>
                          <a:effectLst/>
                        </a:rPr>
                        <a:t>Other Food and Intoxicants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837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841</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843</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847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852</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856</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856</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859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862</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862</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866</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870</a:t>
                      </a:r>
                    </a:p>
                  </a:txBody>
                  <a:tcPr marL="0" marR="0" marT="0" marB="0" anchor="ctr"/>
                </a:tc>
                <a:extLst>
                  <a:ext uri="{0D108BD9-81ED-4DB2-BD59-A6C34878D82A}">
                    <a16:rowId xmlns:a16="http://schemas.microsoft.com/office/drawing/2014/main" val="506688674"/>
                  </a:ext>
                </a:extLst>
              </a:tr>
              <a:tr h="370840">
                <a:tc vMerge="1">
                  <a:txBody>
                    <a:bodyPr/>
                    <a:lstStyle/>
                    <a:p>
                      <a:endParaRPr lang="en-US"/>
                    </a:p>
                  </a:txBody>
                  <a:tcPr/>
                </a:tc>
                <a:tc>
                  <a:txBody>
                    <a:bodyPr/>
                    <a:lstStyle/>
                    <a:p>
                      <a:pPr marL="0" algn="ctr" defTabSz="914400" rtl="0" eaLnBrk="1" fontAlgn="b" latinLnBrk="0" hangingPunct="1">
                        <a:buNone/>
                      </a:pPr>
                      <a:r>
                        <a:rPr lang="en-US" sz="1100" b="0" u="none" strike="noStrike" kern="1200" dirty="0">
                          <a:solidFill>
                            <a:srgbClr val="000000"/>
                          </a:solidFill>
                          <a:effectLst/>
                        </a:rPr>
                        <a:t>Inflation M-O-M</a:t>
                      </a:r>
                      <a:endParaRPr lang="en-US" sz="1100" b="0" i="0" u="none" strike="noStrike" kern="1200" dirty="0">
                        <a:solidFill>
                          <a:srgbClr val="000000"/>
                        </a:solidFill>
                        <a:effectLst/>
                        <a:latin typeface="Calibri" panose="020F0502020204030204" pitchFamily="34" charset="0"/>
                        <a:ea typeface="+mn-ea"/>
                        <a:cs typeface="+mn-cs"/>
                      </a:endParaRPr>
                    </a:p>
                  </a:txBody>
                  <a:tcPr anchor="ctr"/>
                </a:tc>
                <a:tc>
                  <a:txBody>
                    <a:bodyPr/>
                    <a:lstStyle/>
                    <a:p>
                      <a:pPr algn="ctr" fontAlgn="b">
                        <a:buNone/>
                      </a:pPr>
                      <a:r>
                        <a:rPr lang="en-US" sz="1100" b="0" i="0" u="none" strike="noStrike" dirty="0">
                          <a:solidFill>
                            <a:srgbClr val="000000"/>
                          </a:solidFill>
                          <a:effectLst/>
                          <a:latin typeface="Calibri" panose="020F0502020204030204" pitchFamily="34" charset="0"/>
                        </a:rPr>
                        <a:t>0.50%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0.27%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0.49%</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0.57%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0.46%</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0.14%</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-0.10%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0.27%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0.37%</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0.00%</a:t>
                      </a:r>
                    </a:p>
                  </a:txBody>
                  <a:tcPr marL="0" marR="0" marT="0" marB="0" anchor="ctr"/>
                </a:tc>
                <a:tc>
                  <a:txBody>
                    <a:bodyPr/>
                    <a:lstStyle/>
                    <a:p>
                      <a:pPr algn="ctr" fontAlgn="b">
                        <a:buNone/>
                      </a:pPr>
                      <a:r>
                        <a:rPr lang="en-US" sz="1100" b="0" i="0" u="none" strike="noStrike">
                          <a:solidFill>
                            <a:srgbClr val="000000"/>
                          </a:solidFill>
                          <a:effectLst/>
                          <a:latin typeface="Calibri" panose="020F0502020204030204" pitchFamily="34" charset="0"/>
                        </a:rPr>
                        <a:t>0.51%</a:t>
                      </a:r>
                    </a:p>
                  </a:txBody>
                  <a:tcPr marL="0" marR="0" marT="0" marB="0" anchor="ctr"/>
                </a:tc>
                <a:tc>
                  <a:txBody>
                    <a:bodyPr/>
                    <a:lstStyle/>
                    <a:p>
                      <a:pPr algn="ctr" fontAlgn="b">
                        <a:buNone/>
                      </a:pPr>
                      <a:r>
                        <a:rPr lang="en-US" sz="1100" b="0" i="0" u="none" strike="noStrike" dirty="0">
                          <a:solidFill>
                            <a:srgbClr val="000000"/>
                          </a:solidFill>
                          <a:effectLst/>
                          <a:latin typeface="Calibri" panose="020F0502020204030204" pitchFamily="34" charset="0"/>
                        </a:rPr>
                        <a:t>0.48%</a:t>
                      </a:r>
                    </a:p>
                  </a:txBody>
                  <a:tcPr marL="0" marR="0" marT="0" marB="0" anchor="ctr"/>
                </a:tc>
                <a:extLst>
                  <a:ext uri="{0D108BD9-81ED-4DB2-BD59-A6C34878D82A}">
                    <a16:rowId xmlns:a16="http://schemas.microsoft.com/office/drawing/2014/main" val="4017841612"/>
                  </a:ext>
                </a:extLst>
              </a:tr>
            </a:tbl>
          </a:graphicData>
        </a:graphic>
      </p:graphicFrame>
      <p:grpSp>
        <p:nvGrpSpPr>
          <p:cNvPr id="39" name="Group 38">
            <a:extLst>
              <a:ext uri="{FF2B5EF4-FFF2-40B4-BE49-F238E27FC236}">
                <a16:creationId xmlns:a16="http://schemas.microsoft.com/office/drawing/2014/main" id="{D9671DB3-736B-18A1-CA71-1B351E026CDE}"/>
              </a:ext>
            </a:extLst>
          </p:cNvPr>
          <p:cNvGrpSpPr/>
          <p:nvPr/>
        </p:nvGrpSpPr>
        <p:grpSpPr>
          <a:xfrm>
            <a:off x="92050" y="2324818"/>
            <a:ext cx="6861071" cy="4395282"/>
            <a:chOff x="92050" y="2324818"/>
            <a:chExt cx="6861071" cy="4395282"/>
          </a:xfrm>
        </p:grpSpPr>
        <p:sp>
          <p:nvSpPr>
            <p:cNvPr id="29" name="Rectangle 23">
              <a:extLst>
                <a:ext uri="{FF2B5EF4-FFF2-40B4-BE49-F238E27FC236}">
                  <a16:creationId xmlns:a16="http://schemas.microsoft.com/office/drawing/2014/main" id="{D1E484C6-2E20-07D5-C899-94C115C35D8D}"/>
                </a:ext>
              </a:extLst>
            </p:cNvPr>
            <p:cNvSpPr/>
            <p:nvPr/>
          </p:nvSpPr>
          <p:spPr>
            <a:xfrm>
              <a:off x="4081440" y="2324818"/>
              <a:ext cx="2834466" cy="2275706"/>
            </a:xfrm>
            <a:custGeom>
              <a:avLst/>
              <a:gdLst>
                <a:gd name="csX0" fmla="*/ 0 w 2827322"/>
                <a:gd name="csY0" fmla="*/ 0 h 2032819"/>
                <a:gd name="csX1" fmla="*/ 2827322 w 2827322"/>
                <a:gd name="csY1" fmla="*/ 0 h 2032819"/>
                <a:gd name="csX2" fmla="*/ 2827322 w 2827322"/>
                <a:gd name="csY2" fmla="*/ 2032819 h 2032819"/>
                <a:gd name="csX3" fmla="*/ 0 w 2827322"/>
                <a:gd name="csY3" fmla="*/ 2032819 h 2032819"/>
                <a:gd name="csX4" fmla="*/ 0 w 2827322"/>
                <a:gd name="csY4" fmla="*/ 0 h 2032819"/>
                <a:gd name="csX0" fmla="*/ 0 w 2827322"/>
                <a:gd name="csY0" fmla="*/ 878681 h 2032819"/>
                <a:gd name="csX1" fmla="*/ 2827322 w 2827322"/>
                <a:gd name="csY1" fmla="*/ 0 h 2032819"/>
                <a:gd name="csX2" fmla="*/ 2827322 w 2827322"/>
                <a:gd name="csY2" fmla="*/ 2032819 h 2032819"/>
                <a:gd name="csX3" fmla="*/ 0 w 2827322"/>
                <a:gd name="csY3" fmla="*/ 2032819 h 2032819"/>
                <a:gd name="csX4" fmla="*/ 0 w 2827322"/>
                <a:gd name="csY4" fmla="*/ 878681 h 2032819"/>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 name="csX0" fmla="*/ 0 w 2834466"/>
                <a:gd name="csY0" fmla="*/ 1121568 h 2275706"/>
                <a:gd name="csX1" fmla="*/ 2834466 w 2834466"/>
                <a:gd name="csY1" fmla="*/ 0 h 2275706"/>
                <a:gd name="csX2" fmla="*/ 2827322 w 2834466"/>
                <a:gd name="csY2" fmla="*/ 2275706 h 2275706"/>
                <a:gd name="csX3" fmla="*/ 0 w 2834466"/>
                <a:gd name="csY3" fmla="*/ 2275706 h 2275706"/>
                <a:gd name="csX4" fmla="*/ 0 w 2834466"/>
                <a:gd name="csY4" fmla="*/ 1121568 h 2275706"/>
              </a:gdLst>
              <a:ahLst/>
              <a:cxnLst>
                <a:cxn ang="0">
                  <a:pos x="csX0" y="csY0"/>
                </a:cxn>
                <a:cxn ang="0">
                  <a:pos x="csX1" y="csY1"/>
                </a:cxn>
                <a:cxn ang="0">
                  <a:pos x="csX2" y="csY2"/>
                </a:cxn>
                <a:cxn ang="0">
                  <a:pos x="csX3" y="csY3"/>
                </a:cxn>
                <a:cxn ang="0">
                  <a:pos x="csX4" y="csY4"/>
                </a:cxn>
              </a:cxnLst>
              <a:rect l="l" t="t" r="r" b="b"/>
              <a:pathLst>
                <a:path w="2834466" h="2275706">
                  <a:moveTo>
                    <a:pt x="0" y="1121568"/>
                  </a:moveTo>
                  <a:lnTo>
                    <a:pt x="2834466" y="0"/>
                  </a:lnTo>
                  <a:cubicBezTo>
                    <a:pt x="2832085" y="758569"/>
                    <a:pt x="2829703" y="1517137"/>
                    <a:pt x="2827322" y="2275706"/>
                  </a:cubicBezTo>
                  <a:lnTo>
                    <a:pt x="0" y="2275706"/>
                  </a:lnTo>
                  <a:lnTo>
                    <a:pt x="0" y="1121568"/>
                  </a:lnTo>
                  <a:close/>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8" name="Group 37">
              <a:extLst>
                <a:ext uri="{FF2B5EF4-FFF2-40B4-BE49-F238E27FC236}">
                  <a16:creationId xmlns:a16="http://schemas.microsoft.com/office/drawing/2014/main" id="{EC3C8545-B1CE-6A89-21F1-A0C804FDA6A4}"/>
                </a:ext>
              </a:extLst>
            </p:cNvPr>
            <p:cNvGrpSpPr/>
            <p:nvPr/>
          </p:nvGrpSpPr>
          <p:grpSpPr>
            <a:xfrm>
              <a:off x="92050" y="2427465"/>
              <a:ext cx="6861071" cy="4292635"/>
              <a:chOff x="92050" y="2427465"/>
              <a:chExt cx="6861071" cy="4292635"/>
            </a:xfrm>
          </p:grpSpPr>
          <mc:AlternateContent xmlns:mc="http://schemas.openxmlformats.org/markup-compatibility/2006" xmlns:cx1="http://schemas.microsoft.com/office/drawing/2015/9/8/chartex">
            <mc:Choice Requires="cx1">
              <p:graphicFrame>
                <p:nvGraphicFramePr>
                  <p:cNvPr id="20" name="Chart 19">
                    <a:extLst>
                      <a:ext uri="{FF2B5EF4-FFF2-40B4-BE49-F238E27FC236}">
                        <a16:creationId xmlns:a16="http://schemas.microsoft.com/office/drawing/2014/main" id="{26B62DE6-8369-E022-D4DF-C43928586B54}"/>
                      </a:ext>
                    </a:extLst>
                  </p:cNvPr>
                  <p:cNvGraphicFramePr/>
                  <p:nvPr>
                    <p:extLst>
                      <p:ext uri="{D42A27DB-BD31-4B8C-83A1-F6EECF244321}">
                        <p14:modId xmlns:p14="http://schemas.microsoft.com/office/powerpoint/2010/main" val="2243768996"/>
                      </p:ext>
                    </p:extLst>
                  </p:nvPr>
                </p:nvGraphicFramePr>
                <p:xfrm>
                  <a:off x="92050" y="2427465"/>
                  <a:ext cx="6861071" cy="4292635"/>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20" name="Chart 19">
                    <a:extLst>
                      <a:ext uri="{FF2B5EF4-FFF2-40B4-BE49-F238E27FC236}">
                        <a16:creationId xmlns:a16="http://schemas.microsoft.com/office/drawing/2014/main" id="{26B62DE6-8369-E022-D4DF-C43928586B54}"/>
                      </a:ext>
                    </a:extLst>
                  </p:cNvPr>
                  <p:cNvPicPr>
                    <a:picLocks noGrp="1" noRot="1" noChangeAspect="1" noMove="1" noResize="1" noEditPoints="1" noAdjustHandles="1" noChangeArrowheads="1" noChangeShapeType="1"/>
                  </p:cNvPicPr>
                  <p:nvPr/>
                </p:nvPicPr>
                <p:blipFill>
                  <a:blip r:embed="rId4"/>
                  <a:stretch>
                    <a:fillRect/>
                  </a:stretch>
                </p:blipFill>
                <p:spPr>
                  <a:xfrm>
                    <a:off x="92050" y="2427465"/>
                    <a:ext cx="6861071" cy="4292635"/>
                  </a:xfrm>
                  <a:prstGeom prst="rect">
                    <a:avLst/>
                  </a:prstGeom>
                </p:spPr>
              </p:pic>
            </mc:Fallback>
          </mc:AlternateContent>
          <p:sp>
            <p:nvSpPr>
              <p:cNvPr id="21" name="Title 1">
                <a:extLst>
                  <a:ext uri="{FF2B5EF4-FFF2-40B4-BE49-F238E27FC236}">
                    <a16:creationId xmlns:a16="http://schemas.microsoft.com/office/drawing/2014/main" id="{6BCE5E70-6935-4AEB-009E-66DA8FD65BDE}"/>
                  </a:ext>
                </a:extLst>
              </p:cNvPr>
              <p:cNvSpPr txBox="1">
                <a:spLocks/>
              </p:cNvSpPr>
              <p:nvPr/>
            </p:nvSpPr>
            <p:spPr>
              <a:xfrm>
                <a:off x="1706053" y="3945454"/>
                <a:ext cx="1091409" cy="484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900" dirty="0">
                    <a:latin typeface="Tahoma" panose="020B0604030504040204" pitchFamily="34" charset="0"/>
                    <a:ea typeface="Tahoma" panose="020B0604030504040204" pitchFamily="34" charset="0"/>
                    <a:cs typeface="Tahoma" panose="020B0604030504040204" pitchFamily="34" charset="0"/>
                  </a:rPr>
                  <a:t>Highest M-O-M Food Inflation.</a:t>
                </a:r>
              </a:p>
            </p:txBody>
          </p:sp>
          <p:sp>
            <p:nvSpPr>
              <p:cNvPr id="22" name="Arrow: Pentagon 21">
                <a:extLst>
                  <a:ext uri="{FF2B5EF4-FFF2-40B4-BE49-F238E27FC236}">
                    <a16:creationId xmlns:a16="http://schemas.microsoft.com/office/drawing/2014/main" id="{92558719-05F4-B679-0149-CB945324D69D}"/>
                  </a:ext>
                </a:extLst>
              </p:cNvPr>
              <p:cNvSpPr/>
              <p:nvPr/>
            </p:nvSpPr>
            <p:spPr>
              <a:xfrm rot="5400000" flipV="1">
                <a:off x="1961138" y="4555004"/>
                <a:ext cx="334554" cy="91040"/>
              </a:xfrm>
              <a:prstGeom prst="homePlate">
                <a:avLst>
                  <a:gd name="adj" fmla="val 51266"/>
                </a:avLst>
              </a:prstGeom>
              <a:solidFill>
                <a:srgbClr val="548235"/>
              </a:solid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Pentagon 22">
                <a:extLst>
                  <a:ext uri="{FF2B5EF4-FFF2-40B4-BE49-F238E27FC236}">
                    <a16:creationId xmlns:a16="http://schemas.microsoft.com/office/drawing/2014/main" id="{13297CD7-3BEE-A4B3-8E04-4720040BB7B9}"/>
                  </a:ext>
                </a:extLst>
              </p:cNvPr>
              <p:cNvSpPr/>
              <p:nvPr/>
            </p:nvSpPr>
            <p:spPr>
              <a:xfrm rot="16200000">
                <a:off x="3648777" y="4889558"/>
                <a:ext cx="334554" cy="91040"/>
              </a:xfrm>
              <a:prstGeom prst="homePlate">
                <a:avLst>
                  <a:gd name="adj" fmla="val 51266"/>
                </a:avLst>
              </a:prstGeom>
              <a:solidFill>
                <a:srgbClr val="ED7D31"/>
              </a:solidFill>
              <a:ln>
                <a:solidFill>
                  <a:srgbClr val="ED7D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1">
                <a:extLst>
                  <a:ext uri="{FF2B5EF4-FFF2-40B4-BE49-F238E27FC236}">
                    <a16:creationId xmlns:a16="http://schemas.microsoft.com/office/drawing/2014/main" id="{99B92AA0-E8B5-9484-EB70-332EF6CB17E1}"/>
                  </a:ext>
                </a:extLst>
              </p:cNvPr>
              <p:cNvSpPr txBox="1">
                <a:spLocks/>
              </p:cNvSpPr>
              <p:nvPr/>
            </p:nvSpPr>
            <p:spPr>
              <a:xfrm>
                <a:off x="3368501" y="5098478"/>
                <a:ext cx="1030490" cy="419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Lowest M-O-M Food Inflation</a:t>
                </a:r>
              </a:p>
            </p:txBody>
          </p:sp>
          <p:sp>
            <p:nvSpPr>
              <p:cNvPr id="30" name="Arrow: Pentagon 29">
                <a:extLst>
                  <a:ext uri="{FF2B5EF4-FFF2-40B4-BE49-F238E27FC236}">
                    <a16:creationId xmlns:a16="http://schemas.microsoft.com/office/drawing/2014/main" id="{1C4EBA61-643A-D8D0-99FE-BB2B1FE0D8E9}"/>
                  </a:ext>
                </a:extLst>
              </p:cNvPr>
              <p:cNvSpPr/>
              <p:nvPr/>
            </p:nvSpPr>
            <p:spPr>
              <a:xfrm rot="5400000" flipV="1">
                <a:off x="4204452" y="3925303"/>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Pentagon 30">
                <a:extLst>
                  <a:ext uri="{FF2B5EF4-FFF2-40B4-BE49-F238E27FC236}">
                    <a16:creationId xmlns:a16="http://schemas.microsoft.com/office/drawing/2014/main" id="{1BAE8D1A-ED85-F95D-A4AA-E585D2B85A12}"/>
                  </a:ext>
                </a:extLst>
              </p:cNvPr>
              <p:cNvSpPr/>
              <p:nvPr/>
            </p:nvSpPr>
            <p:spPr>
              <a:xfrm rot="5400000" flipV="1">
                <a:off x="4773157" y="3662155"/>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Arrow: Pentagon 31">
                <a:extLst>
                  <a:ext uri="{FF2B5EF4-FFF2-40B4-BE49-F238E27FC236}">
                    <a16:creationId xmlns:a16="http://schemas.microsoft.com/office/drawing/2014/main" id="{3B7A5A0D-CC50-4922-12E0-03DF92103FA1}"/>
                  </a:ext>
                </a:extLst>
              </p:cNvPr>
              <p:cNvSpPr/>
              <p:nvPr/>
            </p:nvSpPr>
            <p:spPr>
              <a:xfrm rot="5400000" flipV="1">
                <a:off x="5324690" y="3662156"/>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Arrow: Pentagon 32">
                <a:extLst>
                  <a:ext uri="{FF2B5EF4-FFF2-40B4-BE49-F238E27FC236}">
                    <a16:creationId xmlns:a16="http://schemas.microsoft.com/office/drawing/2014/main" id="{1941E130-690F-D4B3-0B93-B0F1C7024553}"/>
                  </a:ext>
                </a:extLst>
              </p:cNvPr>
              <p:cNvSpPr/>
              <p:nvPr/>
            </p:nvSpPr>
            <p:spPr>
              <a:xfrm rot="5400000" flipV="1">
                <a:off x="5922017" y="3255017"/>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Arrow: Pentagon 33">
                <a:extLst>
                  <a:ext uri="{FF2B5EF4-FFF2-40B4-BE49-F238E27FC236}">
                    <a16:creationId xmlns:a16="http://schemas.microsoft.com/office/drawing/2014/main" id="{B50A4846-7238-7EBF-19DA-0AF7C8C37678}"/>
                  </a:ext>
                </a:extLst>
              </p:cNvPr>
              <p:cNvSpPr/>
              <p:nvPr/>
            </p:nvSpPr>
            <p:spPr>
              <a:xfrm rot="5400000" flipV="1">
                <a:off x="6453037" y="2885924"/>
                <a:ext cx="271138" cy="76829"/>
              </a:xfrm>
              <a:prstGeom prst="homePlate">
                <a:avLst>
                  <a:gd name="adj" fmla="val 51266"/>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itle 1">
                <a:extLst>
                  <a:ext uri="{FF2B5EF4-FFF2-40B4-BE49-F238E27FC236}">
                    <a16:creationId xmlns:a16="http://schemas.microsoft.com/office/drawing/2014/main" id="{0DC826C6-8364-DCE1-6535-E616F56FAAE9}"/>
                  </a:ext>
                </a:extLst>
              </p:cNvPr>
              <p:cNvSpPr txBox="1">
                <a:spLocks/>
              </p:cNvSpPr>
              <p:nvPr/>
            </p:nvSpPr>
            <p:spPr>
              <a:xfrm>
                <a:off x="5348875" y="4099287"/>
                <a:ext cx="1340592" cy="440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900" dirty="0">
                    <a:latin typeface="Tahoma" panose="020B0604030504040204" pitchFamily="34" charset="0"/>
                    <a:ea typeface="Tahoma" panose="020B0604030504040204" pitchFamily="34" charset="0"/>
                    <a:cs typeface="Tahoma" panose="020B0604030504040204" pitchFamily="34" charset="0"/>
                  </a:rPr>
                  <a:t>Inflation Showing a Positive Trend</a:t>
                </a:r>
              </a:p>
            </p:txBody>
          </p:sp>
        </p:grpSp>
      </p:grpSp>
      <p:sp>
        <p:nvSpPr>
          <p:cNvPr id="40" name="Title 1">
            <a:extLst>
              <a:ext uri="{FF2B5EF4-FFF2-40B4-BE49-F238E27FC236}">
                <a16:creationId xmlns:a16="http://schemas.microsoft.com/office/drawing/2014/main" id="{B22CAE7E-DB11-09E5-724F-AA9A233B1741}"/>
              </a:ext>
            </a:extLst>
          </p:cNvPr>
          <p:cNvSpPr txBox="1">
            <a:spLocks/>
          </p:cNvSpPr>
          <p:nvPr/>
        </p:nvSpPr>
        <p:spPr>
          <a:xfrm>
            <a:off x="6996084" y="2311769"/>
            <a:ext cx="5099777" cy="442674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The inflation in this remained relatively stable throughout the analysis period. The category recorded its highest monthly inflation of 0.57% in Sep 2022 while the lowest inflation of -0.10% was observed in Dec 2022.</a:t>
            </a:r>
          </a:p>
          <a:p>
            <a:pPr marL="285750" indent="-285750">
              <a:lnSpc>
                <a:spcPct val="150000"/>
              </a:lnSpc>
              <a:buFont typeface="Arial" panose="020B0604020202020204" pitchFamily="34" charset="0"/>
              <a:buChar char="•"/>
            </a:pPr>
            <a:r>
              <a:rPr lang="en-US" sz="1400" dirty="0">
                <a:latin typeface="Tahoma" panose="020B0604030504040204" pitchFamily="34" charset="0"/>
                <a:ea typeface="Tahoma" panose="020B0604030504040204" pitchFamily="34" charset="0"/>
                <a:cs typeface="Tahoma" panose="020B0604030504040204" pitchFamily="34" charset="0"/>
              </a:rPr>
              <a:t>Following the brief decline inflation remained positive for 5 consecutive months from Jan 2023 to May 2023 ending at 0.48% in May 2023. </a:t>
            </a:r>
          </a:p>
        </p:txBody>
      </p:sp>
    </p:spTree>
    <p:extLst>
      <p:ext uri="{BB962C8B-B14F-4D97-AF65-F5344CB8AC3E}">
        <p14:creationId xmlns:p14="http://schemas.microsoft.com/office/powerpoint/2010/main" val="44955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572A5-2D80-9FCF-5D7B-9B8B38E74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4360-C33F-4299-C597-B5FFB9F203D0}"/>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Summary</a:t>
            </a:r>
          </a:p>
        </p:txBody>
      </p:sp>
      <p:sp>
        <p:nvSpPr>
          <p:cNvPr id="5" name="Content Placeholder 2">
            <a:extLst>
              <a:ext uri="{FF2B5EF4-FFF2-40B4-BE49-F238E27FC236}">
                <a16:creationId xmlns:a16="http://schemas.microsoft.com/office/drawing/2014/main" id="{9C9A9FA1-B555-9AE0-8BF8-9BA5B309FBAD}"/>
              </a:ext>
            </a:extLst>
          </p:cNvPr>
          <p:cNvSpPr txBox="1">
            <a:spLocks/>
          </p:cNvSpPr>
          <p:nvPr/>
        </p:nvSpPr>
        <p:spPr>
          <a:xfrm>
            <a:off x="139107" y="681036"/>
            <a:ext cx="1798124" cy="4604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Basic Food Items :</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Table 5">
            <a:extLst>
              <a:ext uri="{FF2B5EF4-FFF2-40B4-BE49-F238E27FC236}">
                <a16:creationId xmlns:a16="http://schemas.microsoft.com/office/drawing/2014/main" id="{D202CCE8-32D7-003F-9862-B4EBF1E57210}"/>
              </a:ext>
            </a:extLst>
          </p:cNvPr>
          <p:cNvGraphicFramePr>
            <a:graphicFrameLocks noGrp="1"/>
          </p:cNvGraphicFramePr>
          <p:nvPr>
            <p:extLst>
              <p:ext uri="{D42A27DB-BD31-4B8C-83A1-F6EECF244321}">
                <p14:modId xmlns:p14="http://schemas.microsoft.com/office/powerpoint/2010/main" val="3910104878"/>
              </p:ext>
            </p:extLst>
          </p:nvPr>
        </p:nvGraphicFramePr>
        <p:xfrm>
          <a:off x="257749" y="1196696"/>
          <a:ext cx="11592629" cy="1483360"/>
        </p:xfrm>
        <a:graphic>
          <a:graphicData uri="http://schemas.openxmlformats.org/drawingml/2006/table">
            <a:tbl>
              <a:tblPr firstRow="1" bandRow="1">
                <a:tableStyleId>{5940675A-B579-460E-94D1-54222C63F5DA}</a:tableStyleId>
              </a:tblPr>
              <a:tblGrid>
                <a:gridCol w="2407619">
                  <a:extLst>
                    <a:ext uri="{9D8B030D-6E8A-4147-A177-3AD203B41FA5}">
                      <a16:colId xmlns:a16="http://schemas.microsoft.com/office/drawing/2014/main" val="681529492"/>
                    </a:ext>
                  </a:extLst>
                </a:gridCol>
                <a:gridCol w="2326626">
                  <a:extLst>
                    <a:ext uri="{9D8B030D-6E8A-4147-A177-3AD203B41FA5}">
                      <a16:colId xmlns:a16="http://schemas.microsoft.com/office/drawing/2014/main" val="1896525306"/>
                    </a:ext>
                  </a:extLst>
                </a:gridCol>
                <a:gridCol w="2369149">
                  <a:extLst>
                    <a:ext uri="{9D8B030D-6E8A-4147-A177-3AD203B41FA5}">
                      <a16:colId xmlns:a16="http://schemas.microsoft.com/office/drawing/2014/main" val="2167294586"/>
                    </a:ext>
                  </a:extLst>
                </a:gridCol>
                <a:gridCol w="4489235">
                  <a:extLst>
                    <a:ext uri="{9D8B030D-6E8A-4147-A177-3AD203B41FA5}">
                      <a16:colId xmlns:a16="http://schemas.microsoft.com/office/drawing/2014/main" val="3262820602"/>
                    </a:ext>
                  </a:extLst>
                </a:gridCol>
              </a:tblGrid>
              <a:tr h="370840">
                <a:tc>
                  <a:txBody>
                    <a:bodyPr/>
                    <a:lstStyle/>
                    <a:p>
                      <a:r>
                        <a:rPr lang="en-US" sz="1500" dirty="0"/>
                        <a:t>Sector</a:t>
                      </a:r>
                    </a:p>
                  </a:txBody>
                  <a:tcPr anchor="ctr"/>
                </a:tc>
                <a:tc>
                  <a:txBody>
                    <a:bodyPr/>
                    <a:lstStyle/>
                    <a:p>
                      <a:pPr algn="ctr"/>
                      <a:r>
                        <a:rPr lang="en-US" sz="1500" dirty="0"/>
                        <a:t>Highest Inflation</a:t>
                      </a:r>
                    </a:p>
                  </a:txBody>
                  <a:tcPr anchor="ctr"/>
                </a:tc>
                <a:tc>
                  <a:txBody>
                    <a:bodyPr/>
                    <a:lstStyle/>
                    <a:p>
                      <a:pPr algn="ctr"/>
                      <a:r>
                        <a:rPr lang="en-US" sz="1500" dirty="0"/>
                        <a:t>Lowest Inflation</a:t>
                      </a:r>
                    </a:p>
                  </a:txBody>
                  <a:tcPr anchor="ctr"/>
                </a:tc>
                <a:tc rowSpan="4">
                  <a:txBody>
                    <a:bodyPr/>
                    <a:lstStyle/>
                    <a:p>
                      <a:pPr algn="l"/>
                      <a:r>
                        <a:rPr lang="en-US" sz="1500" u="sng" dirty="0">
                          <a:solidFill>
                            <a:schemeClr val="bg1"/>
                          </a:solidFill>
                        </a:rPr>
                        <a:t>Urban areas</a:t>
                      </a:r>
                      <a:r>
                        <a:rPr lang="en-US" sz="1500" dirty="0">
                          <a:solidFill>
                            <a:schemeClr val="bg1"/>
                          </a:solidFill>
                        </a:rPr>
                        <a:t> experienced the </a:t>
                      </a:r>
                      <a:r>
                        <a:rPr lang="en-US" sz="1500" u="sng" dirty="0">
                          <a:solidFill>
                            <a:schemeClr val="bg1"/>
                          </a:solidFill>
                        </a:rPr>
                        <a:t>strongest inflation spike (1.31%),</a:t>
                      </a:r>
                      <a:r>
                        <a:rPr lang="en-US" sz="1500" dirty="0">
                          <a:solidFill>
                            <a:schemeClr val="bg1"/>
                          </a:solidFill>
                        </a:rPr>
                        <a:t> whereas </a:t>
                      </a:r>
                      <a:r>
                        <a:rPr lang="en-US" sz="1500" u="sng" dirty="0">
                          <a:solidFill>
                            <a:schemeClr val="bg1"/>
                          </a:solidFill>
                        </a:rPr>
                        <a:t>rural areas</a:t>
                      </a:r>
                      <a:r>
                        <a:rPr lang="en-US" sz="1500" dirty="0">
                          <a:solidFill>
                            <a:schemeClr val="bg1"/>
                          </a:solidFill>
                        </a:rPr>
                        <a:t> experienced the </a:t>
                      </a:r>
                      <a:r>
                        <a:rPr lang="en-US" sz="1500" u="sng" dirty="0">
                          <a:solidFill>
                            <a:schemeClr val="bg1"/>
                          </a:solidFill>
                        </a:rPr>
                        <a:t>sharpest decline(-1.12)</a:t>
                      </a:r>
                      <a:r>
                        <a:rPr lang="en-US" sz="1500" dirty="0">
                          <a:solidFill>
                            <a:schemeClr val="bg1"/>
                          </a:solidFill>
                        </a:rPr>
                        <a:t>.</a:t>
                      </a:r>
                      <a:r>
                        <a:rPr lang="en-US" sz="1500" dirty="0"/>
                        <a:t>  </a:t>
                      </a:r>
                    </a:p>
                  </a:txBody>
                  <a:tcPr anchor="ctr">
                    <a:solidFill>
                      <a:schemeClr val="accent3">
                        <a:lumMod val="75000"/>
                      </a:schemeClr>
                    </a:solidFill>
                  </a:tcPr>
                </a:tc>
                <a:extLst>
                  <a:ext uri="{0D108BD9-81ED-4DB2-BD59-A6C34878D82A}">
                    <a16:rowId xmlns:a16="http://schemas.microsoft.com/office/drawing/2014/main" val="918151907"/>
                  </a:ext>
                </a:extLst>
              </a:tr>
              <a:tr h="370840">
                <a:tc>
                  <a:txBody>
                    <a:bodyPr/>
                    <a:lstStyle/>
                    <a:p>
                      <a:r>
                        <a:rPr lang="en-US" sz="1500" dirty="0"/>
                        <a:t>Rural</a:t>
                      </a:r>
                    </a:p>
                  </a:txBody>
                  <a:tcPr anchor="ctr"/>
                </a:tc>
                <a:tc>
                  <a:txBody>
                    <a:bodyPr/>
                    <a:lstStyle/>
                    <a:p>
                      <a:pPr algn="ctr"/>
                      <a:r>
                        <a:rPr lang="en-US" sz="1500" dirty="0"/>
                        <a:t>1.09%</a:t>
                      </a:r>
                    </a:p>
                  </a:txBody>
                  <a:tcPr anchor="ctr"/>
                </a:tc>
                <a:tc>
                  <a:txBody>
                    <a:bodyPr/>
                    <a:lstStyle/>
                    <a:p>
                      <a:pPr algn="ctr"/>
                      <a:r>
                        <a:rPr lang="en-US" sz="1500" dirty="0"/>
                        <a:t>-1.12%</a:t>
                      </a:r>
                    </a:p>
                  </a:txBody>
                  <a:tcPr anchor="ctr"/>
                </a:tc>
                <a:tc vMerge="1">
                  <a:txBody>
                    <a:bodyPr/>
                    <a:lstStyle/>
                    <a:p>
                      <a:endParaRPr lang="en-US" dirty="0"/>
                    </a:p>
                  </a:txBody>
                  <a:tcPr/>
                </a:tc>
                <a:extLst>
                  <a:ext uri="{0D108BD9-81ED-4DB2-BD59-A6C34878D82A}">
                    <a16:rowId xmlns:a16="http://schemas.microsoft.com/office/drawing/2014/main" val="238245094"/>
                  </a:ext>
                </a:extLst>
              </a:tr>
              <a:tr h="370840">
                <a:tc>
                  <a:txBody>
                    <a:bodyPr/>
                    <a:lstStyle/>
                    <a:p>
                      <a:r>
                        <a:rPr lang="en-US" sz="1500" dirty="0"/>
                        <a:t>Urban</a:t>
                      </a:r>
                    </a:p>
                  </a:txBody>
                  <a:tcPr anchor="ctr"/>
                </a:tc>
                <a:tc>
                  <a:txBody>
                    <a:bodyPr/>
                    <a:lstStyle/>
                    <a:p>
                      <a:pPr algn="ctr"/>
                      <a:r>
                        <a:rPr lang="en-US" sz="1500" dirty="0"/>
                        <a:t>1.31%</a:t>
                      </a:r>
                    </a:p>
                  </a:txBody>
                  <a:tcPr anchor="ctr"/>
                </a:tc>
                <a:tc>
                  <a:txBody>
                    <a:bodyPr/>
                    <a:lstStyle/>
                    <a:p>
                      <a:pPr algn="ctr"/>
                      <a:r>
                        <a:rPr lang="en-US" sz="1500" dirty="0"/>
                        <a:t>-1.04%</a:t>
                      </a:r>
                    </a:p>
                  </a:txBody>
                  <a:tcPr anchor="ctr"/>
                </a:tc>
                <a:tc vMerge="1">
                  <a:txBody>
                    <a:bodyPr/>
                    <a:lstStyle/>
                    <a:p>
                      <a:endParaRPr lang="en-US" dirty="0"/>
                    </a:p>
                  </a:txBody>
                  <a:tcPr/>
                </a:tc>
                <a:extLst>
                  <a:ext uri="{0D108BD9-81ED-4DB2-BD59-A6C34878D82A}">
                    <a16:rowId xmlns:a16="http://schemas.microsoft.com/office/drawing/2014/main" val="2376869826"/>
                  </a:ext>
                </a:extLst>
              </a:tr>
              <a:tr h="370840">
                <a:tc>
                  <a:txBody>
                    <a:bodyPr/>
                    <a:lstStyle/>
                    <a:p>
                      <a:r>
                        <a:rPr lang="en-US" sz="1500" dirty="0"/>
                        <a:t>Rural + Urban</a:t>
                      </a:r>
                    </a:p>
                  </a:txBody>
                  <a:tcPr anchor="ctr"/>
                </a:tc>
                <a:tc>
                  <a:txBody>
                    <a:bodyPr/>
                    <a:lstStyle/>
                    <a:p>
                      <a:pPr algn="ctr"/>
                      <a:r>
                        <a:rPr lang="en-US" sz="1500" dirty="0"/>
                        <a:t>1.19%</a:t>
                      </a:r>
                    </a:p>
                  </a:txBody>
                  <a:tcPr anchor="ctr"/>
                </a:tc>
                <a:tc>
                  <a:txBody>
                    <a:bodyPr/>
                    <a:lstStyle/>
                    <a:p>
                      <a:pPr algn="ctr"/>
                      <a:r>
                        <a:rPr lang="en-US" sz="1500" dirty="0"/>
                        <a:t>-0.95%</a:t>
                      </a:r>
                    </a:p>
                  </a:txBody>
                  <a:tcPr anchor="ctr"/>
                </a:tc>
                <a:tc vMerge="1">
                  <a:txBody>
                    <a:bodyPr/>
                    <a:lstStyle/>
                    <a:p>
                      <a:endParaRPr lang="en-US" dirty="0"/>
                    </a:p>
                  </a:txBody>
                  <a:tcPr/>
                </a:tc>
                <a:extLst>
                  <a:ext uri="{0D108BD9-81ED-4DB2-BD59-A6C34878D82A}">
                    <a16:rowId xmlns:a16="http://schemas.microsoft.com/office/drawing/2014/main" val="546497113"/>
                  </a:ext>
                </a:extLst>
              </a:tr>
            </a:tbl>
          </a:graphicData>
        </a:graphic>
      </p:graphicFrame>
      <p:sp>
        <p:nvSpPr>
          <p:cNvPr id="7" name="Content Placeholder 2">
            <a:extLst>
              <a:ext uri="{FF2B5EF4-FFF2-40B4-BE49-F238E27FC236}">
                <a16:creationId xmlns:a16="http://schemas.microsoft.com/office/drawing/2014/main" id="{60F7675C-F8FB-C7D1-BAA8-C971793B3298}"/>
              </a:ext>
            </a:extLst>
          </p:cNvPr>
          <p:cNvSpPr txBox="1">
            <a:spLocks/>
          </p:cNvSpPr>
          <p:nvPr/>
        </p:nvSpPr>
        <p:spPr>
          <a:xfrm>
            <a:off x="184107" y="2815068"/>
            <a:ext cx="2614325" cy="4604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Other Food &amp; Intoxicants:</a:t>
            </a: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Table 7">
            <a:extLst>
              <a:ext uri="{FF2B5EF4-FFF2-40B4-BE49-F238E27FC236}">
                <a16:creationId xmlns:a16="http://schemas.microsoft.com/office/drawing/2014/main" id="{A10FFA8D-2523-D950-CA26-5EFD6C0E77E0}"/>
              </a:ext>
            </a:extLst>
          </p:cNvPr>
          <p:cNvGraphicFramePr>
            <a:graphicFrameLocks noGrp="1"/>
          </p:cNvGraphicFramePr>
          <p:nvPr>
            <p:extLst>
              <p:ext uri="{D42A27DB-BD31-4B8C-83A1-F6EECF244321}">
                <p14:modId xmlns:p14="http://schemas.microsoft.com/office/powerpoint/2010/main" val="1950329488"/>
              </p:ext>
            </p:extLst>
          </p:nvPr>
        </p:nvGraphicFramePr>
        <p:xfrm>
          <a:off x="257748" y="3330728"/>
          <a:ext cx="11592629" cy="1483360"/>
        </p:xfrm>
        <a:graphic>
          <a:graphicData uri="http://schemas.openxmlformats.org/drawingml/2006/table">
            <a:tbl>
              <a:tblPr firstRow="1" bandRow="1">
                <a:tableStyleId>{5940675A-B579-460E-94D1-54222C63F5DA}</a:tableStyleId>
              </a:tblPr>
              <a:tblGrid>
                <a:gridCol w="2407619">
                  <a:extLst>
                    <a:ext uri="{9D8B030D-6E8A-4147-A177-3AD203B41FA5}">
                      <a16:colId xmlns:a16="http://schemas.microsoft.com/office/drawing/2014/main" val="681529492"/>
                    </a:ext>
                  </a:extLst>
                </a:gridCol>
                <a:gridCol w="2326626">
                  <a:extLst>
                    <a:ext uri="{9D8B030D-6E8A-4147-A177-3AD203B41FA5}">
                      <a16:colId xmlns:a16="http://schemas.microsoft.com/office/drawing/2014/main" val="1896525306"/>
                    </a:ext>
                  </a:extLst>
                </a:gridCol>
                <a:gridCol w="2369149">
                  <a:extLst>
                    <a:ext uri="{9D8B030D-6E8A-4147-A177-3AD203B41FA5}">
                      <a16:colId xmlns:a16="http://schemas.microsoft.com/office/drawing/2014/main" val="2167294586"/>
                    </a:ext>
                  </a:extLst>
                </a:gridCol>
                <a:gridCol w="4489235">
                  <a:extLst>
                    <a:ext uri="{9D8B030D-6E8A-4147-A177-3AD203B41FA5}">
                      <a16:colId xmlns:a16="http://schemas.microsoft.com/office/drawing/2014/main" val="3262820602"/>
                    </a:ext>
                  </a:extLst>
                </a:gridCol>
              </a:tblGrid>
              <a:tr h="370840">
                <a:tc>
                  <a:txBody>
                    <a:bodyPr/>
                    <a:lstStyle/>
                    <a:p>
                      <a:r>
                        <a:rPr lang="en-US" sz="1500" dirty="0"/>
                        <a:t>Sector</a:t>
                      </a:r>
                    </a:p>
                  </a:txBody>
                  <a:tcPr anchor="ctr"/>
                </a:tc>
                <a:tc>
                  <a:txBody>
                    <a:bodyPr/>
                    <a:lstStyle/>
                    <a:p>
                      <a:pPr algn="ctr"/>
                      <a:r>
                        <a:rPr lang="en-US" sz="1500" dirty="0"/>
                        <a:t>Highest Inflation</a:t>
                      </a:r>
                    </a:p>
                  </a:txBody>
                  <a:tcPr anchor="ctr"/>
                </a:tc>
                <a:tc>
                  <a:txBody>
                    <a:bodyPr/>
                    <a:lstStyle/>
                    <a:p>
                      <a:pPr algn="ctr"/>
                      <a:r>
                        <a:rPr lang="en-US" sz="1500" dirty="0"/>
                        <a:t>Lowest Inflation</a:t>
                      </a:r>
                    </a:p>
                  </a:txBody>
                  <a:tcPr anchor="ctr"/>
                </a:tc>
                <a:tc rowSpan="4">
                  <a:txBody>
                    <a:bodyPr/>
                    <a:lstStyle/>
                    <a:p>
                      <a:pPr algn="l"/>
                      <a:r>
                        <a:rPr lang="en-US" sz="1500" u="sng" dirty="0">
                          <a:solidFill>
                            <a:schemeClr val="bg1"/>
                          </a:solidFill>
                        </a:rPr>
                        <a:t>Urban areas</a:t>
                      </a:r>
                      <a:r>
                        <a:rPr lang="en-US" sz="1500" dirty="0">
                          <a:solidFill>
                            <a:schemeClr val="bg1"/>
                          </a:solidFill>
                        </a:rPr>
                        <a:t> recorded the </a:t>
                      </a:r>
                      <a:r>
                        <a:rPr lang="en-US" sz="1500" u="sng" dirty="0">
                          <a:solidFill>
                            <a:schemeClr val="bg1"/>
                          </a:solidFill>
                        </a:rPr>
                        <a:t>highest spike (0.63%)</a:t>
                      </a:r>
                      <a:r>
                        <a:rPr lang="en-US" sz="1500" dirty="0">
                          <a:solidFill>
                            <a:schemeClr val="bg1"/>
                          </a:solidFill>
                        </a:rPr>
                        <a:t> while </a:t>
                      </a:r>
                      <a:r>
                        <a:rPr lang="en-US" sz="1500" u="sng" dirty="0">
                          <a:solidFill>
                            <a:schemeClr val="bg1"/>
                          </a:solidFill>
                        </a:rPr>
                        <a:t>rural areas</a:t>
                      </a:r>
                      <a:r>
                        <a:rPr lang="en-US" sz="1500" dirty="0">
                          <a:solidFill>
                            <a:schemeClr val="bg1"/>
                          </a:solidFill>
                        </a:rPr>
                        <a:t> experienced the </a:t>
                      </a:r>
                      <a:r>
                        <a:rPr lang="en-US" sz="1500" u="sng" dirty="0">
                          <a:solidFill>
                            <a:schemeClr val="bg1"/>
                          </a:solidFill>
                        </a:rPr>
                        <a:t>sharpest decline (-0.11%)</a:t>
                      </a:r>
                      <a:r>
                        <a:rPr lang="en-US" sz="1500" dirty="0">
                          <a:solidFill>
                            <a:schemeClr val="bg1"/>
                          </a:solidFill>
                        </a:rPr>
                        <a:t>. Overall other food &amp; intoxicants exhibited significantly </a:t>
                      </a:r>
                      <a:r>
                        <a:rPr lang="en-US" sz="1500" u="none" dirty="0">
                          <a:solidFill>
                            <a:schemeClr val="bg1"/>
                          </a:solidFill>
                        </a:rPr>
                        <a:t>lower volatility</a:t>
                      </a:r>
                      <a:r>
                        <a:rPr lang="en-US" sz="1500" dirty="0">
                          <a:solidFill>
                            <a:schemeClr val="bg1"/>
                          </a:solidFill>
                        </a:rPr>
                        <a:t> compared to basic food items across all sectors. </a:t>
                      </a:r>
                    </a:p>
                  </a:txBody>
                  <a:tcPr anchor="ctr">
                    <a:solidFill>
                      <a:schemeClr val="accent3">
                        <a:lumMod val="75000"/>
                      </a:schemeClr>
                    </a:solidFill>
                  </a:tcPr>
                </a:tc>
                <a:extLst>
                  <a:ext uri="{0D108BD9-81ED-4DB2-BD59-A6C34878D82A}">
                    <a16:rowId xmlns:a16="http://schemas.microsoft.com/office/drawing/2014/main" val="918151907"/>
                  </a:ext>
                </a:extLst>
              </a:tr>
              <a:tr h="370840">
                <a:tc>
                  <a:txBody>
                    <a:bodyPr/>
                    <a:lstStyle/>
                    <a:p>
                      <a:r>
                        <a:rPr lang="en-US" sz="1500" dirty="0"/>
                        <a:t>Rural</a:t>
                      </a:r>
                    </a:p>
                  </a:txBody>
                  <a:tcPr anchor="ctr"/>
                </a:tc>
                <a:tc>
                  <a:txBody>
                    <a:bodyPr/>
                    <a:lstStyle/>
                    <a:p>
                      <a:pPr algn="ctr"/>
                      <a:r>
                        <a:rPr lang="en-US" sz="1500" dirty="0"/>
                        <a:t>0.52%</a:t>
                      </a:r>
                    </a:p>
                  </a:txBody>
                  <a:tcPr anchor="ctr"/>
                </a:tc>
                <a:tc>
                  <a:txBody>
                    <a:bodyPr/>
                    <a:lstStyle/>
                    <a:p>
                      <a:pPr algn="ctr"/>
                      <a:r>
                        <a:rPr lang="en-US" sz="1500" dirty="0"/>
                        <a:t>-0.11%</a:t>
                      </a:r>
                    </a:p>
                  </a:txBody>
                  <a:tcPr anchor="ctr"/>
                </a:tc>
                <a:tc vMerge="1">
                  <a:txBody>
                    <a:bodyPr/>
                    <a:lstStyle/>
                    <a:p>
                      <a:endParaRPr lang="en-US" dirty="0"/>
                    </a:p>
                  </a:txBody>
                  <a:tcPr/>
                </a:tc>
                <a:extLst>
                  <a:ext uri="{0D108BD9-81ED-4DB2-BD59-A6C34878D82A}">
                    <a16:rowId xmlns:a16="http://schemas.microsoft.com/office/drawing/2014/main" val="238245094"/>
                  </a:ext>
                </a:extLst>
              </a:tr>
              <a:tr h="370840">
                <a:tc>
                  <a:txBody>
                    <a:bodyPr/>
                    <a:lstStyle/>
                    <a:p>
                      <a:r>
                        <a:rPr lang="en-US" sz="1500" dirty="0"/>
                        <a:t>Urban</a:t>
                      </a:r>
                    </a:p>
                  </a:txBody>
                  <a:tcPr anchor="ctr"/>
                </a:tc>
                <a:tc>
                  <a:txBody>
                    <a:bodyPr/>
                    <a:lstStyle/>
                    <a:p>
                      <a:pPr algn="ctr"/>
                      <a:r>
                        <a:rPr lang="en-US" sz="1500" dirty="0"/>
                        <a:t>0.63%</a:t>
                      </a:r>
                    </a:p>
                  </a:txBody>
                  <a:tcPr anchor="ctr"/>
                </a:tc>
                <a:tc>
                  <a:txBody>
                    <a:bodyPr/>
                    <a:lstStyle/>
                    <a:p>
                      <a:pPr algn="ctr"/>
                      <a:r>
                        <a:rPr lang="en-US" sz="1500" dirty="0"/>
                        <a:t>-0.10%</a:t>
                      </a:r>
                    </a:p>
                  </a:txBody>
                  <a:tcPr anchor="ctr"/>
                </a:tc>
                <a:tc vMerge="1">
                  <a:txBody>
                    <a:bodyPr/>
                    <a:lstStyle/>
                    <a:p>
                      <a:endParaRPr lang="en-US" dirty="0"/>
                    </a:p>
                  </a:txBody>
                  <a:tcPr/>
                </a:tc>
                <a:extLst>
                  <a:ext uri="{0D108BD9-81ED-4DB2-BD59-A6C34878D82A}">
                    <a16:rowId xmlns:a16="http://schemas.microsoft.com/office/drawing/2014/main" val="2376869826"/>
                  </a:ext>
                </a:extLst>
              </a:tr>
              <a:tr h="370840">
                <a:tc>
                  <a:txBody>
                    <a:bodyPr/>
                    <a:lstStyle/>
                    <a:p>
                      <a:r>
                        <a:rPr lang="en-US" sz="1500" dirty="0"/>
                        <a:t>Rural + Urban</a:t>
                      </a:r>
                    </a:p>
                  </a:txBody>
                  <a:tcPr anchor="ctr"/>
                </a:tc>
                <a:tc>
                  <a:txBody>
                    <a:bodyPr/>
                    <a:lstStyle/>
                    <a:p>
                      <a:pPr algn="ctr"/>
                      <a:r>
                        <a:rPr lang="en-US" sz="1500" dirty="0"/>
                        <a:t>0.57%</a:t>
                      </a:r>
                    </a:p>
                  </a:txBody>
                  <a:tcPr anchor="ctr"/>
                </a:tc>
                <a:tc>
                  <a:txBody>
                    <a:bodyPr/>
                    <a:lstStyle/>
                    <a:p>
                      <a:pPr algn="ctr"/>
                      <a:r>
                        <a:rPr lang="en-US" sz="1500" dirty="0"/>
                        <a:t>-0.10%</a:t>
                      </a:r>
                    </a:p>
                  </a:txBody>
                  <a:tcPr anchor="ctr"/>
                </a:tc>
                <a:tc vMerge="1">
                  <a:txBody>
                    <a:bodyPr/>
                    <a:lstStyle/>
                    <a:p>
                      <a:endParaRPr lang="en-US" dirty="0"/>
                    </a:p>
                  </a:txBody>
                  <a:tcPr/>
                </a:tc>
                <a:extLst>
                  <a:ext uri="{0D108BD9-81ED-4DB2-BD59-A6C34878D82A}">
                    <a16:rowId xmlns:a16="http://schemas.microsoft.com/office/drawing/2014/main" val="546497113"/>
                  </a:ext>
                </a:extLst>
              </a:tr>
            </a:tbl>
          </a:graphicData>
        </a:graphic>
      </p:graphicFrame>
    </p:spTree>
    <p:extLst>
      <p:ext uri="{BB962C8B-B14F-4D97-AF65-F5344CB8AC3E}">
        <p14:creationId xmlns:p14="http://schemas.microsoft.com/office/powerpoint/2010/main" val="1724486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387D-F062-0749-DA59-A7F162859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CBEF8-1D7D-69FC-F2E2-2D735A22952F}"/>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12-Month Food Inflation Trends Across Rural, Urban and Combined Sectors </a:t>
            </a:r>
          </a:p>
        </p:txBody>
      </p:sp>
      <p:sp>
        <p:nvSpPr>
          <p:cNvPr id="5" name="Content Placeholder 2">
            <a:extLst>
              <a:ext uri="{FF2B5EF4-FFF2-40B4-BE49-F238E27FC236}">
                <a16:creationId xmlns:a16="http://schemas.microsoft.com/office/drawing/2014/main" id="{A2481598-7288-1B5D-F6E1-4B2FE9F66D43}"/>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Table 2">
            <a:extLst>
              <a:ext uri="{FF2B5EF4-FFF2-40B4-BE49-F238E27FC236}">
                <a16:creationId xmlns:a16="http://schemas.microsoft.com/office/drawing/2014/main" id="{6F9F0998-BFBE-945F-225A-E06BB0B3AB65}"/>
              </a:ext>
            </a:extLst>
          </p:cNvPr>
          <p:cNvGraphicFramePr>
            <a:graphicFrameLocks noGrp="1"/>
          </p:cNvGraphicFramePr>
          <p:nvPr>
            <p:extLst>
              <p:ext uri="{D42A27DB-BD31-4B8C-83A1-F6EECF244321}">
                <p14:modId xmlns:p14="http://schemas.microsoft.com/office/powerpoint/2010/main" val="1499626542"/>
              </p:ext>
            </p:extLst>
          </p:nvPr>
        </p:nvGraphicFramePr>
        <p:xfrm>
          <a:off x="294572" y="731935"/>
          <a:ext cx="8929209" cy="6005826"/>
        </p:xfrm>
        <a:graphic>
          <a:graphicData uri="http://schemas.openxmlformats.org/drawingml/2006/table">
            <a:tbl>
              <a:tblPr firstRow="1" bandRow="1">
                <a:tableStyleId>{5940675A-B579-460E-94D1-54222C63F5DA}</a:tableStyleId>
              </a:tblPr>
              <a:tblGrid>
                <a:gridCol w="1785842">
                  <a:extLst>
                    <a:ext uri="{9D8B030D-6E8A-4147-A177-3AD203B41FA5}">
                      <a16:colId xmlns:a16="http://schemas.microsoft.com/office/drawing/2014/main" val="283849623"/>
                    </a:ext>
                  </a:extLst>
                </a:gridCol>
                <a:gridCol w="1807279">
                  <a:extLst>
                    <a:ext uri="{9D8B030D-6E8A-4147-A177-3AD203B41FA5}">
                      <a16:colId xmlns:a16="http://schemas.microsoft.com/office/drawing/2014/main" val="2615164527"/>
                    </a:ext>
                  </a:extLst>
                </a:gridCol>
                <a:gridCol w="1764404">
                  <a:extLst>
                    <a:ext uri="{9D8B030D-6E8A-4147-A177-3AD203B41FA5}">
                      <a16:colId xmlns:a16="http://schemas.microsoft.com/office/drawing/2014/main" val="1273449658"/>
                    </a:ext>
                  </a:extLst>
                </a:gridCol>
                <a:gridCol w="1785842">
                  <a:extLst>
                    <a:ext uri="{9D8B030D-6E8A-4147-A177-3AD203B41FA5}">
                      <a16:colId xmlns:a16="http://schemas.microsoft.com/office/drawing/2014/main" val="3042750487"/>
                    </a:ext>
                  </a:extLst>
                </a:gridCol>
                <a:gridCol w="1785842">
                  <a:extLst>
                    <a:ext uri="{9D8B030D-6E8A-4147-A177-3AD203B41FA5}">
                      <a16:colId xmlns:a16="http://schemas.microsoft.com/office/drawing/2014/main" val="1466365472"/>
                    </a:ext>
                  </a:extLst>
                </a:gridCol>
              </a:tblGrid>
              <a:tr h="622418">
                <a:tc>
                  <a:txBody>
                    <a:bodyPr/>
                    <a:lstStyle/>
                    <a:p>
                      <a:r>
                        <a:rPr lang="en-US" dirty="0"/>
                        <a:t>Broader Category</a:t>
                      </a:r>
                    </a:p>
                  </a:txBody>
                  <a:tcPr anchor="ctr"/>
                </a:tc>
                <a:tc>
                  <a:txBody>
                    <a:bodyPr/>
                    <a:lstStyle/>
                    <a:p>
                      <a:pPr lvl="1"/>
                      <a:r>
                        <a:rPr lang="en-US" dirty="0"/>
                        <a:t>Category</a:t>
                      </a:r>
                    </a:p>
                  </a:txBody>
                  <a:tcPr anchor="ctr"/>
                </a:tc>
                <a:tc>
                  <a:txBody>
                    <a:bodyPr/>
                    <a:lstStyle/>
                    <a:p>
                      <a:pPr algn="ctr"/>
                      <a:r>
                        <a:rPr lang="en-US" dirty="0"/>
                        <a:t>Rural</a:t>
                      </a:r>
                    </a:p>
                  </a:txBody>
                  <a:tcPr anchor="ctr"/>
                </a:tc>
                <a:tc>
                  <a:txBody>
                    <a:bodyPr/>
                    <a:lstStyle/>
                    <a:p>
                      <a:pPr algn="ctr"/>
                      <a:r>
                        <a:rPr lang="en-US" dirty="0"/>
                        <a:t>Urban</a:t>
                      </a:r>
                    </a:p>
                  </a:txBody>
                  <a:tcPr anchor="ctr"/>
                </a:tc>
                <a:tc>
                  <a:txBody>
                    <a:bodyPr/>
                    <a:lstStyle/>
                    <a:p>
                      <a:pPr algn="ctr"/>
                      <a:r>
                        <a:rPr lang="en-US" dirty="0"/>
                        <a:t>Rural + Urban</a:t>
                      </a:r>
                    </a:p>
                  </a:txBody>
                  <a:tcPr anchor="ctr"/>
                </a:tc>
                <a:extLst>
                  <a:ext uri="{0D108BD9-81ED-4DB2-BD59-A6C34878D82A}">
                    <a16:rowId xmlns:a16="http://schemas.microsoft.com/office/drawing/2014/main" val="308614509"/>
                  </a:ext>
                </a:extLst>
              </a:tr>
              <a:tr h="392433">
                <a:tc rowSpan="9">
                  <a:txBody>
                    <a:bodyPr/>
                    <a:lstStyle/>
                    <a:p>
                      <a:pPr algn="l"/>
                      <a:r>
                        <a:rPr lang="en-US" dirty="0"/>
                        <a:t>Basic Food Items</a:t>
                      </a:r>
                    </a:p>
                  </a:txBody>
                  <a:tcPr anchor="ctr">
                    <a:solidFill>
                      <a:srgbClr val="FCE4D6"/>
                    </a:solidFill>
                  </a:tcPr>
                </a:tc>
                <a:tc>
                  <a:txBody>
                    <a:bodyPr/>
                    <a:lstStyle/>
                    <a:p>
                      <a:pPr lvl="0" algn="ctr" fontAlgn="b">
                        <a:buNone/>
                      </a:pPr>
                      <a:r>
                        <a:rPr lang="en-US" sz="1300" b="0" u="none" strike="noStrike" dirty="0">
                          <a:solidFill>
                            <a:srgbClr val="000000"/>
                          </a:solidFill>
                          <a:effectLst/>
                        </a:rPr>
                        <a:t>Cereals and products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dirty="0">
                          <a:solidFill>
                            <a:srgbClr val="000000"/>
                          </a:solidFill>
                          <a:effectLst/>
                          <a:highlight>
                            <a:srgbClr val="ED7D31"/>
                          </a:highlight>
                          <a:latin typeface="Calibri" panose="020F0502020204030204" pitchFamily="34" charset="0"/>
                        </a:rPr>
                        <a:t>13.28%</a:t>
                      </a:r>
                    </a:p>
                  </a:txBody>
                  <a:tcPr marL="0" marR="0" marT="0" marB="0" anchor="ctr"/>
                </a:tc>
                <a:tc>
                  <a:txBody>
                    <a:bodyPr/>
                    <a:lstStyle/>
                    <a:p>
                      <a:pPr algn="ctr" fontAlgn="b">
                        <a:buNone/>
                      </a:pPr>
                      <a:r>
                        <a:rPr lang="en-US" sz="1300" b="0" i="0" u="none" strike="noStrike" dirty="0">
                          <a:solidFill>
                            <a:srgbClr val="000000"/>
                          </a:solidFill>
                          <a:effectLst/>
                          <a:highlight>
                            <a:srgbClr val="ED7D31"/>
                          </a:highlight>
                          <a:latin typeface="Calibri" panose="020F0502020204030204" pitchFamily="34" charset="0"/>
                        </a:rPr>
                        <a:t>11.49%</a:t>
                      </a:r>
                    </a:p>
                  </a:txBody>
                  <a:tcPr marL="0" marR="0" marT="0" marB="0" anchor="ctr"/>
                </a:tc>
                <a:tc>
                  <a:txBody>
                    <a:bodyPr/>
                    <a:lstStyle/>
                    <a:p>
                      <a:pPr algn="ctr" fontAlgn="b">
                        <a:buNone/>
                      </a:pPr>
                      <a:r>
                        <a:rPr lang="en-US" sz="1300" b="0" i="0" u="none" strike="noStrike" dirty="0">
                          <a:solidFill>
                            <a:srgbClr val="000000"/>
                          </a:solidFill>
                          <a:effectLst/>
                          <a:highlight>
                            <a:srgbClr val="ED7D31"/>
                          </a:highlight>
                          <a:latin typeface="Calibri" panose="020F0502020204030204" pitchFamily="34" charset="0"/>
                        </a:rPr>
                        <a:t>12.72%</a:t>
                      </a:r>
                    </a:p>
                  </a:txBody>
                  <a:tcPr marL="0" marR="0" marT="0" marB="0" anchor="ctr"/>
                </a:tc>
                <a:extLst>
                  <a:ext uri="{0D108BD9-81ED-4DB2-BD59-A6C34878D82A}">
                    <a16:rowId xmlns:a16="http://schemas.microsoft.com/office/drawing/2014/main" val="2725314205"/>
                  </a:ext>
                </a:extLst>
              </a:tr>
              <a:tr h="363345">
                <a:tc vMerge="1">
                  <a:txBody>
                    <a:bodyPr/>
                    <a:lstStyle/>
                    <a:p>
                      <a:endParaRPr lang="en-US" dirty="0"/>
                    </a:p>
                  </a:txBody>
                  <a:tcPr/>
                </a:tc>
                <a:tc>
                  <a:txBody>
                    <a:bodyPr/>
                    <a:lstStyle/>
                    <a:p>
                      <a:pPr lvl="0" algn="ctr" fontAlgn="b">
                        <a:buNone/>
                      </a:pPr>
                      <a:r>
                        <a:rPr lang="en-US" sz="1300" b="0" u="none" strike="noStrike" dirty="0">
                          <a:solidFill>
                            <a:srgbClr val="000000"/>
                          </a:solidFill>
                          <a:effectLst/>
                        </a:rPr>
                        <a:t>Meat and fish</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-1.49%</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-0.81%</a:t>
                      </a: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-1.24%</a:t>
                      </a:r>
                    </a:p>
                  </a:txBody>
                  <a:tcPr marL="0" marR="0" marT="0" marB="0" anchor="ctr"/>
                </a:tc>
                <a:extLst>
                  <a:ext uri="{0D108BD9-81ED-4DB2-BD59-A6C34878D82A}">
                    <a16:rowId xmlns:a16="http://schemas.microsoft.com/office/drawing/2014/main" val="2976938402"/>
                  </a:ext>
                </a:extLst>
              </a:tr>
              <a:tr h="363345">
                <a:tc vMerge="1">
                  <a:txBody>
                    <a:bodyPr/>
                    <a:lstStyle/>
                    <a:p>
                      <a:endParaRPr lang="en-US" dirty="0"/>
                    </a:p>
                  </a:txBody>
                  <a:tcPr/>
                </a:tc>
                <a:tc>
                  <a:txBody>
                    <a:bodyPr/>
                    <a:lstStyle/>
                    <a:p>
                      <a:pPr lvl="0" algn="ctr" fontAlgn="b">
                        <a:buNone/>
                      </a:pPr>
                      <a:r>
                        <a:rPr lang="en-US" sz="1300" b="0" u="none" strike="noStrike" dirty="0">
                          <a:solidFill>
                            <a:srgbClr val="000000"/>
                          </a:solidFill>
                          <a:effectLst/>
                        </a:rPr>
                        <a:t>Egg</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5.95%</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7.68%</a:t>
                      </a: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6.65%</a:t>
                      </a:r>
                    </a:p>
                  </a:txBody>
                  <a:tcPr marL="0" marR="0" marT="0" marB="0" anchor="ctr"/>
                </a:tc>
                <a:extLst>
                  <a:ext uri="{0D108BD9-81ED-4DB2-BD59-A6C34878D82A}">
                    <a16:rowId xmlns:a16="http://schemas.microsoft.com/office/drawing/2014/main" val="3238351389"/>
                  </a:ext>
                </a:extLst>
              </a:tr>
              <a:tr h="363345">
                <a:tc vMerge="1">
                  <a:txBody>
                    <a:bodyPr/>
                    <a:lstStyle/>
                    <a:p>
                      <a:endParaRPr lang="en-US" dirty="0"/>
                    </a:p>
                  </a:txBody>
                  <a:tcPr/>
                </a:tc>
                <a:tc>
                  <a:txBody>
                    <a:bodyPr/>
                    <a:lstStyle/>
                    <a:p>
                      <a:pPr lvl="0" algn="ctr" fontAlgn="b">
                        <a:buNone/>
                      </a:pPr>
                      <a:r>
                        <a:rPr lang="en-US" sz="1300" b="0" u="none" strike="noStrike" dirty="0">
                          <a:solidFill>
                            <a:srgbClr val="000000"/>
                          </a:solidFill>
                          <a:effectLst/>
                        </a:rPr>
                        <a:t>Milk and products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9.11%</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8.46%</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8.85%</a:t>
                      </a:r>
                    </a:p>
                  </a:txBody>
                  <a:tcPr marL="0" marR="0" marT="0" marB="0" anchor="ctr"/>
                </a:tc>
                <a:extLst>
                  <a:ext uri="{0D108BD9-81ED-4DB2-BD59-A6C34878D82A}">
                    <a16:rowId xmlns:a16="http://schemas.microsoft.com/office/drawing/2014/main" val="1458784085"/>
                  </a:ext>
                </a:extLst>
              </a:tr>
              <a:tr h="363345">
                <a:tc vMerge="1">
                  <a:txBody>
                    <a:bodyPr/>
                    <a:lstStyle/>
                    <a:p>
                      <a:endParaRPr lang="en-US" dirty="0"/>
                    </a:p>
                  </a:txBody>
                  <a:tcPr/>
                </a:tc>
                <a:tc>
                  <a:txBody>
                    <a:bodyPr/>
                    <a:lstStyle/>
                    <a:p>
                      <a:pPr lvl="0" algn="ctr" fontAlgn="b">
                        <a:buNone/>
                      </a:pPr>
                      <a:r>
                        <a:rPr lang="en-US" sz="1300" b="0" u="none" strike="noStrike" dirty="0">
                          <a:solidFill>
                            <a:srgbClr val="000000"/>
                          </a:solidFill>
                          <a:effectLst/>
                        </a:rPr>
                        <a:t>Oils and fats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dirty="0">
                          <a:solidFill>
                            <a:srgbClr val="000000"/>
                          </a:solidFill>
                          <a:effectLst/>
                          <a:highlight>
                            <a:srgbClr val="00FF00"/>
                          </a:highlight>
                          <a:latin typeface="Calibri" panose="020F0502020204030204" pitchFamily="34" charset="0"/>
                        </a:rPr>
                        <a:t>-17.44%</a:t>
                      </a:r>
                    </a:p>
                  </a:txBody>
                  <a:tcPr marL="0" marR="0" marT="0" marB="0" anchor="ctr"/>
                </a:tc>
                <a:tc>
                  <a:txBody>
                    <a:bodyPr/>
                    <a:lstStyle/>
                    <a:p>
                      <a:pPr algn="ctr" fontAlgn="b">
                        <a:buNone/>
                      </a:pPr>
                      <a:r>
                        <a:rPr lang="en-US" sz="1300" b="0" i="0" u="none" strike="noStrike" dirty="0">
                          <a:solidFill>
                            <a:srgbClr val="000000"/>
                          </a:solidFill>
                          <a:effectLst/>
                          <a:highlight>
                            <a:srgbClr val="00FF00"/>
                          </a:highlight>
                          <a:latin typeface="Calibri" panose="020F0502020204030204" pitchFamily="34" charset="0"/>
                        </a:rPr>
                        <a:t>-13.25%</a:t>
                      </a:r>
                    </a:p>
                  </a:txBody>
                  <a:tcPr marL="0" marR="0" marT="0" marB="0" anchor="ctr"/>
                </a:tc>
                <a:tc>
                  <a:txBody>
                    <a:bodyPr/>
                    <a:lstStyle/>
                    <a:p>
                      <a:pPr algn="ctr" fontAlgn="b">
                        <a:buNone/>
                      </a:pPr>
                      <a:r>
                        <a:rPr lang="en-US" sz="1300" b="0" i="0" u="none" strike="noStrike" dirty="0">
                          <a:solidFill>
                            <a:srgbClr val="000000"/>
                          </a:solidFill>
                          <a:effectLst/>
                          <a:highlight>
                            <a:srgbClr val="00FF00"/>
                          </a:highlight>
                          <a:latin typeface="Calibri" panose="020F0502020204030204" pitchFamily="34" charset="0"/>
                        </a:rPr>
                        <a:t>-16.01%</a:t>
                      </a:r>
                    </a:p>
                  </a:txBody>
                  <a:tcPr marL="0" marR="0" marT="0" marB="0" anchor="ctr"/>
                </a:tc>
                <a:extLst>
                  <a:ext uri="{0D108BD9-81ED-4DB2-BD59-A6C34878D82A}">
                    <a16:rowId xmlns:a16="http://schemas.microsoft.com/office/drawing/2014/main" val="3179746108"/>
                  </a:ext>
                </a:extLst>
              </a:tr>
              <a:tr h="363345">
                <a:tc vMerge="1">
                  <a:txBody>
                    <a:bodyPr/>
                    <a:lstStyle/>
                    <a:p>
                      <a:endParaRPr lang="en-US" dirty="0"/>
                    </a:p>
                  </a:txBody>
                  <a:tcPr/>
                </a:tc>
                <a:tc>
                  <a:txBody>
                    <a:bodyPr/>
                    <a:lstStyle/>
                    <a:p>
                      <a:pPr lvl="0" algn="ctr" fontAlgn="b">
                        <a:buNone/>
                      </a:pPr>
                      <a:r>
                        <a:rPr lang="en-US" sz="1300" b="0" u="none" strike="noStrike" dirty="0">
                          <a:solidFill>
                            <a:srgbClr val="000000"/>
                          </a:solidFill>
                          <a:effectLst/>
                        </a:rPr>
                        <a:t>Fruits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0.60%</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0.74%</a:t>
                      </a: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0.70%</a:t>
                      </a:r>
                    </a:p>
                  </a:txBody>
                  <a:tcPr marL="0" marR="0" marT="0" marB="0" anchor="ctr"/>
                </a:tc>
                <a:extLst>
                  <a:ext uri="{0D108BD9-81ED-4DB2-BD59-A6C34878D82A}">
                    <a16:rowId xmlns:a16="http://schemas.microsoft.com/office/drawing/2014/main" val="1968879803"/>
                  </a:ext>
                </a:extLst>
              </a:tr>
              <a:tr h="363345">
                <a:tc vMerge="1">
                  <a:txBody>
                    <a:bodyPr/>
                    <a:lstStyle/>
                    <a:p>
                      <a:endParaRPr lang="en-US" dirty="0"/>
                    </a:p>
                  </a:txBody>
                  <a:tcPr/>
                </a:tc>
                <a:tc>
                  <a:txBody>
                    <a:bodyPr/>
                    <a:lstStyle/>
                    <a:p>
                      <a:pPr lvl="0" algn="ctr" fontAlgn="b">
                        <a:buNone/>
                      </a:pPr>
                      <a:r>
                        <a:rPr lang="en-US" sz="1300" b="0" u="none" strike="noStrike" dirty="0">
                          <a:solidFill>
                            <a:srgbClr val="000000"/>
                          </a:solidFill>
                          <a:effectLst/>
                        </a:rPr>
                        <a:t>Vegetables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dirty="0">
                          <a:solidFill>
                            <a:srgbClr val="000000"/>
                          </a:solidFill>
                          <a:effectLst/>
                          <a:highlight>
                            <a:srgbClr val="00FF00"/>
                          </a:highlight>
                          <a:latin typeface="Calibri" panose="020F0502020204030204" pitchFamily="34" charset="0"/>
                        </a:rPr>
                        <a:t>-7.29%</a:t>
                      </a:r>
                    </a:p>
                  </a:txBody>
                  <a:tcPr marL="0" marR="0" marT="0" marB="0" anchor="ctr"/>
                </a:tc>
                <a:tc>
                  <a:txBody>
                    <a:bodyPr/>
                    <a:lstStyle/>
                    <a:p>
                      <a:pPr algn="ctr" fontAlgn="b">
                        <a:buNone/>
                      </a:pPr>
                      <a:r>
                        <a:rPr lang="en-US" sz="1300" b="0" i="0" u="none" strike="noStrike" dirty="0">
                          <a:solidFill>
                            <a:srgbClr val="000000"/>
                          </a:solidFill>
                          <a:effectLst/>
                          <a:highlight>
                            <a:srgbClr val="00FF00"/>
                          </a:highlight>
                          <a:latin typeface="Calibri" panose="020F0502020204030204" pitchFamily="34" charset="0"/>
                        </a:rPr>
                        <a:t>-8.96%</a:t>
                      </a:r>
                    </a:p>
                  </a:txBody>
                  <a:tcPr marL="0" marR="0" marT="0" marB="0" anchor="ctr"/>
                </a:tc>
                <a:tc>
                  <a:txBody>
                    <a:bodyPr/>
                    <a:lstStyle/>
                    <a:p>
                      <a:pPr algn="ctr" fontAlgn="b">
                        <a:buNone/>
                      </a:pPr>
                      <a:r>
                        <a:rPr lang="en-US" sz="1300" b="0" i="0" u="none" strike="noStrike" dirty="0">
                          <a:solidFill>
                            <a:srgbClr val="000000"/>
                          </a:solidFill>
                          <a:effectLst/>
                          <a:highlight>
                            <a:srgbClr val="00FF00"/>
                          </a:highlight>
                          <a:latin typeface="Calibri" panose="020F0502020204030204" pitchFamily="34" charset="0"/>
                        </a:rPr>
                        <a:t>-7.95%</a:t>
                      </a:r>
                    </a:p>
                  </a:txBody>
                  <a:tcPr marL="0" marR="0" marT="0" marB="0" anchor="ctr"/>
                </a:tc>
                <a:extLst>
                  <a:ext uri="{0D108BD9-81ED-4DB2-BD59-A6C34878D82A}">
                    <a16:rowId xmlns:a16="http://schemas.microsoft.com/office/drawing/2014/main" val="2703829271"/>
                  </a:ext>
                </a:extLst>
              </a:tr>
              <a:tr h="385306">
                <a:tc vMerge="1">
                  <a:txBody>
                    <a:bodyPr/>
                    <a:lstStyle/>
                    <a:p>
                      <a:endParaRPr lang="en-US" dirty="0"/>
                    </a:p>
                  </a:txBody>
                  <a:tcPr/>
                </a:tc>
                <a:tc>
                  <a:txBody>
                    <a:bodyPr/>
                    <a:lstStyle/>
                    <a:p>
                      <a:pPr lvl="0" algn="ctr" fontAlgn="b">
                        <a:buNone/>
                      </a:pPr>
                      <a:r>
                        <a:rPr lang="en-US" sz="1300" b="0" u="none" strike="noStrike" dirty="0">
                          <a:solidFill>
                            <a:srgbClr val="000000"/>
                          </a:solidFill>
                          <a:effectLst/>
                        </a:rPr>
                        <a:t>Pulses and products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6.00%</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7.80%</a:t>
                      </a: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6.62%</a:t>
                      </a:r>
                    </a:p>
                  </a:txBody>
                  <a:tcPr marL="0" marR="0" marT="0" marB="0" anchor="ctr"/>
                </a:tc>
                <a:extLst>
                  <a:ext uri="{0D108BD9-81ED-4DB2-BD59-A6C34878D82A}">
                    <a16:rowId xmlns:a16="http://schemas.microsoft.com/office/drawing/2014/main" val="3161533042"/>
                  </a:ext>
                </a:extLst>
              </a:tr>
              <a:tr h="363345">
                <a:tc vMerge="1">
                  <a:txBody>
                    <a:bodyPr/>
                    <a:lstStyle/>
                    <a:p>
                      <a:endParaRPr lang="en-US" dirty="0"/>
                    </a:p>
                  </a:txBody>
                  <a:tcPr/>
                </a:tc>
                <a:tc>
                  <a:txBody>
                    <a:bodyPr/>
                    <a:lstStyle/>
                    <a:p>
                      <a:pPr lvl="0" algn="ctr" fontAlgn="b">
                        <a:buNone/>
                      </a:pPr>
                      <a:r>
                        <a:rPr lang="en-US" sz="1300" b="0" u="none" strike="noStrike" dirty="0">
                          <a:solidFill>
                            <a:srgbClr val="000000"/>
                          </a:solidFill>
                          <a:effectLst/>
                        </a:rPr>
                        <a:t>Spices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dirty="0">
                          <a:solidFill>
                            <a:srgbClr val="000000"/>
                          </a:solidFill>
                          <a:effectLst/>
                          <a:highlight>
                            <a:srgbClr val="FF0000"/>
                          </a:highlight>
                          <a:latin typeface="Calibri" panose="020F0502020204030204" pitchFamily="34" charset="0"/>
                        </a:rPr>
                        <a:t>18.44%</a:t>
                      </a:r>
                    </a:p>
                  </a:txBody>
                  <a:tcPr marL="0" marR="0" marT="0" marB="0" anchor="ctr"/>
                </a:tc>
                <a:tc>
                  <a:txBody>
                    <a:bodyPr/>
                    <a:lstStyle/>
                    <a:p>
                      <a:pPr algn="ctr" fontAlgn="b">
                        <a:buNone/>
                      </a:pPr>
                      <a:r>
                        <a:rPr lang="en-US" sz="1300" b="0" i="0" u="none" strike="noStrike" dirty="0">
                          <a:solidFill>
                            <a:srgbClr val="000000"/>
                          </a:solidFill>
                          <a:effectLst/>
                          <a:highlight>
                            <a:srgbClr val="FF0000"/>
                          </a:highlight>
                          <a:latin typeface="Calibri" panose="020F0502020204030204" pitchFamily="34" charset="0"/>
                        </a:rPr>
                        <a:t>16.81%</a:t>
                      </a:r>
                    </a:p>
                  </a:txBody>
                  <a:tcPr marL="0" marR="0" marT="0" marB="0" anchor="ctr"/>
                </a:tc>
                <a:tc>
                  <a:txBody>
                    <a:bodyPr/>
                    <a:lstStyle/>
                    <a:p>
                      <a:pPr algn="ctr" fontAlgn="b">
                        <a:buNone/>
                      </a:pPr>
                      <a:r>
                        <a:rPr lang="en-US" sz="1300" b="0" i="0" u="none" strike="noStrike" dirty="0">
                          <a:solidFill>
                            <a:srgbClr val="000000"/>
                          </a:solidFill>
                          <a:effectLst/>
                          <a:highlight>
                            <a:srgbClr val="FF0000"/>
                          </a:highlight>
                          <a:latin typeface="Calibri" panose="020F0502020204030204" pitchFamily="34" charset="0"/>
                        </a:rPr>
                        <a:t>17.90%</a:t>
                      </a:r>
                    </a:p>
                  </a:txBody>
                  <a:tcPr marL="0" marR="0" marT="0" marB="0" anchor="ctr"/>
                </a:tc>
                <a:extLst>
                  <a:ext uri="{0D108BD9-81ED-4DB2-BD59-A6C34878D82A}">
                    <a16:rowId xmlns:a16="http://schemas.microsoft.com/office/drawing/2014/main" val="794861896"/>
                  </a:ext>
                </a:extLst>
              </a:tr>
              <a:tr h="413512">
                <a:tc rowSpan="5">
                  <a:txBody>
                    <a:bodyPr/>
                    <a:lstStyle/>
                    <a:p>
                      <a:r>
                        <a:rPr lang="en-US" dirty="0"/>
                        <a:t>Other Food &amp; Intoxicants</a:t>
                      </a:r>
                    </a:p>
                  </a:txBody>
                  <a:tcPr anchor="ctr">
                    <a:solidFill>
                      <a:srgbClr val="B4C6E7"/>
                    </a:solidFill>
                  </a:tcPr>
                </a:tc>
                <a:tc>
                  <a:txBody>
                    <a:bodyPr/>
                    <a:lstStyle/>
                    <a:p>
                      <a:pPr lvl="0" algn="ctr" fontAlgn="b">
                        <a:buNone/>
                      </a:pPr>
                      <a:r>
                        <a:rPr lang="en-US" sz="1300" b="0" u="none" strike="noStrike" dirty="0">
                          <a:solidFill>
                            <a:srgbClr val="000000"/>
                          </a:solidFill>
                          <a:effectLst/>
                        </a:rPr>
                        <a:t>Sugar and Confectionery</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2.52%</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2.48%</a:t>
                      </a: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2.51%</a:t>
                      </a:r>
                    </a:p>
                  </a:txBody>
                  <a:tcPr marL="0" marR="0" marT="0" marB="0" anchor="ctr"/>
                </a:tc>
                <a:extLst>
                  <a:ext uri="{0D108BD9-81ED-4DB2-BD59-A6C34878D82A}">
                    <a16:rowId xmlns:a16="http://schemas.microsoft.com/office/drawing/2014/main" val="2101367201"/>
                  </a:ext>
                </a:extLst>
              </a:tr>
              <a:tr h="413512">
                <a:tc vMerge="1">
                  <a:txBody>
                    <a:bodyPr/>
                    <a:lstStyle/>
                    <a:p>
                      <a:endParaRPr lang="en-US" dirty="0"/>
                    </a:p>
                  </a:txBody>
                  <a:tcPr/>
                </a:tc>
                <a:tc>
                  <a:txBody>
                    <a:bodyPr/>
                    <a:lstStyle/>
                    <a:p>
                      <a:pPr lvl="0" algn="ctr" fontAlgn="b">
                        <a:buNone/>
                      </a:pPr>
                      <a:r>
                        <a:rPr lang="en-US" sz="1300" b="0" u="none" strike="noStrike" dirty="0">
                          <a:solidFill>
                            <a:srgbClr val="000000"/>
                          </a:solidFill>
                          <a:effectLst/>
                        </a:rPr>
                        <a:t>Non-alcoholic beverages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3.18%</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4.67%</a:t>
                      </a: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3.77%</a:t>
                      </a:r>
                    </a:p>
                  </a:txBody>
                  <a:tcPr marL="0" marR="0" marT="0" marB="0" anchor="ctr"/>
                </a:tc>
                <a:extLst>
                  <a:ext uri="{0D108BD9-81ED-4DB2-BD59-A6C34878D82A}">
                    <a16:rowId xmlns:a16="http://schemas.microsoft.com/office/drawing/2014/main" val="3999437335"/>
                  </a:ext>
                </a:extLst>
              </a:tr>
              <a:tr h="416131">
                <a:tc vMerge="1">
                  <a:txBody>
                    <a:bodyPr/>
                    <a:lstStyle/>
                    <a:p>
                      <a:endParaRPr lang="en-US" dirty="0"/>
                    </a:p>
                  </a:txBody>
                  <a:tcPr/>
                </a:tc>
                <a:tc>
                  <a:txBody>
                    <a:bodyPr/>
                    <a:lstStyle/>
                    <a:p>
                      <a:pPr lvl="0" algn="ctr" fontAlgn="b">
                        <a:buNone/>
                      </a:pPr>
                      <a:r>
                        <a:rPr lang="en-US" sz="1300" b="0" u="none" strike="noStrike" dirty="0">
                          <a:solidFill>
                            <a:srgbClr val="000000"/>
                          </a:solidFill>
                          <a:effectLst/>
                        </a:rPr>
                        <a:t>Prepared meals, snacks, sweets, etc.</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5.93%</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6.92%</a:t>
                      </a: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6.41%</a:t>
                      </a:r>
                    </a:p>
                  </a:txBody>
                  <a:tcPr marL="0" marR="0" marT="0" marB="0" anchor="ctr"/>
                </a:tc>
                <a:extLst>
                  <a:ext uri="{0D108BD9-81ED-4DB2-BD59-A6C34878D82A}">
                    <a16:rowId xmlns:a16="http://schemas.microsoft.com/office/drawing/2014/main" val="3627087003"/>
                  </a:ext>
                </a:extLst>
              </a:tr>
              <a:tr h="385306">
                <a:tc vMerge="1">
                  <a:txBody>
                    <a:bodyPr/>
                    <a:lstStyle/>
                    <a:p>
                      <a:endParaRPr lang="en-US" dirty="0"/>
                    </a:p>
                  </a:txBody>
                  <a:tcPr/>
                </a:tc>
                <a:tc>
                  <a:txBody>
                    <a:bodyPr/>
                    <a:lstStyle/>
                    <a:p>
                      <a:pPr lvl="0" algn="ctr" fontAlgn="b">
                        <a:buNone/>
                      </a:pPr>
                      <a:r>
                        <a:rPr lang="en-US" sz="1300" b="0" u="none" strike="noStrike" dirty="0">
                          <a:solidFill>
                            <a:srgbClr val="000000"/>
                          </a:solidFill>
                          <a:effectLst/>
                        </a:rPr>
                        <a:t>Food and beverages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a:solidFill>
                            <a:srgbClr val="000000"/>
                          </a:solidFill>
                          <a:effectLst/>
                          <a:latin typeface="Calibri" panose="020F0502020204030204" pitchFamily="34" charset="0"/>
                        </a:rPr>
                        <a:t>3.51%</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3.15%</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3.35%</a:t>
                      </a:r>
                    </a:p>
                  </a:txBody>
                  <a:tcPr marL="0" marR="0" marT="0" marB="0" anchor="ctr"/>
                </a:tc>
                <a:extLst>
                  <a:ext uri="{0D108BD9-81ED-4DB2-BD59-A6C34878D82A}">
                    <a16:rowId xmlns:a16="http://schemas.microsoft.com/office/drawing/2014/main" val="394299589"/>
                  </a:ext>
                </a:extLst>
              </a:tr>
              <a:tr h="416131">
                <a:tc vMerge="1">
                  <a:txBody>
                    <a:bodyPr/>
                    <a:lstStyle/>
                    <a:p>
                      <a:endParaRPr lang="en-US" dirty="0"/>
                    </a:p>
                  </a:txBody>
                  <a:tcPr/>
                </a:tc>
                <a:tc>
                  <a:txBody>
                    <a:bodyPr/>
                    <a:lstStyle/>
                    <a:p>
                      <a:pPr lvl="0" algn="ctr" fontAlgn="b">
                        <a:buNone/>
                      </a:pPr>
                      <a:r>
                        <a:rPr lang="en-US" sz="1300" b="0" u="none" strike="noStrike" dirty="0">
                          <a:solidFill>
                            <a:srgbClr val="000000"/>
                          </a:solidFill>
                          <a:effectLst/>
                        </a:rPr>
                        <a:t>Pan, tobacco, and intoxicants</a:t>
                      </a:r>
                      <a:endParaRPr lang="en-US" sz="13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3.63%</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3.39%</a:t>
                      </a:r>
                    </a:p>
                  </a:txBody>
                  <a:tcPr marL="0" marR="0" marT="0" marB="0" anchor="ctr"/>
                </a:tc>
                <a:tc>
                  <a:txBody>
                    <a:bodyPr/>
                    <a:lstStyle/>
                    <a:p>
                      <a:pPr algn="ctr" fontAlgn="b">
                        <a:buNone/>
                      </a:pPr>
                      <a:r>
                        <a:rPr lang="en-US" sz="1300" b="0" i="0" u="none" strike="noStrike" dirty="0">
                          <a:solidFill>
                            <a:srgbClr val="000000"/>
                          </a:solidFill>
                          <a:effectLst/>
                          <a:latin typeface="Calibri" panose="020F0502020204030204" pitchFamily="34" charset="0"/>
                        </a:rPr>
                        <a:t>3.55%</a:t>
                      </a:r>
                    </a:p>
                  </a:txBody>
                  <a:tcPr marL="0" marR="0" marT="0" marB="0" anchor="ctr"/>
                </a:tc>
                <a:extLst>
                  <a:ext uri="{0D108BD9-81ED-4DB2-BD59-A6C34878D82A}">
                    <a16:rowId xmlns:a16="http://schemas.microsoft.com/office/drawing/2014/main" val="522213610"/>
                  </a:ext>
                </a:extLst>
              </a:tr>
            </a:tbl>
          </a:graphicData>
        </a:graphic>
      </p:graphicFrame>
      <p:sp>
        <p:nvSpPr>
          <p:cNvPr id="4" name="Content Placeholder 2">
            <a:extLst>
              <a:ext uri="{FF2B5EF4-FFF2-40B4-BE49-F238E27FC236}">
                <a16:creationId xmlns:a16="http://schemas.microsoft.com/office/drawing/2014/main" id="{3138417D-D724-B53C-5402-BFA8E3928259}"/>
              </a:ext>
            </a:extLst>
          </p:cNvPr>
          <p:cNvSpPr txBox="1">
            <a:spLocks/>
          </p:cNvSpPr>
          <p:nvPr/>
        </p:nvSpPr>
        <p:spPr>
          <a:xfrm>
            <a:off x="9334460" y="736269"/>
            <a:ext cx="2814805"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Note</a:t>
            </a:r>
          </a:p>
          <a:p>
            <a:pPr marL="0" indent="0">
              <a:lnSpc>
                <a:spcPct val="10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   Highest Inflation: Spices</a:t>
            </a:r>
          </a:p>
          <a:p>
            <a:pPr marL="0" indent="0">
              <a:lnSpc>
                <a:spcPct val="100000"/>
              </a:lnSpc>
              <a:spcBef>
                <a:spcPts val="1200"/>
              </a:spcBef>
              <a:buNone/>
            </a:pPr>
            <a:r>
              <a:rPr lang="en-US" sz="1500"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Combined: 17.90%</a:t>
            </a:r>
          </a:p>
          <a:p>
            <a:pPr marL="0" indent="0">
              <a:lnSpc>
                <a:spcPct val="100000"/>
              </a:lnSpc>
              <a:spcBef>
                <a:spcPts val="1200"/>
              </a:spcBef>
              <a:buNone/>
            </a:pPr>
            <a:r>
              <a:rPr lang="en-US" sz="1400" dirty="0">
                <a:latin typeface="Tahoma" panose="020B0604030504040204" pitchFamily="34" charset="0"/>
                <a:ea typeface="Tahoma" panose="020B0604030504040204" pitchFamily="34" charset="0"/>
                <a:cs typeface="Tahoma" panose="020B0604030504040204" pitchFamily="34" charset="0"/>
              </a:rPr>
              <a:t>   Rural: 18.44%</a:t>
            </a:r>
          </a:p>
          <a:p>
            <a:pPr marL="0" indent="0">
              <a:lnSpc>
                <a:spcPct val="100000"/>
              </a:lnSpc>
              <a:spcBef>
                <a:spcPts val="1200"/>
              </a:spcBef>
              <a:buNone/>
            </a:pPr>
            <a:r>
              <a:rPr lang="en-US" sz="1400" dirty="0">
                <a:latin typeface="Tahoma" panose="020B0604030504040204" pitchFamily="34" charset="0"/>
                <a:ea typeface="Tahoma" panose="020B0604030504040204" pitchFamily="34" charset="0"/>
                <a:cs typeface="Tahoma" panose="020B0604030504040204" pitchFamily="34" charset="0"/>
              </a:rPr>
              <a:t>   Urban: 16.81%</a:t>
            </a:r>
          </a:p>
          <a:p>
            <a:pPr marL="0" indent="0" algn="just">
              <a:lnSpc>
                <a:spcPct val="15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Significant Inflation: Cereals and products </a:t>
            </a:r>
          </a:p>
          <a:p>
            <a:pPr marL="0" indent="0" algn="just">
              <a:lnSpc>
                <a:spcPct val="11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Combined: 12.72% </a:t>
            </a:r>
          </a:p>
          <a:p>
            <a:pPr marL="0" indent="0" algn="just">
              <a:lnSpc>
                <a:spcPct val="11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Rural: 13.28% </a:t>
            </a:r>
          </a:p>
          <a:p>
            <a:pPr marL="0" indent="0" algn="just">
              <a:lnSpc>
                <a:spcPct val="11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Urban: 11.49% </a:t>
            </a:r>
          </a:p>
          <a:p>
            <a:pPr marL="0" indent="0" algn="just">
              <a:lnSpc>
                <a:spcPct val="10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Largest deflation:</a:t>
            </a:r>
          </a:p>
          <a:p>
            <a:pPr marL="0" indent="0" algn="just">
              <a:lnSpc>
                <a:spcPct val="10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Oils &amp; Fats: -16.01%</a:t>
            </a:r>
          </a:p>
          <a:p>
            <a:pPr marL="0" indent="0" algn="just">
              <a:lnSpc>
                <a:spcPct val="10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Vegetables: -7.95%</a:t>
            </a:r>
          </a:p>
          <a:p>
            <a:pPr marL="0" indent="0" algn="just">
              <a:lnSpc>
                <a:spcPct val="100000"/>
              </a:lnSpc>
              <a:spcBef>
                <a:spcPts val="1200"/>
              </a:spcBef>
              <a:buFont typeface="Arial" panose="020B0604020202020204" pitchFamily="34" charset="0"/>
              <a:buNone/>
            </a:pPr>
            <a:r>
              <a:rPr lang="en-US" sz="1500" dirty="0">
                <a:latin typeface="Tahoma" panose="020B0604030504040204" pitchFamily="34" charset="0"/>
                <a:ea typeface="Tahoma" panose="020B0604030504040204" pitchFamily="34" charset="0"/>
                <a:cs typeface="Tahoma" panose="020B0604030504040204" pitchFamily="34" charset="0"/>
              </a:rPr>
              <a:t> </a:t>
            </a:r>
          </a:p>
        </p:txBody>
      </p:sp>
      <p:sp>
        <p:nvSpPr>
          <p:cNvPr id="6" name="Oval 5">
            <a:extLst>
              <a:ext uri="{FF2B5EF4-FFF2-40B4-BE49-F238E27FC236}">
                <a16:creationId xmlns:a16="http://schemas.microsoft.com/office/drawing/2014/main" id="{F8C93BC1-6FE7-57B9-5F4B-755AF8962D0F}"/>
              </a:ext>
            </a:extLst>
          </p:cNvPr>
          <p:cNvSpPr/>
          <p:nvPr/>
        </p:nvSpPr>
        <p:spPr>
          <a:xfrm>
            <a:off x="9425749" y="1331617"/>
            <a:ext cx="111572" cy="121723"/>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D2BD3A9-31D1-A584-7AF6-8436B023D394}"/>
              </a:ext>
            </a:extLst>
          </p:cNvPr>
          <p:cNvSpPr/>
          <p:nvPr/>
        </p:nvSpPr>
        <p:spPr>
          <a:xfrm>
            <a:off x="9425749" y="2899016"/>
            <a:ext cx="111572" cy="121723"/>
          </a:xfrm>
          <a:prstGeom prst="ellipse">
            <a:avLst/>
          </a:prstGeom>
          <a:solidFill>
            <a:srgbClr val="ED7D31"/>
          </a:solidFill>
          <a:ln>
            <a:solidFill>
              <a:srgbClr val="ED7D3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FA1467E-19A7-65D6-DA58-1F921EA8E0FF}"/>
              </a:ext>
            </a:extLst>
          </p:cNvPr>
          <p:cNvSpPr/>
          <p:nvPr/>
        </p:nvSpPr>
        <p:spPr>
          <a:xfrm>
            <a:off x="9425749" y="4870418"/>
            <a:ext cx="111572" cy="121723"/>
          </a:xfrm>
          <a:prstGeom prst="ellipse">
            <a:avLst/>
          </a:prstGeom>
          <a:solidFill>
            <a:srgbClr val="92D050"/>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83524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3011D-4392-D39E-2283-D0E5CBD88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7148D-1A1A-6F34-17E7-8687B08636EE}"/>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Impact of Covid-19 on Rural Inflation: A Before and After Comparison</a:t>
            </a:r>
          </a:p>
        </p:txBody>
      </p:sp>
      <p:sp>
        <p:nvSpPr>
          <p:cNvPr id="5" name="Content Placeholder 2">
            <a:extLst>
              <a:ext uri="{FF2B5EF4-FFF2-40B4-BE49-F238E27FC236}">
                <a16:creationId xmlns:a16="http://schemas.microsoft.com/office/drawing/2014/main" id="{45E16FB5-3CFB-EDEE-329E-EC8FC4B845D1}"/>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Table 3">
            <a:extLst>
              <a:ext uri="{FF2B5EF4-FFF2-40B4-BE49-F238E27FC236}">
                <a16:creationId xmlns:a16="http://schemas.microsoft.com/office/drawing/2014/main" id="{D4C98CF6-6E1C-E283-B16C-4927E029F39E}"/>
              </a:ext>
            </a:extLst>
          </p:cNvPr>
          <p:cNvGraphicFramePr>
            <a:graphicFrameLocks noGrp="1"/>
          </p:cNvGraphicFramePr>
          <p:nvPr>
            <p:extLst>
              <p:ext uri="{D42A27DB-BD31-4B8C-83A1-F6EECF244321}">
                <p14:modId xmlns:p14="http://schemas.microsoft.com/office/powerpoint/2010/main" val="166438219"/>
              </p:ext>
            </p:extLst>
          </p:nvPr>
        </p:nvGraphicFramePr>
        <p:xfrm>
          <a:off x="184107" y="681037"/>
          <a:ext cx="11733780" cy="3388856"/>
        </p:xfrm>
        <a:graphic>
          <a:graphicData uri="http://schemas.openxmlformats.org/drawingml/2006/table">
            <a:tbl>
              <a:tblPr firstRow="1" bandRow="1">
                <a:tableStyleId>{5940675A-B579-460E-94D1-54222C63F5DA}</a:tableStyleId>
              </a:tblPr>
              <a:tblGrid>
                <a:gridCol w="2933445">
                  <a:extLst>
                    <a:ext uri="{9D8B030D-6E8A-4147-A177-3AD203B41FA5}">
                      <a16:colId xmlns:a16="http://schemas.microsoft.com/office/drawing/2014/main" val="3929584793"/>
                    </a:ext>
                  </a:extLst>
                </a:gridCol>
                <a:gridCol w="2933445">
                  <a:extLst>
                    <a:ext uri="{9D8B030D-6E8A-4147-A177-3AD203B41FA5}">
                      <a16:colId xmlns:a16="http://schemas.microsoft.com/office/drawing/2014/main" val="1651223948"/>
                    </a:ext>
                  </a:extLst>
                </a:gridCol>
                <a:gridCol w="2933445">
                  <a:extLst>
                    <a:ext uri="{9D8B030D-6E8A-4147-A177-3AD203B41FA5}">
                      <a16:colId xmlns:a16="http://schemas.microsoft.com/office/drawing/2014/main" val="2962334230"/>
                    </a:ext>
                  </a:extLst>
                </a:gridCol>
                <a:gridCol w="2933445">
                  <a:extLst>
                    <a:ext uri="{9D8B030D-6E8A-4147-A177-3AD203B41FA5}">
                      <a16:colId xmlns:a16="http://schemas.microsoft.com/office/drawing/2014/main" val="4236719013"/>
                    </a:ext>
                  </a:extLst>
                </a:gridCol>
              </a:tblGrid>
              <a:tr h="423607">
                <a:tc>
                  <a:txBody>
                    <a:bodyPr/>
                    <a:lstStyle/>
                    <a:p>
                      <a:r>
                        <a:rPr lang="en-US" dirty="0"/>
                        <a:t>Category</a:t>
                      </a:r>
                    </a:p>
                  </a:txBody>
                  <a:tcPr/>
                </a:tc>
                <a:tc>
                  <a:txBody>
                    <a:bodyPr/>
                    <a:lstStyle/>
                    <a:p>
                      <a:pPr algn="ctr"/>
                      <a:r>
                        <a:rPr lang="en-US" dirty="0"/>
                        <a:t>Before Covid(2017-2020)</a:t>
                      </a:r>
                    </a:p>
                  </a:txBody>
                  <a:tcPr/>
                </a:tc>
                <a:tc>
                  <a:txBody>
                    <a:bodyPr/>
                    <a:lstStyle/>
                    <a:p>
                      <a:pPr algn="ctr"/>
                      <a:r>
                        <a:rPr lang="en-US" dirty="0"/>
                        <a:t>After Covid(2020-2023)</a:t>
                      </a:r>
                    </a:p>
                  </a:txBody>
                  <a:tcPr/>
                </a:tc>
                <a:tc>
                  <a:txBody>
                    <a:bodyPr/>
                    <a:lstStyle/>
                    <a:p>
                      <a:pPr algn="ctr"/>
                      <a:r>
                        <a:rPr lang="en-US" dirty="0"/>
                        <a:t>Change</a:t>
                      </a:r>
                    </a:p>
                  </a:txBody>
                  <a:tcPr/>
                </a:tc>
                <a:extLst>
                  <a:ext uri="{0D108BD9-81ED-4DB2-BD59-A6C34878D82A}">
                    <a16:rowId xmlns:a16="http://schemas.microsoft.com/office/drawing/2014/main" val="1803007623"/>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Food Products Combined</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1.75%</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3.29%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+ 1.54</a:t>
                      </a:r>
                    </a:p>
                  </a:txBody>
                  <a:tcPr anchor="ctr"/>
                </a:tc>
                <a:extLst>
                  <a:ext uri="{0D108BD9-81ED-4DB2-BD59-A6C34878D82A}">
                    <a16:rowId xmlns:a16="http://schemas.microsoft.com/office/drawing/2014/main" val="3800304846"/>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Fuel and light</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-0.06%</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0.15%</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+ 0.21</a:t>
                      </a:r>
                    </a:p>
                  </a:txBody>
                  <a:tcPr anchor="ctr"/>
                </a:tc>
                <a:extLst>
                  <a:ext uri="{0D108BD9-81ED-4DB2-BD59-A6C34878D82A}">
                    <a16:rowId xmlns:a16="http://schemas.microsoft.com/office/drawing/2014/main" val="2693983353"/>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Health</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3.07%</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1.78%</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- 1.29</a:t>
                      </a:r>
                    </a:p>
                  </a:txBody>
                  <a:tcPr anchor="ctr"/>
                </a:tc>
                <a:extLst>
                  <a:ext uri="{0D108BD9-81ED-4DB2-BD59-A6C34878D82A}">
                    <a16:rowId xmlns:a16="http://schemas.microsoft.com/office/drawing/2014/main" val="880240249"/>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Transport and communication</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1.82%</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4.28%</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+ 2.46</a:t>
                      </a:r>
                    </a:p>
                  </a:txBody>
                  <a:tcPr anchor="ctr"/>
                </a:tc>
                <a:extLst>
                  <a:ext uri="{0D108BD9-81ED-4DB2-BD59-A6C34878D82A}">
                    <a16:rowId xmlns:a16="http://schemas.microsoft.com/office/drawing/2014/main" val="2546463000"/>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Education</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2.81%</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0.28%</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- 2.53</a:t>
                      </a:r>
                    </a:p>
                  </a:txBody>
                  <a:tcPr anchor="ctr"/>
                </a:tc>
                <a:extLst>
                  <a:ext uri="{0D108BD9-81ED-4DB2-BD59-A6C34878D82A}">
                    <a16:rowId xmlns:a16="http://schemas.microsoft.com/office/drawing/2014/main" val="694857409"/>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Household goods and services</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1.39%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0.65%</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- 0.74</a:t>
                      </a:r>
                    </a:p>
                  </a:txBody>
                  <a:tcPr anchor="ctr"/>
                </a:tc>
                <a:extLst>
                  <a:ext uri="{0D108BD9-81ED-4DB2-BD59-A6C34878D82A}">
                    <a16:rowId xmlns:a16="http://schemas.microsoft.com/office/drawing/2014/main" val="76621540"/>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General index</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1.29%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1.83%</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+ 0.54</a:t>
                      </a:r>
                    </a:p>
                  </a:txBody>
                  <a:tcPr anchor="ctr"/>
                </a:tc>
                <a:extLst>
                  <a:ext uri="{0D108BD9-81ED-4DB2-BD59-A6C34878D82A}">
                    <a16:rowId xmlns:a16="http://schemas.microsoft.com/office/drawing/2014/main" val="1132638316"/>
                  </a:ext>
                </a:extLst>
              </a:tr>
            </a:tbl>
          </a:graphicData>
        </a:graphic>
      </p:graphicFrame>
      <p:sp>
        <p:nvSpPr>
          <p:cNvPr id="6" name="Flowchart: Extract 5">
            <a:extLst>
              <a:ext uri="{FF2B5EF4-FFF2-40B4-BE49-F238E27FC236}">
                <a16:creationId xmlns:a16="http://schemas.microsoft.com/office/drawing/2014/main" id="{B3B7B0B7-1D89-7FCE-037A-D782F5B434DA}"/>
              </a:ext>
            </a:extLst>
          </p:cNvPr>
          <p:cNvSpPr/>
          <p:nvPr/>
        </p:nvSpPr>
        <p:spPr>
          <a:xfrm>
            <a:off x="10072687" y="1279526"/>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Extract 7">
            <a:extLst>
              <a:ext uri="{FF2B5EF4-FFF2-40B4-BE49-F238E27FC236}">
                <a16:creationId xmlns:a16="http://schemas.microsoft.com/office/drawing/2014/main" id="{3597D865-10AC-7B5A-D698-77E6A82BAEAE}"/>
              </a:ext>
            </a:extLst>
          </p:cNvPr>
          <p:cNvSpPr/>
          <p:nvPr/>
        </p:nvSpPr>
        <p:spPr>
          <a:xfrm flipV="1">
            <a:off x="10072687" y="2133601"/>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Extract 8">
            <a:extLst>
              <a:ext uri="{FF2B5EF4-FFF2-40B4-BE49-F238E27FC236}">
                <a16:creationId xmlns:a16="http://schemas.microsoft.com/office/drawing/2014/main" id="{57B4D0DA-9049-D178-38A5-69A19D638AD6}"/>
              </a:ext>
            </a:extLst>
          </p:cNvPr>
          <p:cNvSpPr/>
          <p:nvPr/>
        </p:nvSpPr>
        <p:spPr>
          <a:xfrm>
            <a:off x="10072686" y="2541157"/>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Extract 10">
            <a:extLst>
              <a:ext uri="{FF2B5EF4-FFF2-40B4-BE49-F238E27FC236}">
                <a16:creationId xmlns:a16="http://schemas.microsoft.com/office/drawing/2014/main" id="{98D5339E-165A-E444-1192-23F9B7A68B3A}"/>
              </a:ext>
            </a:extLst>
          </p:cNvPr>
          <p:cNvSpPr/>
          <p:nvPr/>
        </p:nvSpPr>
        <p:spPr>
          <a:xfrm flipV="1">
            <a:off x="10078240" y="2948713"/>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Extract 11">
            <a:extLst>
              <a:ext uri="{FF2B5EF4-FFF2-40B4-BE49-F238E27FC236}">
                <a16:creationId xmlns:a16="http://schemas.microsoft.com/office/drawing/2014/main" id="{6F4091E8-ACB5-7DFF-C1DB-BFD669E437BC}"/>
              </a:ext>
            </a:extLst>
          </p:cNvPr>
          <p:cNvSpPr/>
          <p:nvPr/>
        </p:nvSpPr>
        <p:spPr>
          <a:xfrm flipV="1">
            <a:off x="10072686" y="3395232"/>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Extract 12">
            <a:extLst>
              <a:ext uri="{FF2B5EF4-FFF2-40B4-BE49-F238E27FC236}">
                <a16:creationId xmlns:a16="http://schemas.microsoft.com/office/drawing/2014/main" id="{7F1B33B3-3853-DEDB-20C9-1F2CF3D1F3B3}"/>
              </a:ext>
            </a:extLst>
          </p:cNvPr>
          <p:cNvSpPr/>
          <p:nvPr/>
        </p:nvSpPr>
        <p:spPr>
          <a:xfrm>
            <a:off x="10072686" y="3802788"/>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Extract 13">
            <a:extLst>
              <a:ext uri="{FF2B5EF4-FFF2-40B4-BE49-F238E27FC236}">
                <a16:creationId xmlns:a16="http://schemas.microsoft.com/office/drawing/2014/main" id="{31DE55C1-A0AB-B368-5E83-F15172CF1C1C}"/>
              </a:ext>
            </a:extLst>
          </p:cNvPr>
          <p:cNvSpPr/>
          <p:nvPr/>
        </p:nvSpPr>
        <p:spPr>
          <a:xfrm>
            <a:off x="10073478" y="1687082"/>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C4D832CB-5690-9999-485A-CDFCAD71A1DB}"/>
              </a:ext>
            </a:extLst>
          </p:cNvPr>
          <p:cNvSpPr txBox="1">
            <a:spLocks/>
          </p:cNvSpPr>
          <p:nvPr/>
        </p:nvSpPr>
        <p:spPr>
          <a:xfrm>
            <a:off x="184107" y="4645825"/>
            <a:ext cx="11733780" cy="145334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Largest Increase: Transport &amp; Communication (2.46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Largest Decline: Education (-2.53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Food Inflation: Increased by 1.54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Overall rural inflation: Increased by 0.54 points.</a:t>
            </a:r>
          </a:p>
        </p:txBody>
      </p:sp>
    </p:spTree>
    <p:extLst>
      <p:ext uri="{BB962C8B-B14F-4D97-AF65-F5344CB8AC3E}">
        <p14:creationId xmlns:p14="http://schemas.microsoft.com/office/powerpoint/2010/main" val="537707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94488-96F7-E371-57C7-AC13BEED2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21766-05EE-9A93-7F1A-774A34C29C9F}"/>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Impact of Covid-19 on Urban Inflation: A Before and After Comparison</a:t>
            </a:r>
          </a:p>
        </p:txBody>
      </p:sp>
      <p:sp>
        <p:nvSpPr>
          <p:cNvPr id="5" name="Content Placeholder 2">
            <a:extLst>
              <a:ext uri="{FF2B5EF4-FFF2-40B4-BE49-F238E27FC236}">
                <a16:creationId xmlns:a16="http://schemas.microsoft.com/office/drawing/2014/main" id="{EF3885FB-0934-2E0B-CB41-0E60A260B668}"/>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Table 3">
            <a:extLst>
              <a:ext uri="{FF2B5EF4-FFF2-40B4-BE49-F238E27FC236}">
                <a16:creationId xmlns:a16="http://schemas.microsoft.com/office/drawing/2014/main" id="{E70ADA4E-3230-4306-AA2C-FDC99D0ACF70}"/>
              </a:ext>
            </a:extLst>
          </p:cNvPr>
          <p:cNvGraphicFramePr>
            <a:graphicFrameLocks noGrp="1"/>
          </p:cNvGraphicFramePr>
          <p:nvPr>
            <p:extLst>
              <p:ext uri="{D42A27DB-BD31-4B8C-83A1-F6EECF244321}">
                <p14:modId xmlns:p14="http://schemas.microsoft.com/office/powerpoint/2010/main" val="3947546637"/>
              </p:ext>
            </p:extLst>
          </p:nvPr>
        </p:nvGraphicFramePr>
        <p:xfrm>
          <a:off x="184107" y="681037"/>
          <a:ext cx="11733780" cy="3388856"/>
        </p:xfrm>
        <a:graphic>
          <a:graphicData uri="http://schemas.openxmlformats.org/drawingml/2006/table">
            <a:tbl>
              <a:tblPr firstRow="1" bandRow="1">
                <a:tableStyleId>{5940675A-B579-460E-94D1-54222C63F5DA}</a:tableStyleId>
              </a:tblPr>
              <a:tblGrid>
                <a:gridCol w="2933445">
                  <a:extLst>
                    <a:ext uri="{9D8B030D-6E8A-4147-A177-3AD203B41FA5}">
                      <a16:colId xmlns:a16="http://schemas.microsoft.com/office/drawing/2014/main" val="3929584793"/>
                    </a:ext>
                  </a:extLst>
                </a:gridCol>
                <a:gridCol w="2933445">
                  <a:extLst>
                    <a:ext uri="{9D8B030D-6E8A-4147-A177-3AD203B41FA5}">
                      <a16:colId xmlns:a16="http://schemas.microsoft.com/office/drawing/2014/main" val="1651223948"/>
                    </a:ext>
                  </a:extLst>
                </a:gridCol>
                <a:gridCol w="2933445">
                  <a:extLst>
                    <a:ext uri="{9D8B030D-6E8A-4147-A177-3AD203B41FA5}">
                      <a16:colId xmlns:a16="http://schemas.microsoft.com/office/drawing/2014/main" val="2962334230"/>
                    </a:ext>
                  </a:extLst>
                </a:gridCol>
                <a:gridCol w="2933445">
                  <a:extLst>
                    <a:ext uri="{9D8B030D-6E8A-4147-A177-3AD203B41FA5}">
                      <a16:colId xmlns:a16="http://schemas.microsoft.com/office/drawing/2014/main" val="4236719013"/>
                    </a:ext>
                  </a:extLst>
                </a:gridCol>
              </a:tblGrid>
              <a:tr h="423607">
                <a:tc>
                  <a:txBody>
                    <a:bodyPr/>
                    <a:lstStyle/>
                    <a:p>
                      <a:r>
                        <a:rPr lang="en-US" dirty="0"/>
                        <a:t>Category</a:t>
                      </a:r>
                    </a:p>
                  </a:txBody>
                  <a:tcPr/>
                </a:tc>
                <a:tc>
                  <a:txBody>
                    <a:bodyPr/>
                    <a:lstStyle/>
                    <a:p>
                      <a:pPr algn="ctr"/>
                      <a:r>
                        <a:rPr lang="en-US" dirty="0"/>
                        <a:t>Before Covid(2017-2020)</a:t>
                      </a:r>
                    </a:p>
                  </a:txBody>
                  <a:tcPr/>
                </a:tc>
                <a:tc>
                  <a:txBody>
                    <a:bodyPr/>
                    <a:lstStyle/>
                    <a:p>
                      <a:pPr algn="ctr"/>
                      <a:r>
                        <a:rPr lang="en-US" dirty="0"/>
                        <a:t>After Covid(2020-2023)</a:t>
                      </a:r>
                    </a:p>
                  </a:txBody>
                  <a:tcPr/>
                </a:tc>
                <a:tc>
                  <a:txBody>
                    <a:bodyPr/>
                    <a:lstStyle/>
                    <a:p>
                      <a:pPr algn="ctr"/>
                      <a:r>
                        <a:rPr lang="en-US" dirty="0"/>
                        <a:t>Change</a:t>
                      </a:r>
                    </a:p>
                  </a:txBody>
                  <a:tcPr/>
                </a:tc>
                <a:extLst>
                  <a:ext uri="{0D108BD9-81ED-4DB2-BD59-A6C34878D82A}">
                    <a16:rowId xmlns:a16="http://schemas.microsoft.com/office/drawing/2014/main" val="1803007623"/>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Food Products Combined</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3.74%</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3.62%</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- 0.12</a:t>
                      </a:r>
                    </a:p>
                  </a:txBody>
                  <a:tcPr anchor="ctr"/>
                </a:tc>
                <a:extLst>
                  <a:ext uri="{0D108BD9-81ED-4DB2-BD59-A6C34878D82A}">
                    <a16:rowId xmlns:a16="http://schemas.microsoft.com/office/drawing/2014/main" val="3800304846"/>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Fuel and light</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1.00%</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-0.13%</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- 1.13</a:t>
                      </a:r>
                    </a:p>
                  </a:txBody>
                  <a:tcPr anchor="ctr"/>
                </a:tc>
                <a:extLst>
                  <a:ext uri="{0D108BD9-81ED-4DB2-BD59-A6C34878D82A}">
                    <a16:rowId xmlns:a16="http://schemas.microsoft.com/office/drawing/2014/main" val="2693983353"/>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Health</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1.47%</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2.29%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+ 0.82</a:t>
                      </a:r>
                    </a:p>
                  </a:txBody>
                  <a:tcPr anchor="ctr"/>
                </a:tc>
                <a:extLst>
                  <a:ext uri="{0D108BD9-81ED-4DB2-BD59-A6C34878D82A}">
                    <a16:rowId xmlns:a16="http://schemas.microsoft.com/office/drawing/2014/main" val="880240249"/>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Transport and communication</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1.35%</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5.72%</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+ 4.37</a:t>
                      </a:r>
                    </a:p>
                  </a:txBody>
                  <a:tcPr anchor="ctr"/>
                </a:tc>
                <a:extLst>
                  <a:ext uri="{0D108BD9-81ED-4DB2-BD59-A6C34878D82A}">
                    <a16:rowId xmlns:a16="http://schemas.microsoft.com/office/drawing/2014/main" val="2546463000"/>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Education</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2.27%</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-0.18%</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- 2.45</a:t>
                      </a:r>
                    </a:p>
                  </a:txBody>
                  <a:tcPr anchor="ctr"/>
                </a:tc>
                <a:extLst>
                  <a:ext uri="{0D108BD9-81ED-4DB2-BD59-A6C34878D82A}">
                    <a16:rowId xmlns:a16="http://schemas.microsoft.com/office/drawing/2014/main" val="694857409"/>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Household goods and services</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1.21%</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1.43%</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+ 0.22</a:t>
                      </a:r>
                    </a:p>
                  </a:txBody>
                  <a:tcPr anchor="ctr"/>
                </a:tc>
                <a:extLst>
                  <a:ext uri="{0D108BD9-81ED-4DB2-BD59-A6C34878D82A}">
                    <a16:rowId xmlns:a16="http://schemas.microsoft.com/office/drawing/2014/main" val="76621540"/>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General index</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1.73%</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1.95%</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+ 0.22</a:t>
                      </a:r>
                    </a:p>
                  </a:txBody>
                  <a:tcPr anchor="ctr"/>
                </a:tc>
                <a:extLst>
                  <a:ext uri="{0D108BD9-81ED-4DB2-BD59-A6C34878D82A}">
                    <a16:rowId xmlns:a16="http://schemas.microsoft.com/office/drawing/2014/main" val="1132638316"/>
                  </a:ext>
                </a:extLst>
              </a:tr>
            </a:tbl>
          </a:graphicData>
        </a:graphic>
      </p:graphicFrame>
      <p:sp>
        <p:nvSpPr>
          <p:cNvPr id="15" name="Title 1">
            <a:extLst>
              <a:ext uri="{FF2B5EF4-FFF2-40B4-BE49-F238E27FC236}">
                <a16:creationId xmlns:a16="http://schemas.microsoft.com/office/drawing/2014/main" id="{B6B41037-F467-95D7-5A9D-959597C1DDDB}"/>
              </a:ext>
            </a:extLst>
          </p:cNvPr>
          <p:cNvSpPr txBox="1">
            <a:spLocks/>
          </p:cNvSpPr>
          <p:nvPr/>
        </p:nvSpPr>
        <p:spPr>
          <a:xfrm>
            <a:off x="184107" y="4645825"/>
            <a:ext cx="11733780" cy="1577175"/>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Largest Increase: Transport &amp; Communication (4.37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Largest Decline: Education (-2.45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Food Inflation: Decreased slightly by - 0.12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Fuel &amp; Light: Decreased significantly by – 1.13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Overall urban inflation: Increased by 0.22 points.</a:t>
            </a:r>
          </a:p>
        </p:txBody>
      </p:sp>
      <p:sp>
        <p:nvSpPr>
          <p:cNvPr id="7" name="Flowchart: Extract 6">
            <a:extLst>
              <a:ext uri="{FF2B5EF4-FFF2-40B4-BE49-F238E27FC236}">
                <a16:creationId xmlns:a16="http://schemas.microsoft.com/office/drawing/2014/main" id="{4C8566D0-88B3-8704-7C2B-8FB0E5E4FA6D}"/>
              </a:ext>
            </a:extLst>
          </p:cNvPr>
          <p:cNvSpPr/>
          <p:nvPr/>
        </p:nvSpPr>
        <p:spPr>
          <a:xfrm flipV="1">
            <a:off x="10069512" y="1260476"/>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Extract 9">
            <a:extLst>
              <a:ext uri="{FF2B5EF4-FFF2-40B4-BE49-F238E27FC236}">
                <a16:creationId xmlns:a16="http://schemas.microsoft.com/office/drawing/2014/main" id="{97EAB9CB-76D7-1A31-2249-5ED70B7AC327}"/>
              </a:ext>
            </a:extLst>
          </p:cNvPr>
          <p:cNvSpPr/>
          <p:nvPr/>
        </p:nvSpPr>
        <p:spPr>
          <a:xfrm flipV="1">
            <a:off x="10069511" y="1685927"/>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Extract 15">
            <a:extLst>
              <a:ext uri="{FF2B5EF4-FFF2-40B4-BE49-F238E27FC236}">
                <a16:creationId xmlns:a16="http://schemas.microsoft.com/office/drawing/2014/main" id="{6D2F3CCE-133C-E484-B7EC-918691BCC54F}"/>
              </a:ext>
            </a:extLst>
          </p:cNvPr>
          <p:cNvSpPr/>
          <p:nvPr/>
        </p:nvSpPr>
        <p:spPr>
          <a:xfrm>
            <a:off x="10069510" y="2111378"/>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Extract 16">
            <a:extLst>
              <a:ext uri="{FF2B5EF4-FFF2-40B4-BE49-F238E27FC236}">
                <a16:creationId xmlns:a16="http://schemas.microsoft.com/office/drawing/2014/main" id="{C6BDD840-DAEA-E200-B96C-2BA37038BB53}"/>
              </a:ext>
            </a:extLst>
          </p:cNvPr>
          <p:cNvSpPr/>
          <p:nvPr/>
        </p:nvSpPr>
        <p:spPr>
          <a:xfrm>
            <a:off x="10069510" y="2536829"/>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Extract 17">
            <a:extLst>
              <a:ext uri="{FF2B5EF4-FFF2-40B4-BE49-F238E27FC236}">
                <a16:creationId xmlns:a16="http://schemas.microsoft.com/office/drawing/2014/main" id="{BFC21FBA-299E-28FF-8711-D64FFA5B7647}"/>
              </a:ext>
            </a:extLst>
          </p:cNvPr>
          <p:cNvSpPr/>
          <p:nvPr/>
        </p:nvSpPr>
        <p:spPr>
          <a:xfrm flipV="1">
            <a:off x="10069510" y="2962280"/>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Extract 18">
            <a:extLst>
              <a:ext uri="{FF2B5EF4-FFF2-40B4-BE49-F238E27FC236}">
                <a16:creationId xmlns:a16="http://schemas.microsoft.com/office/drawing/2014/main" id="{8854C116-C595-88D3-984D-A9BE1E980411}"/>
              </a:ext>
            </a:extLst>
          </p:cNvPr>
          <p:cNvSpPr/>
          <p:nvPr/>
        </p:nvSpPr>
        <p:spPr>
          <a:xfrm>
            <a:off x="10069509" y="3382962"/>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Extract 19">
            <a:extLst>
              <a:ext uri="{FF2B5EF4-FFF2-40B4-BE49-F238E27FC236}">
                <a16:creationId xmlns:a16="http://schemas.microsoft.com/office/drawing/2014/main" id="{93F112BC-B1E1-E65B-4A45-ECF0A13549B1}"/>
              </a:ext>
            </a:extLst>
          </p:cNvPr>
          <p:cNvSpPr/>
          <p:nvPr/>
        </p:nvSpPr>
        <p:spPr>
          <a:xfrm>
            <a:off x="10069508" y="3803644"/>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5822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DA298-A232-34B5-6CA5-EBD3F5654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62654-048C-8913-C4C5-B77B0D2741A0}"/>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Impact of Covid-19 on Rural + Urban Inflation: A Before and After Comparison</a:t>
            </a:r>
          </a:p>
        </p:txBody>
      </p:sp>
      <p:sp>
        <p:nvSpPr>
          <p:cNvPr id="5" name="Content Placeholder 2">
            <a:extLst>
              <a:ext uri="{FF2B5EF4-FFF2-40B4-BE49-F238E27FC236}">
                <a16:creationId xmlns:a16="http://schemas.microsoft.com/office/drawing/2014/main" id="{9271A654-5AAF-E87C-8131-08268E3B41C6}"/>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Table 3">
            <a:extLst>
              <a:ext uri="{FF2B5EF4-FFF2-40B4-BE49-F238E27FC236}">
                <a16:creationId xmlns:a16="http://schemas.microsoft.com/office/drawing/2014/main" id="{CE6F2FD8-489D-15C4-5A8D-C6A2784CD08B}"/>
              </a:ext>
            </a:extLst>
          </p:cNvPr>
          <p:cNvGraphicFramePr>
            <a:graphicFrameLocks noGrp="1"/>
          </p:cNvGraphicFramePr>
          <p:nvPr>
            <p:extLst>
              <p:ext uri="{D42A27DB-BD31-4B8C-83A1-F6EECF244321}">
                <p14:modId xmlns:p14="http://schemas.microsoft.com/office/powerpoint/2010/main" val="1887996455"/>
              </p:ext>
            </p:extLst>
          </p:nvPr>
        </p:nvGraphicFramePr>
        <p:xfrm>
          <a:off x="184107" y="681037"/>
          <a:ext cx="11733780" cy="3388856"/>
        </p:xfrm>
        <a:graphic>
          <a:graphicData uri="http://schemas.openxmlformats.org/drawingml/2006/table">
            <a:tbl>
              <a:tblPr firstRow="1" bandRow="1">
                <a:tableStyleId>{5940675A-B579-460E-94D1-54222C63F5DA}</a:tableStyleId>
              </a:tblPr>
              <a:tblGrid>
                <a:gridCol w="2933445">
                  <a:extLst>
                    <a:ext uri="{9D8B030D-6E8A-4147-A177-3AD203B41FA5}">
                      <a16:colId xmlns:a16="http://schemas.microsoft.com/office/drawing/2014/main" val="3929584793"/>
                    </a:ext>
                  </a:extLst>
                </a:gridCol>
                <a:gridCol w="2933445">
                  <a:extLst>
                    <a:ext uri="{9D8B030D-6E8A-4147-A177-3AD203B41FA5}">
                      <a16:colId xmlns:a16="http://schemas.microsoft.com/office/drawing/2014/main" val="1651223948"/>
                    </a:ext>
                  </a:extLst>
                </a:gridCol>
                <a:gridCol w="2933445">
                  <a:extLst>
                    <a:ext uri="{9D8B030D-6E8A-4147-A177-3AD203B41FA5}">
                      <a16:colId xmlns:a16="http://schemas.microsoft.com/office/drawing/2014/main" val="2962334230"/>
                    </a:ext>
                  </a:extLst>
                </a:gridCol>
                <a:gridCol w="2933445">
                  <a:extLst>
                    <a:ext uri="{9D8B030D-6E8A-4147-A177-3AD203B41FA5}">
                      <a16:colId xmlns:a16="http://schemas.microsoft.com/office/drawing/2014/main" val="4236719013"/>
                    </a:ext>
                  </a:extLst>
                </a:gridCol>
              </a:tblGrid>
              <a:tr h="423607">
                <a:tc>
                  <a:txBody>
                    <a:bodyPr/>
                    <a:lstStyle/>
                    <a:p>
                      <a:r>
                        <a:rPr lang="en-US" dirty="0"/>
                        <a:t>Category</a:t>
                      </a:r>
                    </a:p>
                  </a:txBody>
                  <a:tcPr/>
                </a:tc>
                <a:tc>
                  <a:txBody>
                    <a:bodyPr/>
                    <a:lstStyle/>
                    <a:p>
                      <a:pPr algn="ctr"/>
                      <a:r>
                        <a:rPr lang="en-US" dirty="0"/>
                        <a:t>Before Covid(2017-2020)</a:t>
                      </a:r>
                    </a:p>
                  </a:txBody>
                  <a:tcPr/>
                </a:tc>
                <a:tc>
                  <a:txBody>
                    <a:bodyPr/>
                    <a:lstStyle/>
                    <a:p>
                      <a:pPr algn="ctr"/>
                      <a:r>
                        <a:rPr lang="en-US" dirty="0"/>
                        <a:t>After Covid(2020-2023)</a:t>
                      </a:r>
                    </a:p>
                  </a:txBody>
                  <a:tcPr/>
                </a:tc>
                <a:tc>
                  <a:txBody>
                    <a:bodyPr/>
                    <a:lstStyle/>
                    <a:p>
                      <a:pPr algn="ctr"/>
                      <a:r>
                        <a:rPr lang="en-US" dirty="0"/>
                        <a:t>Change</a:t>
                      </a:r>
                    </a:p>
                  </a:txBody>
                  <a:tcPr/>
                </a:tc>
                <a:extLst>
                  <a:ext uri="{0D108BD9-81ED-4DB2-BD59-A6C34878D82A}">
                    <a16:rowId xmlns:a16="http://schemas.microsoft.com/office/drawing/2014/main" val="1803007623"/>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Food Products Combined</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2.51%</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3.38%</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+ 0.87</a:t>
                      </a:r>
                    </a:p>
                  </a:txBody>
                  <a:tcPr anchor="ctr"/>
                </a:tc>
                <a:extLst>
                  <a:ext uri="{0D108BD9-81ED-4DB2-BD59-A6C34878D82A}">
                    <a16:rowId xmlns:a16="http://schemas.microsoft.com/office/drawing/2014/main" val="3800304846"/>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Fuel and light</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0.29%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0.00%</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- 0.29</a:t>
                      </a:r>
                    </a:p>
                  </a:txBody>
                  <a:tcPr anchor="ctr"/>
                </a:tc>
                <a:extLst>
                  <a:ext uri="{0D108BD9-81ED-4DB2-BD59-A6C34878D82A}">
                    <a16:rowId xmlns:a16="http://schemas.microsoft.com/office/drawing/2014/main" val="2693983353"/>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Health</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2.49%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1.94%</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- 0.55</a:t>
                      </a:r>
                    </a:p>
                  </a:txBody>
                  <a:tcPr anchor="ctr"/>
                </a:tc>
                <a:extLst>
                  <a:ext uri="{0D108BD9-81ED-4DB2-BD59-A6C34878D82A}">
                    <a16:rowId xmlns:a16="http://schemas.microsoft.com/office/drawing/2014/main" val="880240249"/>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Transport and communication</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1.59%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5.01%</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+ 3.42</a:t>
                      </a:r>
                    </a:p>
                  </a:txBody>
                  <a:tcPr anchor="ctr"/>
                </a:tc>
                <a:extLst>
                  <a:ext uri="{0D108BD9-81ED-4DB2-BD59-A6C34878D82A}">
                    <a16:rowId xmlns:a16="http://schemas.microsoft.com/office/drawing/2014/main" val="2546463000"/>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Education</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2.52%</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0.00%</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- 2.52</a:t>
                      </a:r>
                    </a:p>
                  </a:txBody>
                  <a:tcPr anchor="ctr"/>
                </a:tc>
                <a:extLst>
                  <a:ext uri="{0D108BD9-81ED-4DB2-BD59-A6C34878D82A}">
                    <a16:rowId xmlns:a16="http://schemas.microsoft.com/office/drawing/2014/main" val="694857409"/>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Household goods and services</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1.29%</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1.03%</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- 0.26</a:t>
                      </a:r>
                    </a:p>
                  </a:txBody>
                  <a:tcPr anchor="ctr"/>
                </a:tc>
                <a:extLst>
                  <a:ext uri="{0D108BD9-81ED-4DB2-BD59-A6C34878D82A}">
                    <a16:rowId xmlns:a16="http://schemas.microsoft.com/office/drawing/2014/main" val="76621540"/>
                  </a:ext>
                </a:extLst>
              </a:tr>
              <a:tr h="423607">
                <a:tc>
                  <a:txBody>
                    <a:bodyPr/>
                    <a:lstStyle/>
                    <a:p>
                      <a:pPr algn="just" fontAlgn="b">
                        <a:buNone/>
                      </a:pPr>
                      <a:r>
                        <a:rPr lang="en-US" sz="1500" b="0" i="0" u="none" strike="noStrike" dirty="0">
                          <a:solidFill>
                            <a:srgbClr val="000000"/>
                          </a:solidFill>
                          <a:effectLst/>
                          <a:latin typeface="Calibri" panose="020F0502020204030204" pitchFamily="34" charset="0"/>
                        </a:rPr>
                        <a:t> General index</a:t>
                      </a:r>
                    </a:p>
                  </a:txBody>
                  <a:tcPr marL="0" marR="0" marT="0" marB="0"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1.50%</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1.88%</a:t>
                      </a:r>
                    </a:p>
                  </a:txBody>
                  <a:tcPr anchor="ctr"/>
                </a:tc>
                <a:tc>
                  <a:txBody>
                    <a:bodyPr/>
                    <a:lstStyle/>
                    <a:p>
                      <a:pPr algn="ctr"/>
                      <a:r>
                        <a:rPr lang="en-US" sz="1500" b="0" i="0" u="none" strike="noStrike" kern="1200" dirty="0">
                          <a:solidFill>
                            <a:srgbClr val="000000"/>
                          </a:solidFill>
                          <a:effectLst/>
                          <a:latin typeface="Calibri" panose="020F0502020204030204" pitchFamily="34" charset="0"/>
                          <a:ea typeface="+mn-ea"/>
                          <a:cs typeface="+mn-cs"/>
                        </a:rPr>
                        <a:t>+ 0.38</a:t>
                      </a:r>
                    </a:p>
                  </a:txBody>
                  <a:tcPr anchor="ctr"/>
                </a:tc>
                <a:extLst>
                  <a:ext uri="{0D108BD9-81ED-4DB2-BD59-A6C34878D82A}">
                    <a16:rowId xmlns:a16="http://schemas.microsoft.com/office/drawing/2014/main" val="1132638316"/>
                  </a:ext>
                </a:extLst>
              </a:tr>
            </a:tbl>
          </a:graphicData>
        </a:graphic>
      </p:graphicFrame>
      <p:sp>
        <p:nvSpPr>
          <p:cNvPr id="15" name="Title 1">
            <a:extLst>
              <a:ext uri="{FF2B5EF4-FFF2-40B4-BE49-F238E27FC236}">
                <a16:creationId xmlns:a16="http://schemas.microsoft.com/office/drawing/2014/main" id="{A3EBC17B-1F31-A5B9-3F7A-39339E780318}"/>
              </a:ext>
            </a:extLst>
          </p:cNvPr>
          <p:cNvSpPr txBox="1">
            <a:spLocks/>
          </p:cNvSpPr>
          <p:nvPr/>
        </p:nvSpPr>
        <p:spPr>
          <a:xfrm>
            <a:off x="184107" y="4645825"/>
            <a:ext cx="11733780" cy="1577175"/>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Largest Increase: Transport &amp; Communication (3.42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Largest Decline: Education (-2.52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Food Products Combined Inflation: increased by 0.87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Fuel &amp; Light: Decreased slightly by – 0.29 points</a:t>
            </a:r>
          </a:p>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Overall urban inflation: Increased by 0.38 points.</a:t>
            </a:r>
          </a:p>
        </p:txBody>
      </p:sp>
      <p:sp>
        <p:nvSpPr>
          <p:cNvPr id="3" name="Flowchart: Extract 2">
            <a:extLst>
              <a:ext uri="{FF2B5EF4-FFF2-40B4-BE49-F238E27FC236}">
                <a16:creationId xmlns:a16="http://schemas.microsoft.com/office/drawing/2014/main" id="{2550E393-A9CA-44B1-7444-6B0B94A3DBBE}"/>
              </a:ext>
            </a:extLst>
          </p:cNvPr>
          <p:cNvSpPr/>
          <p:nvPr/>
        </p:nvSpPr>
        <p:spPr>
          <a:xfrm>
            <a:off x="10050460" y="1258891"/>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Extract 5">
            <a:extLst>
              <a:ext uri="{FF2B5EF4-FFF2-40B4-BE49-F238E27FC236}">
                <a16:creationId xmlns:a16="http://schemas.microsoft.com/office/drawing/2014/main" id="{CE0A6185-EE2E-3741-4605-3A6B3C039BAC}"/>
              </a:ext>
            </a:extLst>
          </p:cNvPr>
          <p:cNvSpPr/>
          <p:nvPr/>
        </p:nvSpPr>
        <p:spPr>
          <a:xfrm flipV="1">
            <a:off x="10050460" y="1697038"/>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Extract 8">
            <a:extLst>
              <a:ext uri="{FF2B5EF4-FFF2-40B4-BE49-F238E27FC236}">
                <a16:creationId xmlns:a16="http://schemas.microsoft.com/office/drawing/2014/main" id="{283E5E78-9E0F-40CA-5987-3F5FBD826092}"/>
              </a:ext>
            </a:extLst>
          </p:cNvPr>
          <p:cNvSpPr/>
          <p:nvPr/>
        </p:nvSpPr>
        <p:spPr>
          <a:xfrm flipV="1">
            <a:off x="10050460" y="2135185"/>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Extract 10">
            <a:extLst>
              <a:ext uri="{FF2B5EF4-FFF2-40B4-BE49-F238E27FC236}">
                <a16:creationId xmlns:a16="http://schemas.microsoft.com/office/drawing/2014/main" id="{306E9AA5-E7DA-32AC-DE37-BF2EF3BD5FEB}"/>
              </a:ext>
            </a:extLst>
          </p:cNvPr>
          <p:cNvSpPr/>
          <p:nvPr/>
        </p:nvSpPr>
        <p:spPr>
          <a:xfrm>
            <a:off x="10050460" y="2549528"/>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Extract 11">
            <a:extLst>
              <a:ext uri="{FF2B5EF4-FFF2-40B4-BE49-F238E27FC236}">
                <a16:creationId xmlns:a16="http://schemas.microsoft.com/office/drawing/2014/main" id="{B2F4700A-A3AB-770D-4739-ED3E838953CB}"/>
              </a:ext>
            </a:extLst>
          </p:cNvPr>
          <p:cNvSpPr/>
          <p:nvPr/>
        </p:nvSpPr>
        <p:spPr>
          <a:xfrm flipV="1">
            <a:off x="10050460" y="2963871"/>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Extract 13">
            <a:extLst>
              <a:ext uri="{FF2B5EF4-FFF2-40B4-BE49-F238E27FC236}">
                <a16:creationId xmlns:a16="http://schemas.microsoft.com/office/drawing/2014/main" id="{5E1F1A06-B835-9DE7-B602-E208E80AEAF0}"/>
              </a:ext>
            </a:extLst>
          </p:cNvPr>
          <p:cNvSpPr/>
          <p:nvPr/>
        </p:nvSpPr>
        <p:spPr>
          <a:xfrm flipV="1">
            <a:off x="10050460" y="3387739"/>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Extract 20">
            <a:extLst>
              <a:ext uri="{FF2B5EF4-FFF2-40B4-BE49-F238E27FC236}">
                <a16:creationId xmlns:a16="http://schemas.microsoft.com/office/drawing/2014/main" id="{5BAE183A-95BF-72FC-A753-27B12DC7DB11}"/>
              </a:ext>
            </a:extLst>
          </p:cNvPr>
          <p:cNvSpPr/>
          <p:nvPr/>
        </p:nvSpPr>
        <p:spPr>
          <a:xfrm>
            <a:off x="10054426" y="3811607"/>
            <a:ext cx="106363" cy="92075"/>
          </a:xfrm>
          <a:prstGeom prst="flowChartExtra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0643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1D072-51BB-64C6-F00A-A09F6EEBB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27E00-66D8-FBF4-F02F-39894C9A712E}"/>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Imported Cude Oil Prices and Trends (2021-2023)</a:t>
            </a:r>
          </a:p>
        </p:txBody>
      </p:sp>
      <p:sp>
        <p:nvSpPr>
          <p:cNvPr id="5" name="Content Placeholder 2">
            <a:extLst>
              <a:ext uri="{FF2B5EF4-FFF2-40B4-BE49-F238E27FC236}">
                <a16:creationId xmlns:a16="http://schemas.microsoft.com/office/drawing/2014/main" id="{6FED54DF-22F7-0F0D-8CAD-88056251E67E}"/>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3" name="Table 12">
            <a:extLst>
              <a:ext uri="{FF2B5EF4-FFF2-40B4-BE49-F238E27FC236}">
                <a16:creationId xmlns:a16="http://schemas.microsoft.com/office/drawing/2014/main" id="{E698EF73-50AB-3DAE-C8B0-5A300E53D6EA}"/>
              </a:ext>
            </a:extLst>
          </p:cNvPr>
          <p:cNvGraphicFramePr>
            <a:graphicFrameLocks noGrp="1"/>
          </p:cNvGraphicFramePr>
          <p:nvPr>
            <p:extLst>
              <p:ext uri="{D42A27DB-BD31-4B8C-83A1-F6EECF244321}">
                <p14:modId xmlns:p14="http://schemas.microsoft.com/office/powerpoint/2010/main" val="20203277"/>
              </p:ext>
            </p:extLst>
          </p:nvPr>
        </p:nvGraphicFramePr>
        <p:xfrm>
          <a:off x="184106" y="681037"/>
          <a:ext cx="11795145" cy="1448952"/>
        </p:xfrm>
        <a:graphic>
          <a:graphicData uri="http://schemas.openxmlformats.org/drawingml/2006/table">
            <a:tbl>
              <a:tblPr firstRow="1" bandRow="1">
                <a:tableStyleId>{5940675A-B579-460E-94D1-54222C63F5DA}</a:tableStyleId>
              </a:tblPr>
              <a:tblGrid>
                <a:gridCol w="2359029">
                  <a:extLst>
                    <a:ext uri="{9D8B030D-6E8A-4147-A177-3AD203B41FA5}">
                      <a16:colId xmlns:a16="http://schemas.microsoft.com/office/drawing/2014/main" val="3312556227"/>
                    </a:ext>
                  </a:extLst>
                </a:gridCol>
                <a:gridCol w="2359029">
                  <a:extLst>
                    <a:ext uri="{9D8B030D-6E8A-4147-A177-3AD203B41FA5}">
                      <a16:colId xmlns:a16="http://schemas.microsoft.com/office/drawing/2014/main" val="886185333"/>
                    </a:ext>
                  </a:extLst>
                </a:gridCol>
                <a:gridCol w="2359029">
                  <a:extLst>
                    <a:ext uri="{9D8B030D-6E8A-4147-A177-3AD203B41FA5}">
                      <a16:colId xmlns:a16="http://schemas.microsoft.com/office/drawing/2014/main" val="3154614849"/>
                    </a:ext>
                  </a:extLst>
                </a:gridCol>
                <a:gridCol w="2359029">
                  <a:extLst>
                    <a:ext uri="{9D8B030D-6E8A-4147-A177-3AD203B41FA5}">
                      <a16:colId xmlns:a16="http://schemas.microsoft.com/office/drawing/2014/main" val="4291877884"/>
                    </a:ext>
                  </a:extLst>
                </a:gridCol>
                <a:gridCol w="2359029">
                  <a:extLst>
                    <a:ext uri="{9D8B030D-6E8A-4147-A177-3AD203B41FA5}">
                      <a16:colId xmlns:a16="http://schemas.microsoft.com/office/drawing/2014/main" val="1098678210"/>
                    </a:ext>
                  </a:extLst>
                </a:gridCol>
              </a:tblGrid>
              <a:tr h="362238">
                <a:tc>
                  <a:txBody>
                    <a:bodyPr/>
                    <a:lstStyle/>
                    <a:p>
                      <a:pPr algn="ctr" fontAlgn="ctr">
                        <a:buNone/>
                      </a:pPr>
                      <a:r>
                        <a:rPr lang="en-US" sz="1100" b="0" u="none" strike="noStrike" dirty="0">
                          <a:solidFill>
                            <a:srgbClr val="000000"/>
                          </a:solidFill>
                          <a:effectLst/>
                        </a:rPr>
                        <a:t>Month &amp; Year</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b="0" u="none" strike="noStrike" dirty="0">
                          <a:solidFill>
                            <a:srgbClr val="000000"/>
                          </a:solidFill>
                          <a:effectLst/>
                        </a:rPr>
                        <a:t>Import Value (Mn USD)</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b="0" u="none" strike="noStrike" dirty="0">
                          <a:solidFill>
                            <a:srgbClr val="000000"/>
                          </a:solidFill>
                          <a:effectLst/>
                        </a:rPr>
                        <a:t> Import Quantity (Metric Tones)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Unit Price (USD/Tones)</a:t>
                      </a:r>
                      <a:endParaRPr lang="en-US" sz="11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buNone/>
                      </a:pPr>
                      <a:r>
                        <a:rPr lang="en-US" sz="1100" b="0" u="none" strike="noStrike" dirty="0">
                          <a:solidFill>
                            <a:srgbClr val="000000"/>
                          </a:solidFill>
                          <a:effectLst/>
                        </a:rPr>
                        <a:t>MoM Change (%)</a:t>
                      </a:r>
                      <a:endParaRPr lang="en-US" sz="110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470741301"/>
                  </a:ext>
                </a:extLst>
              </a:tr>
              <a:tr h="362238">
                <a:tc>
                  <a:txBody>
                    <a:bodyPr/>
                    <a:lstStyle/>
                    <a:p>
                      <a:pPr algn="ctr" fontAlgn="ctr">
                        <a:buNone/>
                      </a:pPr>
                      <a:r>
                        <a:rPr lang="en-US" sz="1100" b="0" i="0" u="none" strike="noStrike" dirty="0">
                          <a:solidFill>
                            <a:srgbClr val="000000"/>
                          </a:solidFill>
                          <a:effectLst/>
                          <a:latin typeface="Calibri" panose="020F0502020204030204" pitchFamily="34" charset="0"/>
                        </a:rPr>
                        <a:t>May-2021</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8262</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17259</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0.479</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2.16%</a:t>
                      </a:r>
                    </a:p>
                  </a:txBody>
                  <a:tcPr marL="0" marR="0" marT="0" marB="0" anchor="ctr"/>
                </a:tc>
                <a:extLst>
                  <a:ext uri="{0D108BD9-81ED-4DB2-BD59-A6C34878D82A}">
                    <a16:rowId xmlns:a16="http://schemas.microsoft.com/office/drawing/2014/main" val="3932091115"/>
                  </a:ext>
                </a:extLst>
              </a:tr>
              <a:tr h="362238">
                <a:tc>
                  <a:txBody>
                    <a:bodyPr/>
                    <a:lstStyle/>
                    <a:p>
                      <a:pPr algn="ctr" fontAlgn="ctr">
                        <a:buNone/>
                      </a:pPr>
                      <a:r>
                        <a:rPr lang="en-US" sz="1100" b="0" i="0" u="none" strike="noStrike">
                          <a:solidFill>
                            <a:srgbClr val="000000"/>
                          </a:solidFill>
                          <a:effectLst/>
                          <a:latin typeface="Calibri" panose="020F0502020204030204" pitchFamily="34" charset="0"/>
                        </a:rPr>
                        <a:t>June-2021</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8289</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15905</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0.521</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8.86%</a:t>
                      </a:r>
                    </a:p>
                  </a:txBody>
                  <a:tcPr marL="0" marR="0" marT="0" marB="0" anchor="ctr"/>
                </a:tc>
                <a:extLst>
                  <a:ext uri="{0D108BD9-81ED-4DB2-BD59-A6C34878D82A}">
                    <a16:rowId xmlns:a16="http://schemas.microsoft.com/office/drawing/2014/main" val="2436915877"/>
                  </a:ext>
                </a:extLst>
              </a:tr>
              <a:tr h="362238">
                <a:tc>
                  <a:txBody>
                    <a:bodyPr/>
                    <a:lstStyle/>
                    <a:p>
                      <a:pPr algn="ctr" fontAlgn="ctr">
                        <a:buNone/>
                      </a:pPr>
                      <a:r>
                        <a:rPr lang="en-US" sz="1100" b="0" i="0" u="none" strike="noStrike">
                          <a:solidFill>
                            <a:srgbClr val="000000"/>
                          </a:solidFill>
                          <a:effectLst/>
                          <a:latin typeface="Calibri" panose="020F0502020204030204" pitchFamily="34" charset="0"/>
                        </a:rPr>
                        <a:t>July-2021</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7976</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15021</a:t>
                      </a:r>
                    </a:p>
                  </a:txBody>
                  <a:tcPr marL="0" marR="0" marT="0" marB="0" anchor="ctr"/>
                </a:tc>
                <a:tc>
                  <a:txBody>
                    <a:bodyPr/>
                    <a:lstStyle/>
                    <a:p>
                      <a:pPr algn="ctr" fontAlgn="ctr">
                        <a:buNone/>
                      </a:pPr>
                      <a:r>
                        <a:rPr lang="en-US" sz="1100" b="0" i="0" u="none" strike="noStrike">
                          <a:solidFill>
                            <a:srgbClr val="000000"/>
                          </a:solidFill>
                          <a:effectLst/>
                          <a:latin typeface="Calibri" panose="020F0502020204030204" pitchFamily="34" charset="0"/>
                        </a:rPr>
                        <a:t>0.531</a:t>
                      </a:r>
                    </a:p>
                  </a:txBody>
                  <a:tcPr marL="0" marR="0" marT="0" marB="0" anchor="ctr"/>
                </a:tc>
                <a:tc>
                  <a:txBody>
                    <a:bodyPr/>
                    <a:lstStyle/>
                    <a:p>
                      <a:pPr algn="ctr" fontAlgn="ctr">
                        <a:buNone/>
                      </a:pPr>
                      <a:r>
                        <a:rPr lang="en-US" sz="1100" b="0" i="0" u="none" strike="noStrike" dirty="0">
                          <a:solidFill>
                            <a:srgbClr val="000000"/>
                          </a:solidFill>
                          <a:effectLst/>
                          <a:latin typeface="Calibri" panose="020F0502020204030204" pitchFamily="34" charset="0"/>
                        </a:rPr>
                        <a:t>1.88%</a:t>
                      </a:r>
                    </a:p>
                  </a:txBody>
                  <a:tcPr marL="0" marR="0" marT="0" marB="0" anchor="ctr"/>
                </a:tc>
                <a:extLst>
                  <a:ext uri="{0D108BD9-81ED-4DB2-BD59-A6C34878D82A}">
                    <a16:rowId xmlns:a16="http://schemas.microsoft.com/office/drawing/2014/main" val="1181503898"/>
                  </a:ext>
                </a:extLst>
              </a:tr>
            </a:tbl>
          </a:graphicData>
        </a:graphic>
      </p:graphicFrame>
      <p:sp>
        <p:nvSpPr>
          <p:cNvPr id="16" name="Title 1">
            <a:extLst>
              <a:ext uri="{FF2B5EF4-FFF2-40B4-BE49-F238E27FC236}">
                <a16:creationId xmlns:a16="http://schemas.microsoft.com/office/drawing/2014/main" id="{A94C5BDE-5032-342E-8296-1B2BCD25DB3F}"/>
              </a:ext>
            </a:extLst>
          </p:cNvPr>
          <p:cNvSpPr txBox="1">
            <a:spLocks/>
          </p:cNvSpPr>
          <p:nvPr/>
        </p:nvSpPr>
        <p:spPr>
          <a:xfrm>
            <a:off x="184101" y="2184923"/>
            <a:ext cx="11795145" cy="380307"/>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400" dirty="0">
                <a:latin typeface="Tahoma" panose="020B0604030504040204" pitchFamily="34" charset="0"/>
                <a:ea typeface="Tahoma" panose="020B0604030504040204" pitchFamily="34" charset="0"/>
                <a:cs typeface="Tahoma" panose="020B0604030504040204" pitchFamily="34" charset="0"/>
              </a:rPr>
              <a:t>Note: Monthly unit prices were derived using import value divided by the import quality.</a:t>
            </a:r>
          </a:p>
        </p:txBody>
      </p:sp>
      <p:graphicFrame>
        <p:nvGraphicFramePr>
          <p:cNvPr id="17" name="Chart 16">
            <a:extLst>
              <a:ext uri="{FF2B5EF4-FFF2-40B4-BE49-F238E27FC236}">
                <a16:creationId xmlns:a16="http://schemas.microsoft.com/office/drawing/2014/main" id="{AB858E00-5636-AC6E-665E-EB4A4ED27DA6}"/>
              </a:ext>
            </a:extLst>
          </p:cNvPr>
          <p:cNvGraphicFramePr>
            <a:graphicFrameLocks/>
          </p:cNvGraphicFramePr>
          <p:nvPr>
            <p:extLst>
              <p:ext uri="{D42A27DB-BD31-4B8C-83A1-F6EECF244321}">
                <p14:modId xmlns:p14="http://schemas.microsoft.com/office/powerpoint/2010/main" val="2667501194"/>
              </p:ext>
            </p:extLst>
          </p:nvPr>
        </p:nvGraphicFramePr>
        <p:xfrm>
          <a:off x="184101" y="2620164"/>
          <a:ext cx="11795145" cy="4099937"/>
        </p:xfrm>
        <a:graphic>
          <a:graphicData uri="http://schemas.openxmlformats.org/drawingml/2006/chart">
            <c:chart xmlns:c="http://schemas.openxmlformats.org/drawingml/2006/chart" xmlns:r="http://schemas.openxmlformats.org/officeDocument/2006/relationships" r:id="rId2"/>
          </a:graphicData>
        </a:graphic>
      </p:graphicFrame>
      <p:sp>
        <p:nvSpPr>
          <p:cNvPr id="18" name="Title 1">
            <a:extLst>
              <a:ext uri="{FF2B5EF4-FFF2-40B4-BE49-F238E27FC236}">
                <a16:creationId xmlns:a16="http://schemas.microsoft.com/office/drawing/2014/main" id="{3D8F246D-9571-326B-DA1F-C2FD7BA1D8C4}"/>
              </a:ext>
            </a:extLst>
          </p:cNvPr>
          <p:cNvSpPr txBox="1">
            <a:spLocks/>
          </p:cNvSpPr>
          <p:nvPr/>
        </p:nvSpPr>
        <p:spPr>
          <a:xfrm>
            <a:off x="6177828" y="3197331"/>
            <a:ext cx="1677421" cy="28127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000" dirty="0">
                <a:latin typeface="Tahoma" panose="020B0604030504040204" pitchFamily="34" charset="0"/>
                <a:ea typeface="Tahoma" panose="020B0604030504040204" pitchFamily="34" charset="0"/>
                <a:cs typeface="Tahoma" panose="020B0604030504040204" pitchFamily="34" charset="0"/>
              </a:rPr>
              <a:t>Highest Crude Oil Inflation</a:t>
            </a:r>
          </a:p>
        </p:txBody>
      </p:sp>
      <p:cxnSp>
        <p:nvCxnSpPr>
          <p:cNvPr id="20" name="Straight Arrow Connector 19">
            <a:extLst>
              <a:ext uri="{FF2B5EF4-FFF2-40B4-BE49-F238E27FC236}">
                <a16:creationId xmlns:a16="http://schemas.microsoft.com/office/drawing/2014/main" id="{5F35726F-2501-407B-F43F-2EC6C3A59DF7}"/>
              </a:ext>
            </a:extLst>
          </p:cNvPr>
          <p:cNvCxnSpPr>
            <a:cxnSpLocks/>
          </p:cNvCxnSpPr>
          <p:nvPr/>
        </p:nvCxnSpPr>
        <p:spPr>
          <a:xfrm>
            <a:off x="9389477" y="5995764"/>
            <a:ext cx="638238"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3" name="Title 1">
            <a:extLst>
              <a:ext uri="{FF2B5EF4-FFF2-40B4-BE49-F238E27FC236}">
                <a16:creationId xmlns:a16="http://schemas.microsoft.com/office/drawing/2014/main" id="{1DB567D2-BD41-F0A3-63AB-0425458B3AB8}"/>
              </a:ext>
            </a:extLst>
          </p:cNvPr>
          <p:cNvSpPr txBox="1">
            <a:spLocks/>
          </p:cNvSpPr>
          <p:nvPr/>
        </p:nvSpPr>
        <p:spPr>
          <a:xfrm>
            <a:off x="7712056" y="5855126"/>
            <a:ext cx="1677421" cy="28127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000" dirty="0">
                <a:latin typeface="Tahoma" panose="020B0604030504040204" pitchFamily="34" charset="0"/>
                <a:ea typeface="Tahoma" panose="020B0604030504040204" pitchFamily="34" charset="0"/>
                <a:cs typeface="Tahoma" panose="020B0604030504040204" pitchFamily="34" charset="0"/>
              </a:rPr>
              <a:t>Lowest Crude Oil Inflation</a:t>
            </a:r>
          </a:p>
        </p:txBody>
      </p:sp>
      <p:sp>
        <p:nvSpPr>
          <p:cNvPr id="28" name="Title 1">
            <a:extLst>
              <a:ext uri="{FF2B5EF4-FFF2-40B4-BE49-F238E27FC236}">
                <a16:creationId xmlns:a16="http://schemas.microsoft.com/office/drawing/2014/main" id="{CB438D8F-042B-EBC1-127F-38350BDFC102}"/>
              </a:ext>
            </a:extLst>
          </p:cNvPr>
          <p:cNvSpPr txBox="1">
            <a:spLocks/>
          </p:cNvSpPr>
          <p:nvPr/>
        </p:nvSpPr>
        <p:spPr>
          <a:xfrm>
            <a:off x="9334244" y="2189801"/>
            <a:ext cx="2645003" cy="279950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200" dirty="0">
                <a:latin typeface="Tahoma" panose="020B0604030504040204" pitchFamily="34" charset="0"/>
                <a:ea typeface="Tahoma" panose="020B0604030504040204" pitchFamily="34" charset="0"/>
                <a:cs typeface="Tahoma" panose="020B0604030504040204" pitchFamily="34" charset="0"/>
              </a:rPr>
              <a:t>Key Insights</a:t>
            </a:r>
          </a:p>
          <a:p>
            <a:pPr>
              <a:lnSpc>
                <a:spcPct val="150000"/>
              </a:lnSpc>
            </a:pPr>
            <a:r>
              <a:rPr lang="en-US" sz="1200" dirty="0">
                <a:latin typeface="Tahoma" panose="020B0604030504040204" pitchFamily="34" charset="0"/>
                <a:ea typeface="Tahoma" panose="020B0604030504040204" pitchFamily="34" charset="0"/>
                <a:cs typeface="Tahoma" panose="020B0604030504040204" pitchFamily="34" charset="0"/>
              </a:rPr>
              <a:t>Highest Increase: 18.31% (Mar-22).</a:t>
            </a:r>
          </a:p>
          <a:p>
            <a:pPr>
              <a:lnSpc>
                <a:spcPct val="150000"/>
              </a:lnSpc>
            </a:pPr>
            <a:r>
              <a:rPr lang="en-US" sz="1200" dirty="0">
                <a:latin typeface="Tahoma" panose="020B0604030504040204" pitchFamily="34" charset="0"/>
                <a:ea typeface="Tahoma" panose="020B0604030504040204" pitchFamily="34" charset="0"/>
                <a:cs typeface="Tahoma" panose="020B0604030504040204" pitchFamily="34" charset="0"/>
              </a:rPr>
              <a:t>Highest Decline: -9.52% (Dec-22).</a:t>
            </a:r>
          </a:p>
          <a:p>
            <a:pPr>
              <a:lnSpc>
                <a:spcPct val="150000"/>
              </a:lnSpc>
            </a:pPr>
            <a:r>
              <a:rPr lang="en-US" sz="1200" dirty="0">
                <a:latin typeface="Tahoma" panose="020B0604030504040204" pitchFamily="34" charset="0"/>
                <a:ea typeface="Tahoma" panose="020B0604030504040204" pitchFamily="34" charset="0"/>
                <a:cs typeface="Tahoma" panose="020B0604030504040204" pitchFamily="34" charset="0"/>
              </a:rPr>
              <a:t>Peak volatility observed during 2022.</a:t>
            </a:r>
          </a:p>
          <a:p>
            <a:pPr>
              <a:lnSpc>
                <a:spcPct val="150000"/>
              </a:lnSpc>
            </a:pPr>
            <a:r>
              <a:rPr lang="en-US" sz="1200" dirty="0">
                <a:latin typeface="Tahoma" panose="020B0604030504040204" pitchFamily="34" charset="0"/>
                <a:ea typeface="Tahoma" panose="020B0604030504040204" pitchFamily="34" charset="0"/>
                <a:cs typeface="Tahoma" panose="020B0604030504040204" pitchFamily="34" charset="0"/>
              </a:rPr>
              <a:t>Prices remained mostly negative during late 2022 and early 2023.</a:t>
            </a:r>
          </a:p>
        </p:txBody>
      </p:sp>
    </p:spTree>
    <p:extLst>
      <p:ext uri="{BB962C8B-B14F-4D97-AF65-F5344CB8AC3E}">
        <p14:creationId xmlns:p14="http://schemas.microsoft.com/office/powerpoint/2010/main" val="2255167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96426-B5B3-1C38-D8EC-9616E96BD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BCF68-A765-EC3F-D005-DDA3A4DAE7C0}"/>
              </a:ext>
            </a:extLst>
          </p:cNvPr>
          <p:cNvSpPr>
            <a:spLocks noGrp="1"/>
          </p:cNvSpPr>
          <p:nvPr>
            <p:ph type="title"/>
          </p:nvPr>
        </p:nvSpPr>
        <p:spPr>
          <a:xfrm>
            <a:off x="184107" y="82667"/>
            <a:ext cx="10629133" cy="543138"/>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Correlation Analysis: Imported Crude Oil Prices vs CPI Inflation Categories (Rural + Urban)</a:t>
            </a:r>
          </a:p>
        </p:txBody>
      </p:sp>
      <p:sp>
        <p:nvSpPr>
          <p:cNvPr id="5" name="Content Placeholder 2">
            <a:extLst>
              <a:ext uri="{FF2B5EF4-FFF2-40B4-BE49-F238E27FC236}">
                <a16:creationId xmlns:a16="http://schemas.microsoft.com/office/drawing/2014/main" id="{B1042B21-4AE0-D8B3-6F2D-19DE4E360E13}"/>
              </a:ext>
            </a:extLst>
          </p:cNvPr>
          <p:cNvSpPr txBox="1">
            <a:spLocks/>
          </p:cNvSpPr>
          <p:nvPr/>
        </p:nvSpPr>
        <p:spPr>
          <a:xfrm>
            <a:off x="49087" y="681037"/>
            <a:ext cx="12003810" cy="60390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50000"/>
              </a:lnSpc>
              <a:spcBef>
                <a:spcPts val="1200"/>
              </a:spcBef>
              <a:buFont typeface="Arial" panose="020B0604020202020204" pitchFamily="34" charset="0"/>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2" name="Chart 11">
            <a:extLst>
              <a:ext uri="{FF2B5EF4-FFF2-40B4-BE49-F238E27FC236}">
                <a16:creationId xmlns:a16="http://schemas.microsoft.com/office/drawing/2014/main" id="{D47ECB63-14E1-44E2-851A-8970BCD857E8}"/>
              </a:ext>
            </a:extLst>
          </p:cNvPr>
          <p:cNvGraphicFramePr>
            <a:graphicFrameLocks/>
          </p:cNvGraphicFramePr>
          <p:nvPr>
            <p:extLst>
              <p:ext uri="{D42A27DB-BD31-4B8C-83A1-F6EECF244321}">
                <p14:modId xmlns:p14="http://schemas.microsoft.com/office/powerpoint/2010/main" val="3276603247"/>
              </p:ext>
            </p:extLst>
          </p:nvPr>
        </p:nvGraphicFramePr>
        <p:xfrm>
          <a:off x="184107" y="942975"/>
          <a:ext cx="11738018" cy="5494646"/>
        </p:xfrm>
        <a:graphic>
          <a:graphicData uri="http://schemas.openxmlformats.org/drawingml/2006/chart">
            <c:chart xmlns:c="http://schemas.openxmlformats.org/drawingml/2006/chart" xmlns:r="http://schemas.openxmlformats.org/officeDocument/2006/relationships" r:id="rId2"/>
          </a:graphicData>
        </a:graphic>
      </p:graphicFrame>
      <p:sp>
        <p:nvSpPr>
          <p:cNvPr id="14" name="Rectangle 13">
            <a:extLst>
              <a:ext uri="{FF2B5EF4-FFF2-40B4-BE49-F238E27FC236}">
                <a16:creationId xmlns:a16="http://schemas.microsoft.com/office/drawing/2014/main" id="{B110BA64-7895-0B06-D809-48838863FA95}"/>
              </a:ext>
            </a:extLst>
          </p:cNvPr>
          <p:cNvSpPr/>
          <p:nvPr/>
        </p:nvSpPr>
        <p:spPr>
          <a:xfrm>
            <a:off x="8628499" y="3405998"/>
            <a:ext cx="306846" cy="571006"/>
          </a:xfrm>
          <a:prstGeom prst="rect">
            <a:avLst/>
          </a:prstGeom>
          <a:noFill/>
          <a:ln w="28575"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
        <p:nvSpPr>
          <p:cNvPr id="15" name="Rectangle 14">
            <a:extLst>
              <a:ext uri="{FF2B5EF4-FFF2-40B4-BE49-F238E27FC236}">
                <a16:creationId xmlns:a16="http://schemas.microsoft.com/office/drawing/2014/main" id="{61B55773-C4E0-431E-FE8D-E3B0D08ED8A0}"/>
              </a:ext>
            </a:extLst>
          </p:cNvPr>
          <p:cNvSpPr/>
          <p:nvPr/>
        </p:nvSpPr>
        <p:spPr>
          <a:xfrm>
            <a:off x="5821372" y="3504188"/>
            <a:ext cx="306846" cy="479975"/>
          </a:xfrm>
          <a:prstGeom prst="rect">
            <a:avLst/>
          </a:prstGeom>
          <a:noFill/>
          <a:ln w="28575"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
        <p:nvSpPr>
          <p:cNvPr id="19" name="Rectangle 18">
            <a:extLst>
              <a:ext uri="{FF2B5EF4-FFF2-40B4-BE49-F238E27FC236}">
                <a16:creationId xmlns:a16="http://schemas.microsoft.com/office/drawing/2014/main" id="{717DAC0A-C55B-5D13-965A-DEAE944F7491}"/>
              </a:ext>
            </a:extLst>
          </p:cNvPr>
          <p:cNvSpPr/>
          <p:nvPr/>
        </p:nvSpPr>
        <p:spPr>
          <a:xfrm>
            <a:off x="9841561" y="3413157"/>
            <a:ext cx="306846" cy="571006"/>
          </a:xfrm>
          <a:prstGeom prst="rect">
            <a:avLst/>
          </a:prstGeom>
          <a:noFill/>
          <a:ln w="28575"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
        <p:nvSpPr>
          <p:cNvPr id="21" name="Rectangle 20">
            <a:extLst>
              <a:ext uri="{FF2B5EF4-FFF2-40B4-BE49-F238E27FC236}">
                <a16:creationId xmlns:a16="http://schemas.microsoft.com/office/drawing/2014/main" id="{D5B7B411-B4F3-7E58-A813-D6693A8A777D}"/>
              </a:ext>
            </a:extLst>
          </p:cNvPr>
          <p:cNvSpPr/>
          <p:nvPr/>
        </p:nvSpPr>
        <p:spPr>
          <a:xfrm>
            <a:off x="11054623" y="3504188"/>
            <a:ext cx="306846" cy="479975"/>
          </a:xfrm>
          <a:prstGeom prst="rect">
            <a:avLst/>
          </a:prstGeom>
          <a:noFill/>
          <a:ln w="28575"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
        <p:nvSpPr>
          <p:cNvPr id="22" name="Rectangle 21">
            <a:extLst>
              <a:ext uri="{FF2B5EF4-FFF2-40B4-BE49-F238E27FC236}">
                <a16:creationId xmlns:a16="http://schemas.microsoft.com/office/drawing/2014/main" id="{209F61B8-D5DD-1F89-31B8-971AD6A444B5}"/>
              </a:ext>
            </a:extLst>
          </p:cNvPr>
          <p:cNvSpPr/>
          <p:nvPr/>
        </p:nvSpPr>
        <p:spPr>
          <a:xfrm>
            <a:off x="1813457" y="1974789"/>
            <a:ext cx="306846" cy="1989656"/>
          </a:xfrm>
          <a:prstGeom prst="rect">
            <a:avLst/>
          </a:prstGeom>
          <a:noFill/>
          <a:ln w="2857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
        <p:nvSpPr>
          <p:cNvPr id="24" name="Rectangle 23">
            <a:extLst>
              <a:ext uri="{FF2B5EF4-FFF2-40B4-BE49-F238E27FC236}">
                <a16:creationId xmlns:a16="http://schemas.microsoft.com/office/drawing/2014/main" id="{E7EA46EB-76E6-660E-CC7C-24CFB9B79EE2}"/>
              </a:ext>
            </a:extLst>
          </p:cNvPr>
          <p:cNvSpPr/>
          <p:nvPr/>
        </p:nvSpPr>
        <p:spPr>
          <a:xfrm>
            <a:off x="3014246" y="2188831"/>
            <a:ext cx="306846" cy="1775614"/>
          </a:xfrm>
          <a:prstGeom prst="rect">
            <a:avLst/>
          </a:prstGeom>
          <a:noFill/>
          <a:ln w="2857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
        <p:nvSpPr>
          <p:cNvPr id="26" name="Rectangle 25">
            <a:extLst>
              <a:ext uri="{FF2B5EF4-FFF2-40B4-BE49-F238E27FC236}">
                <a16:creationId xmlns:a16="http://schemas.microsoft.com/office/drawing/2014/main" id="{785083D9-1A63-AE55-1E12-714456A2A0B6}"/>
              </a:ext>
            </a:extLst>
          </p:cNvPr>
          <p:cNvSpPr/>
          <p:nvPr/>
        </p:nvSpPr>
        <p:spPr>
          <a:xfrm>
            <a:off x="6228966" y="2758541"/>
            <a:ext cx="306846" cy="1225622"/>
          </a:xfrm>
          <a:prstGeom prst="rect">
            <a:avLst/>
          </a:prstGeom>
          <a:noFill/>
          <a:ln w="2857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
        <p:nvSpPr>
          <p:cNvPr id="27" name="Rectangle 26">
            <a:extLst>
              <a:ext uri="{FF2B5EF4-FFF2-40B4-BE49-F238E27FC236}">
                <a16:creationId xmlns:a16="http://schemas.microsoft.com/office/drawing/2014/main" id="{FAE13514-A861-3C96-31EC-4362AE3B1A11}"/>
              </a:ext>
            </a:extLst>
          </p:cNvPr>
          <p:cNvSpPr/>
          <p:nvPr/>
        </p:nvSpPr>
        <p:spPr>
          <a:xfrm>
            <a:off x="7434869" y="3125227"/>
            <a:ext cx="306846" cy="858936"/>
          </a:xfrm>
          <a:prstGeom prst="rect">
            <a:avLst/>
          </a:prstGeom>
          <a:noFill/>
          <a:ln w="28575"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accent4"/>
                </a:solidFill>
                <a:latin typeface="+mn-lt"/>
                <a:ea typeface="+mn-ea"/>
                <a:cs typeface="+mn-cs"/>
              </a:defRPr>
            </a:lvl1pPr>
            <a:lvl2pPr marL="457200" indent="0">
              <a:defRPr sz="1100">
                <a:solidFill>
                  <a:schemeClr val="accent4"/>
                </a:solidFill>
                <a:latin typeface="+mn-lt"/>
                <a:ea typeface="+mn-ea"/>
                <a:cs typeface="+mn-cs"/>
              </a:defRPr>
            </a:lvl2pPr>
            <a:lvl3pPr marL="914400" indent="0">
              <a:defRPr sz="1100">
                <a:solidFill>
                  <a:schemeClr val="accent4"/>
                </a:solidFill>
                <a:latin typeface="+mn-lt"/>
                <a:ea typeface="+mn-ea"/>
                <a:cs typeface="+mn-cs"/>
              </a:defRPr>
            </a:lvl3pPr>
            <a:lvl4pPr marL="1371600" indent="0">
              <a:defRPr sz="1100">
                <a:solidFill>
                  <a:schemeClr val="accent4"/>
                </a:solidFill>
                <a:latin typeface="+mn-lt"/>
                <a:ea typeface="+mn-ea"/>
                <a:cs typeface="+mn-cs"/>
              </a:defRPr>
            </a:lvl4pPr>
            <a:lvl5pPr marL="1828800" indent="0">
              <a:defRPr sz="1100">
                <a:solidFill>
                  <a:schemeClr val="accent4"/>
                </a:solidFill>
                <a:latin typeface="+mn-lt"/>
                <a:ea typeface="+mn-ea"/>
                <a:cs typeface="+mn-cs"/>
              </a:defRPr>
            </a:lvl5pPr>
            <a:lvl6pPr marL="2286000" indent="0">
              <a:defRPr sz="1100">
                <a:solidFill>
                  <a:schemeClr val="accent4"/>
                </a:solidFill>
                <a:latin typeface="+mn-lt"/>
                <a:ea typeface="+mn-ea"/>
                <a:cs typeface="+mn-cs"/>
              </a:defRPr>
            </a:lvl6pPr>
            <a:lvl7pPr marL="2743200" indent="0">
              <a:defRPr sz="1100">
                <a:solidFill>
                  <a:schemeClr val="accent4"/>
                </a:solidFill>
                <a:latin typeface="+mn-lt"/>
                <a:ea typeface="+mn-ea"/>
                <a:cs typeface="+mn-cs"/>
              </a:defRPr>
            </a:lvl7pPr>
            <a:lvl8pPr marL="3200400" indent="0">
              <a:defRPr sz="1100">
                <a:solidFill>
                  <a:schemeClr val="accent4"/>
                </a:solidFill>
                <a:latin typeface="+mn-lt"/>
                <a:ea typeface="+mn-ea"/>
                <a:cs typeface="+mn-cs"/>
              </a:defRPr>
            </a:lvl8pPr>
            <a:lvl9pPr marL="3657600" indent="0">
              <a:defRPr sz="1100">
                <a:solidFill>
                  <a:schemeClr val="accent4"/>
                </a:solidFill>
                <a:latin typeface="+mn-lt"/>
                <a:ea typeface="+mn-ea"/>
                <a:cs typeface="+mn-cs"/>
              </a:defRPr>
            </a:lvl9pPr>
          </a:lstStyle>
          <a:p>
            <a:pPr algn="l"/>
            <a:endParaRPr lang="en-IN" sz="1100"/>
          </a:p>
        </p:txBody>
      </p:sp>
    </p:spTree>
    <p:extLst>
      <p:ext uri="{BB962C8B-B14F-4D97-AF65-F5344CB8AC3E}">
        <p14:creationId xmlns:p14="http://schemas.microsoft.com/office/powerpoint/2010/main" val="2357138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3903</TotalTime>
  <Words>2731</Words>
  <Application>Microsoft Office PowerPoint</Application>
  <PresentationFormat>Widescreen</PresentationFormat>
  <Paragraphs>666</Paragraphs>
  <Slides>23</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Tahoma</vt:lpstr>
      <vt:lpstr>Office Theme</vt:lpstr>
      <vt:lpstr>India CPI Inflation</vt:lpstr>
      <vt:lpstr>What is CPI Index ?</vt:lpstr>
      <vt:lpstr>Problem Statement</vt:lpstr>
      <vt:lpstr>Problem Statement</vt:lpstr>
      <vt:lpstr>CPI Basket Structure by broader categories</vt:lpstr>
      <vt:lpstr>CPI Basket Structure by broader categories</vt:lpstr>
      <vt:lpstr>CPI Basket Contribution Analysis by Broader Categories</vt:lpstr>
      <vt:lpstr>CPI Basket Contribution Analysis by Broader Categories</vt:lpstr>
      <vt:lpstr>CPI Basket Contribution Analysis by Broader Categories</vt:lpstr>
      <vt:lpstr>Year – On – Year CPI Inflation Trend Analysis (2017 Onwards)</vt:lpstr>
      <vt:lpstr>Food Inflation Overview: Rural Sector</vt:lpstr>
      <vt:lpstr>Food Inflation Overview: Rural Sector</vt:lpstr>
      <vt:lpstr>Food Inflation Overview: Urban Sector</vt:lpstr>
      <vt:lpstr>Food Inflation Overview: Urban Sector</vt:lpstr>
      <vt:lpstr>Food Inflation Overview: Rural + Urban Sector</vt:lpstr>
      <vt:lpstr>Food Inflation Overview: Rural + Urban Sector</vt:lpstr>
      <vt:lpstr>Summary</vt:lpstr>
      <vt:lpstr>12-Month Food Inflation Trends Across Rural, Urban and Combined Sectors </vt:lpstr>
      <vt:lpstr>Impact of Covid-19 on Rural Inflation: A Before and After Comparison</vt:lpstr>
      <vt:lpstr>Impact of Covid-19 on Urban Inflation: A Before and After Comparison</vt:lpstr>
      <vt:lpstr>Impact of Covid-19 on Rural + Urban Inflation: A Before and After Comparison</vt:lpstr>
      <vt:lpstr>Imported Cude Oil Prices and Trends (2021-2023)</vt:lpstr>
      <vt:lpstr>Correlation Analysis: Imported Crude Oil Prices vs CPI Inflation Categories (Rural + Urban)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Atharva Deshpande</dc:creator>
  <cp:lastModifiedBy>Atharva Deshpande</cp:lastModifiedBy>
  <cp:revision>33</cp:revision>
  <dcterms:created xsi:type="dcterms:W3CDTF">2026-05-21T10:40:09Z</dcterms:created>
  <dcterms:modified xsi:type="dcterms:W3CDTF">2026-06-03T15:58:29Z</dcterms:modified>
</cp:coreProperties>
</file>